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1525" y="1102398"/>
            <a:ext cx="7715250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90429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PROJET ADOMC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771525" y="1617669"/>
            <a:ext cx="6429375" cy="1508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300" b="1" dirty="0">
                <a:solidFill>
                  <a:srgbClr val="0A19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MIN-CONFLICTS : UNE RÉVOLUTION DANS LA RÉSOLUTION DE CSP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771525" y="3426433"/>
            <a:ext cx="7715250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D99AE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Présenté par :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771525" y="3837896"/>
            <a:ext cx="3843338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D99AE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2768 - ANDRIAMANANTENA E.S.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643438" y="3837896"/>
            <a:ext cx="3843338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D99AE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2738 - TIDA R.L.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71525" y="4106484"/>
            <a:ext cx="3843338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D99AE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2754 - SAMUELSON C.J.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643438" y="4106484"/>
            <a:ext cx="3843338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D99AE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2587 - RABEARIMANANA F.L.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1525" y="4389360"/>
            <a:ext cx="7715250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A192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MAI 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7144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920400"/>
            <a:ext cx="4457700" cy="835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0A19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INTRODUCTION AUX CSP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714375" y="2027681"/>
            <a:ext cx="4457700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8D99AE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Un </a:t>
            </a:r>
            <a:r>
              <a:rPr lang="en-US" sz="1200" b="1" dirty="0">
                <a:solidFill>
                  <a:srgbClr val="0A192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Problème de Satisfaction de Contraintes (CSP)</a:t>
            </a:r>
            <a:r>
              <a:rPr lang="en-US" sz="1250" dirty="0">
                <a:solidFill>
                  <a:srgbClr val="8D99AE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est </a:t>
            </a:r>
            <a:r>
              <a:rPr lang="en-US" sz="1250" dirty="0">
                <a:solidFill>
                  <a:srgbClr val="8D99AE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défini par un ensemble de variables, de domaines et de </a:t>
            </a:r>
            <a:r>
              <a:rPr lang="en-US" sz="1250" dirty="0">
                <a:solidFill>
                  <a:srgbClr val="8D99AE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contraintes à satisfaire simultanément.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714375" y="3136357"/>
            <a:ext cx="4457700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8D99AE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C'est un pilier fondamental de l'optimisation combinatoire et de l'intelligence artificielle décisionnelle.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714375" y="4530784"/>
            <a:ext cx="3177183" cy="316111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7" name="Text 4"/>
          <p:cNvSpPr/>
          <p:nvPr/>
        </p:nvSpPr>
        <p:spPr>
          <a:xfrm>
            <a:off x="714375" y="4530784"/>
            <a:ext cx="3177183" cy="316111"/>
          </a:xfrm>
          <a:prstGeom prst="rect">
            <a:avLst/>
          </a:prstGeom>
          <a:noFill/>
          <a:ln/>
        </p:spPr>
        <p:txBody>
          <a:bodyPr wrap="square" lIns="170053" tIns="85090" rIns="170053" bIns="8509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COMPLEXITÉ : SOUVENT NP-COMPLET</a:t>
            </a:r>
            <a:endParaRPr lang="en-US" sz="10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7825" y="636687"/>
            <a:ext cx="214313" cy="1714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815013" y="635794"/>
            <a:ext cx="151447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D99AE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Planification d'horaires</a:t>
            </a:r>
            <a:endParaRPr lang="en-US" sz="10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7825" y="988516"/>
            <a:ext cx="214313" cy="1714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815013" y="987623"/>
            <a:ext cx="163591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D99AE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Allocation de ressources</a:t>
            </a:r>
            <a:endParaRPr lang="en-US" sz="10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7825" y="1340346"/>
            <a:ext cx="214313" cy="1714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815013" y="1339453"/>
            <a:ext cx="166628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D99AE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Jeux (Sudoku, N-Reines)</a:t>
            </a:r>
            <a:endParaRPr lang="en-US" sz="10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7825" y="1692176"/>
            <a:ext cx="214313" cy="17145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815013" y="1691283"/>
            <a:ext cx="166449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D99AE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Configuration industrielle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7144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734662"/>
            <a:ext cx="4086225" cy="7543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450" b="1" dirty="0">
                <a:solidFill>
                  <a:srgbClr val="0A19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QU'EST-CE QUE MIN-CONFLICTS ?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714375" y="1746172"/>
            <a:ext cx="4086225" cy="1005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8D99AE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C'est une </a:t>
            </a:r>
            <a:r>
              <a:rPr lang="en-US" sz="1100" b="1" dirty="0">
                <a:solidFill>
                  <a:srgbClr val="0A192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méta-heuristique de recherche locale</a:t>
            </a:r>
            <a:r>
              <a:rPr lang="en-US" sz="1150" dirty="0">
                <a:solidFill>
                  <a:srgbClr val="8D99AE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pour </a:t>
            </a:r>
            <a:r>
              <a:rPr lang="en-US" sz="1150" dirty="0">
                <a:solidFill>
                  <a:srgbClr val="8D99AE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les CSP. Contrairement aux approches systématiques, </a:t>
            </a:r>
            <a:r>
              <a:rPr lang="en-US" sz="1150" dirty="0">
                <a:solidFill>
                  <a:srgbClr val="8D99AE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elle privilégie la rapidité et l'efficacité sur des </a:t>
            </a:r>
            <a:r>
              <a:rPr lang="en-US" sz="1150" dirty="0">
                <a:solidFill>
                  <a:srgbClr val="8D99AE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problèmes de grande taille.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714375" y="2894865"/>
            <a:ext cx="4086225" cy="414338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6" name="Text 3"/>
          <p:cNvSpPr/>
          <p:nvPr/>
        </p:nvSpPr>
        <p:spPr>
          <a:xfrm>
            <a:off x="714375" y="2894865"/>
            <a:ext cx="4086225" cy="414338"/>
          </a:xfrm>
          <a:prstGeom prst="rect">
            <a:avLst/>
          </a:prstGeom>
          <a:noFill/>
          <a:ln/>
        </p:spPr>
        <p:txBody>
          <a:bodyPr wrap="square" lIns="153035" tIns="153035" rIns="153035" bIns="153035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NE PAS CONFONDRE AVEC LE BACKTRACKING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086350" y="514350"/>
            <a:ext cx="334327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90429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AFFECTATION COMPLÈTE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086350" y="744736"/>
            <a:ext cx="3343275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8D99AE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On part d'un état où toutes les variables ont une valeur (souvent aléatoire ou gloutonne).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086350" y="1291233"/>
            <a:ext cx="334327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90429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RÉPARATION ITÉRATIVE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086350" y="1521619"/>
            <a:ext cx="3343275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8D99AE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L'algorithme modifie les valeurs pour réduire progressivement le nombre de conflits.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086350" y="2068116"/>
            <a:ext cx="334327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90429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OPTIMISATION LOCALE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086350" y="2298502"/>
            <a:ext cx="3343275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8D99AE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Chaque étape vise à améliorer localement l'état actuel sans explorer tout l'arbre de recherche.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856106"/>
            <a:ext cx="4439841" cy="377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450" b="1" dirty="0">
                <a:solidFill>
                  <a:srgbClr val="0A19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L'ALGORITHME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428625" y="1461874"/>
            <a:ext cx="4439841" cy="2407444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1461874"/>
            <a:ext cx="4439841" cy="2407444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algorithm MIN-CONFLICTS is</a:t>
            </a:r>
            <a:endParaRPr lang="en-US" sz="9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input: csp, max_steps, current_state</a:t>
            </a:r>
            <a:endParaRPr lang="en-US" sz="9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for i ← 1 to max_steps do</a:t>
            </a:r>
            <a:endParaRPr lang="en-US" sz="9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if current_state is solution then </a:t>
            </a:r>
            <a:endParaRPr lang="en-US" sz="9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return current_state</a:t>
            </a:r>
            <a:endParaRPr lang="en-US" sz="9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var ← variable aléatoire parmi </a:t>
            </a:r>
            <a:endParaRPr lang="en-US" sz="9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 celles en conflit</a:t>
            </a:r>
            <a:endParaRPr lang="en-US" sz="9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value ← valeur pour var qui </a:t>
            </a:r>
            <a:endParaRPr lang="en-US" sz="9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   minimise CONFLICTS(var,v)</a:t>
            </a:r>
            <a:endParaRPr lang="en-US" sz="9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set var ← value</a:t>
            </a:r>
            <a:endParaRPr lang="en-US" sz="9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return failure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082778" y="635794"/>
            <a:ext cx="3632597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90429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ENTRÉES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082778" y="810816"/>
            <a:ext cx="3632597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8D99AE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Prend le </a:t>
            </a:r>
            <a:r>
              <a:rPr lang="en-US" sz="800" b="1" dirty="0">
                <a:solidFill>
                  <a:srgbClr val="0A192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CSP</a:t>
            </a:r>
            <a:r>
              <a:rPr lang="en-US" sz="850" dirty="0">
                <a:solidFill>
                  <a:srgbClr val="8D99AE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, un nombre d'étapes max et un état initial complet.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082778" y="1120843"/>
            <a:ext cx="3632597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90429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BOUCLE DE RÉPARATION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082778" y="1295865"/>
            <a:ext cx="3632597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8D99AE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Itère jusqu'à trouver une solution ou atteindre </a:t>
            </a:r>
            <a:r>
              <a:rPr lang="en-US" sz="800" b="1" dirty="0">
                <a:solidFill>
                  <a:srgbClr val="0A192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max_steps</a:t>
            </a:r>
            <a:r>
              <a:rPr lang="en-US" sz="850" dirty="0">
                <a:solidFill>
                  <a:srgbClr val="8D99AE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.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5082778" y="1605893"/>
            <a:ext cx="3632597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90429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SÉLECTION DE VARIABLE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082778" y="1780915"/>
            <a:ext cx="3632597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8D99AE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Choisit aléatoirement une variable qui viole au moins une contrainte.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5082778" y="2090942"/>
            <a:ext cx="3632597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90429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MINIMISATION LOCALE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5082778" y="2265964"/>
            <a:ext cx="3632597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8D99AE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Assigne la valeur qui génère le </a:t>
            </a:r>
            <a:r>
              <a:rPr lang="en-US" sz="800" b="1" dirty="0">
                <a:solidFill>
                  <a:srgbClr val="0A192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minimum de conflits</a:t>
            </a:r>
            <a:r>
              <a:rPr lang="en-US" sz="850" dirty="0">
                <a:solidFill>
                  <a:srgbClr val="8D99AE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avec les autres </a:t>
            </a:r>
            <a:r>
              <a:rPr lang="en-US" sz="850" dirty="0">
                <a:solidFill>
                  <a:srgbClr val="8D99AE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variables.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713231"/>
            <a:ext cx="8229600" cy="377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450" b="1" dirty="0">
                <a:solidFill>
                  <a:srgbClr val="0A19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LES 3 POINTS CLÉS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457200" y="1404724"/>
            <a:ext cx="26289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150" b="1" dirty="0">
                <a:solidFill>
                  <a:srgbClr val="D90429">
                    <a:alpha val="20000"/>
                  </a:srgbClr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01</a:t>
            </a:r>
            <a:endParaRPr lang="en-US" sz="4150" dirty="0"/>
          </a:p>
        </p:txBody>
      </p:sp>
      <p:sp>
        <p:nvSpPr>
          <p:cNvPr id="5" name="Text 2"/>
          <p:cNvSpPr/>
          <p:nvPr/>
        </p:nvSpPr>
        <p:spPr>
          <a:xfrm>
            <a:off x="457200" y="2019086"/>
            <a:ext cx="2628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19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VARIABLES EN CONFLIT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2512005"/>
            <a:ext cx="2628900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D99AE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L'algorithme cible uniquement les variables </a:t>
            </a:r>
            <a:r>
              <a:rPr lang="en-US" sz="950" dirty="0">
                <a:solidFill>
                  <a:srgbClr val="8D99AE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qui </a:t>
            </a:r>
            <a:r>
              <a:rPr lang="en-US" sz="900" b="1" dirty="0">
                <a:solidFill>
                  <a:srgbClr val="0A192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violent au moins une contrainte</a:t>
            </a:r>
            <a:r>
              <a:rPr lang="en-US" sz="950" dirty="0">
                <a:solidFill>
                  <a:srgbClr val="8D99AE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, </a:t>
            </a:r>
            <a:r>
              <a:rPr lang="en-US" sz="950" dirty="0">
                <a:solidFill>
                  <a:srgbClr val="8D99AE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réduisant l'espace de recherche.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3257550" y="1404724"/>
            <a:ext cx="26289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150" b="1" dirty="0">
                <a:solidFill>
                  <a:srgbClr val="D90429">
                    <a:alpha val="20000"/>
                  </a:srgbClr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02</a:t>
            </a:r>
            <a:endParaRPr lang="en-US" sz="4150" dirty="0"/>
          </a:p>
        </p:txBody>
      </p:sp>
      <p:sp>
        <p:nvSpPr>
          <p:cNvPr id="8" name="Text 5"/>
          <p:cNvSpPr/>
          <p:nvPr/>
        </p:nvSpPr>
        <p:spPr>
          <a:xfrm>
            <a:off x="3257550" y="2019086"/>
            <a:ext cx="2628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19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MINIMISATION LOCALE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257550" y="2512005"/>
            <a:ext cx="2628900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D99AE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On choisit la valeur qui </a:t>
            </a:r>
            <a:r>
              <a:rPr lang="en-US" sz="900" b="1" dirty="0">
                <a:solidFill>
                  <a:srgbClr val="0A192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minimise les </a:t>
            </a:r>
            <a:r>
              <a:rPr lang="en-US" sz="900" b="1" dirty="0">
                <a:solidFill>
                  <a:srgbClr val="0A192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conflits</a:t>
            </a:r>
            <a:r>
              <a:rPr lang="en-US" sz="950" dirty="0">
                <a:solidFill>
                  <a:srgbClr val="8D99AE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, en adoptant une réparation </a:t>
            </a:r>
            <a:r>
              <a:rPr lang="en-US" sz="950" dirty="0">
                <a:solidFill>
                  <a:srgbClr val="8D99AE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itérative.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057900" y="1404724"/>
            <a:ext cx="26289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150" b="1" dirty="0">
                <a:solidFill>
                  <a:srgbClr val="D90429">
                    <a:alpha val="20000"/>
                  </a:srgbClr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03</a:t>
            </a:r>
            <a:endParaRPr lang="en-US" sz="4150" dirty="0"/>
          </a:p>
        </p:txBody>
      </p:sp>
      <p:sp>
        <p:nvSpPr>
          <p:cNvPr id="11" name="Text 8"/>
          <p:cNvSpPr/>
          <p:nvPr/>
        </p:nvSpPr>
        <p:spPr>
          <a:xfrm>
            <a:off x="6057900" y="2019086"/>
            <a:ext cx="2628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19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ASPECT STOCHASTIQUE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057900" y="2512005"/>
            <a:ext cx="2628900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D99AE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Le </a:t>
            </a:r>
            <a:r>
              <a:rPr lang="en-US" sz="900" b="1" dirty="0">
                <a:solidFill>
                  <a:srgbClr val="0A192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tirage aléatoire</a:t>
            </a:r>
            <a:r>
              <a:rPr lang="en-US" sz="950" dirty="0">
                <a:solidFill>
                  <a:srgbClr val="8D99AE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prévient le blocage dans </a:t>
            </a:r>
            <a:r>
              <a:rPr lang="en-US" sz="950" dirty="0">
                <a:solidFill>
                  <a:srgbClr val="8D99AE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des minima locaux et améliore la </a:t>
            </a:r>
            <a:r>
              <a:rPr lang="en-US" sz="950" dirty="0">
                <a:solidFill>
                  <a:srgbClr val="8D99AE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robustesse.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998981"/>
            <a:ext cx="3857625" cy="11315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450" b="1" dirty="0">
                <a:solidFill>
                  <a:srgbClr val="0A19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EFFICACITÉ : L'EXEMPLE DES N-REINES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2216209"/>
            <a:ext cx="385762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A19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ORIGINE HISTORIQUE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71500" y="2518032"/>
            <a:ext cx="385762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D99AE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Découvert en 1990 par Minton et al. pour l'ordonnancement </a:t>
            </a:r>
            <a:r>
              <a:rPr lang="en-US" sz="950" dirty="0">
                <a:solidFill>
                  <a:srgbClr val="8D99AE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complexe du </a:t>
            </a:r>
            <a:r>
              <a:rPr lang="en-US" sz="900" b="1" dirty="0">
                <a:solidFill>
                  <a:srgbClr val="D9042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télescope Hubble</a:t>
            </a:r>
            <a:r>
              <a:rPr lang="en-US" sz="950" dirty="0">
                <a:solidFill>
                  <a:srgbClr val="8D99AE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71500" y="3046670"/>
            <a:ext cx="385762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A19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PERFORMANCE N-REINES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71500" y="3348493"/>
            <a:ext cx="385762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D99AE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Pour </a:t>
            </a:r>
            <a:r>
              <a:rPr lang="en-US" sz="900" b="1" dirty="0">
                <a:solidFill>
                  <a:srgbClr val="D9042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1 000 000 de reines</a:t>
            </a:r>
            <a:r>
              <a:rPr lang="en-US" sz="950" dirty="0">
                <a:solidFill>
                  <a:srgbClr val="8D99AE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, environ 50 réaffectations suffisent. Le </a:t>
            </a:r>
            <a:r>
              <a:rPr lang="en-US" sz="950" dirty="0">
                <a:solidFill>
                  <a:srgbClr val="8D99AE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temps de résolution est quasi-linéaire.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714875" y="800100"/>
            <a:ext cx="1106332" cy="328613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9" name="Text 6"/>
          <p:cNvSpPr/>
          <p:nvPr/>
        </p:nvSpPr>
        <p:spPr>
          <a:xfrm>
            <a:off x="4714875" y="800100"/>
            <a:ext cx="1106332" cy="328613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TAILLE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821207" y="800100"/>
            <a:ext cx="1382427" cy="328613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11" name="Text 8"/>
          <p:cNvSpPr/>
          <p:nvPr/>
        </p:nvSpPr>
        <p:spPr>
          <a:xfrm>
            <a:off x="5821207" y="800100"/>
            <a:ext cx="1382427" cy="32861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BACKTRACKING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7203635" y="800100"/>
            <a:ext cx="1368865" cy="328613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13" name="Text 10"/>
          <p:cNvSpPr/>
          <p:nvPr/>
        </p:nvSpPr>
        <p:spPr>
          <a:xfrm>
            <a:off x="7203635" y="800100"/>
            <a:ext cx="1368865" cy="32861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MIN-CONFLICTS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714875" y="1128713"/>
            <a:ext cx="1106332" cy="344686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A192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100 reines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821207" y="1128713"/>
            <a:ext cx="1382427" cy="344686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A192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 1 min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7203635" y="1128713"/>
            <a:ext cx="1368865" cy="344686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A192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 0.1 sec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4714875" y="1473398"/>
            <a:ext cx="1106332" cy="348258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A192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1000 reines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5821207" y="1473398"/>
            <a:ext cx="1382427" cy="348258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A192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Impossible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7203635" y="1473398"/>
            <a:ext cx="1368865" cy="348258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A192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 1 sec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714875" y="1821656"/>
            <a:ext cx="1106332" cy="348258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A192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1M reines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5821207" y="1821656"/>
            <a:ext cx="1382427" cy="348258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A192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Impossible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7203635" y="1821656"/>
            <a:ext cx="1368865" cy="348258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A192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 10 sec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4714875" y="2259211"/>
            <a:ext cx="3857625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90429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COMPARAISON DES TEMPS DE RÉSOLUTION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70331"/>
            <a:ext cx="3857625" cy="377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450" b="1" dirty="0">
                <a:solidFill>
                  <a:srgbClr val="0A19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FORCES</a:t>
            </a:r>
            <a:endParaRPr lang="en-US" sz="2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123438"/>
            <a:ext cx="200025" cy="20002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57250" y="1118974"/>
            <a:ext cx="1625203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19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AVANTAGES CLÉS</a:t>
            </a:r>
            <a:endParaRPr lang="en-US" sz="120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447586"/>
            <a:ext cx="96441" cy="128588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767953" y="1413653"/>
            <a:ext cx="3661172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A19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ULTRA-RAPIDE</a:t>
            </a:r>
            <a:endParaRPr lang="en-US" sz="900" dirty="0"/>
          </a:p>
        </p:txBody>
      </p:sp>
      <p:sp>
        <p:nvSpPr>
          <p:cNvPr id="8" name="Text 3"/>
          <p:cNvSpPr/>
          <p:nvPr/>
        </p:nvSpPr>
        <p:spPr>
          <a:xfrm>
            <a:off x="767953" y="1599391"/>
            <a:ext cx="366117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D99AE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Très performant sur problèmes denses.</a:t>
            </a:r>
            <a:endParaRPr lang="en-US" sz="8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890499"/>
            <a:ext cx="112514" cy="128588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784027" y="1856566"/>
            <a:ext cx="3645098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A19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PASSAGE À L'ÉCHELLE</a:t>
            </a:r>
            <a:endParaRPr lang="en-US" sz="900" dirty="0"/>
          </a:p>
        </p:txBody>
      </p:sp>
      <p:sp>
        <p:nvSpPr>
          <p:cNvPr id="11" name="Text 5"/>
          <p:cNvSpPr/>
          <p:nvPr/>
        </p:nvSpPr>
        <p:spPr>
          <a:xfrm>
            <a:off x="784027" y="2042303"/>
            <a:ext cx="364509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D99AE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Gère des millions de variables efficacement.</a:t>
            </a:r>
            <a:endParaRPr lang="en-US" sz="85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333411"/>
            <a:ext cx="160734" cy="128588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832247" y="2299478"/>
            <a:ext cx="3596878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A19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SIMPLICITÉ</a:t>
            </a:r>
            <a:endParaRPr lang="en-US" sz="900" dirty="0"/>
          </a:p>
        </p:txBody>
      </p:sp>
      <p:sp>
        <p:nvSpPr>
          <p:cNvPr id="14" name="Text 7"/>
          <p:cNvSpPr/>
          <p:nvPr/>
        </p:nvSpPr>
        <p:spPr>
          <a:xfrm>
            <a:off x="832247" y="2485216"/>
            <a:ext cx="359687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D99AE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Algorithme léger, facile à implémenter.</a:t>
            </a:r>
            <a:endParaRPr lang="en-US" sz="850" dirty="0"/>
          </a:p>
        </p:txBody>
      </p:sp>
      <p:sp>
        <p:nvSpPr>
          <p:cNvPr id="15" name="Text 8"/>
          <p:cNvSpPr/>
          <p:nvPr/>
        </p:nvSpPr>
        <p:spPr>
          <a:xfrm>
            <a:off x="4714875" y="370331"/>
            <a:ext cx="3857625" cy="377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450" b="1" dirty="0">
                <a:solidFill>
                  <a:srgbClr val="0A19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FAIBLESSES</a:t>
            </a:r>
            <a:endParaRPr lang="en-US" sz="245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4875" y="1123438"/>
            <a:ext cx="200025" cy="200025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5000625" y="1118974"/>
            <a:ext cx="723305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19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LIMITES</a:t>
            </a:r>
            <a:endParaRPr lang="en-US" sz="120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4875" y="1447586"/>
            <a:ext cx="128588" cy="128588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4943475" y="1413653"/>
            <a:ext cx="362902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A19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INCOMPLÉTUDE</a:t>
            </a:r>
            <a:endParaRPr lang="en-US" sz="900" dirty="0"/>
          </a:p>
        </p:txBody>
      </p:sp>
      <p:sp>
        <p:nvSpPr>
          <p:cNvPr id="20" name="Text 11"/>
          <p:cNvSpPr/>
          <p:nvPr/>
        </p:nvSpPr>
        <p:spPr>
          <a:xfrm>
            <a:off x="4943475" y="1599391"/>
            <a:ext cx="36290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D99AE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Ne garantit pas de trouver une solution.</a:t>
            </a:r>
            <a:endParaRPr lang="en-US" sz="850" dirty="0"/>
          </a:p>
        </p:txBody>
      </p:sp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14875" y="1890499"/>
            <a:ext cx="128588" cy="128588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4943475" y="1856566"/>
            <a:ext cx="362902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A19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SENSIBILITÉ</a:t>
            </a:r>
            <a:endParaRPr lang="en-US" sz="900" dirty="0"/>
          </a:p>
        </p:txBody>
      </p:sp>
      <p:sp>
        <p:nvSpPr>
          <p:cNvPr id="23" name="Text 13"/>
          <p:cNvSpPr/>
          <p:nvPr/>
        </p:nvSpPr>
        <p:spPr>
          <a:xfrm>
            <a:off x="4943475" y="2042303"/>
            <a:ext cx="36290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D99AE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Dépend fortement de l'état initial.</a:t>
            </a:r>
            <a:endParaRPr lang="en-US" sz="850" dirty="0"/>
          </a:p>
        </p:txBody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14875" y="2333411"/>
            <a:ext cx="144661" cy="128588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4959548" y="2299478"/>
            <a:ext cx="3612952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A19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STRUCTURES COMPLEXES</a:t>
            </a:r>
            <a:endParaRPr lang="en-US" sz="900" dirty="0"/>
          </a:p>
        </p:txBody>
      </p:sp>
      <p:sp>
        <p:nvSpPr>
          <p:cNvPr id="26" name="Text 15"/>
          <p:cNvSpPr/>
          <p:nvPr/>
        </p:nvSpPr>
        <p:spPr>
          <a:xfrm>
            <a:off x="4959548" y="2485216"/>
            <a:ext cx="361295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D99AE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Échec sur problèmes mal structurés.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998981"/>
            <a:ext cx="4371975" cy="7543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450" b="1" dirty="0">
                <a:solidFill>
                  <a:srgbClr val="0A19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PROJET ADOMC : VISUALISATION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714375" y="2024779"/>
            <a:ext cx="4371975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8D99AE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Notre application rend l'algorithme </a:t>
            </a:r>
            <a:r>
              <a:rPr lang="en-US" sz="1200" b="1" dirty="0">
                <a:solidFill>
                  <a:srgbClr val="0A192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Min-Conflicts</a:t>
            </a:r>
            <a:r>
              <a:rPr lang="en-US" sz="1250" dirty="0">
                <a:solidFill>
                  <a:srgbClr val="8D99AE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visible et compréhensible à travers une interface </a:t>
            </a:r>
            <a:r>
              <a:rPr lang="en-US" sz="1250" dirty="0">
                <a:solidFill>
                  <a:srgbClr val="8D99AE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moderne et interactive.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714375" y="3062018"/>
            <a:ext cx="4371975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8D99AE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Elle permet d'observer en temps réel comment </a:t>
            </a:r>
            <a:r>
              <a:rPr lang="en-US" sz="1250" dirty="0">
                <a:solidFill>
                  <a:srgbClr val="8D99AE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l'algorithme "répare" le problème des </a:t>
            </a:r>
            <a:r>
              <a:rPr lang="en-US" sz="1200" b="1" dirty="0">
                <a:solidFill>
                  <a:srgbClr val="0A192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N-Reines</a:t>
            </a:r>
            <a:r>
              <a:rPr lang="en-US" sz="1250" dirty="0">
                <a:solidFill>
                  <a:srgbClr val="8D99AE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, </a:t>
            </a:r>
            <a:r>
              <a:rPr lang="en-US" sz="1250" dirty="0">
                <a:solidFill>
                  <a:srgbClr val="8D99AE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passant d'un chaos initial à une solution parfaite.</a:t>
            </a:r>
            <a:endParaRPr lang="en-US" sz="12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6406" y="880467"/>
            <a:ext cx="171450" cy="1714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872163" y="864394"/>
            <a:ext cx="2557463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A19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GRILLE DYNAMIQUE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5872163" y="1057275"/>
            <a:ext cx="2557463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8D99AE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Configuration personnalisée (ex: 20x20) pour tester différentes échelles.</a:t>
            </a:r>
            <a:endParaRPr lang="en-US" sz="8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6406" y="1757697"/>
            <a:ext cx="171450" cy="1714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872163" y="1741624"/>
            <a:ext cx="2557463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A19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TIMELINE INTERACTIVE</a:t>
            </a:r>
            <a:endParaRPr lang="en-US" sz="900" dirty="0"/>
          </a:p>
        </p:txBody>
      </p:sp>
      <p:sp>
        <p:nvSpPr>
          <p:cNvPr id="11" name="Text 6"/>
          <p:cNvSpPr/>
          <p:nvPr/>
        </p:nvSpPr>
        <p:spPr>
          <a:xfrm>
            <a:off x="5872163" y="1934505"/>
            <a:ext cx="2557463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8D99AE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Navigation pas à pas dans les itérations de l'algorithme.</a:t>
            </a:r>
            <a:endParaRPr lang="en-US" sz="8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6406" y="2634928"/>
            <a:ext cx="171450" cy="1714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872163" y="2618854"/>
            <a:ext cx="2557463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A19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STATS EN DIRECT</a:t>
            </a:r>
            <a:endParaRPr lang="en-US" sz="900" dirty="0"/>
          </a:p>
        </p:txBody>
      </p:sp>
      <p:sp>
        <p:nvSpPr>
          <p:cNvPr id="14" name="Text 8"/>
          <p:cNvSpPr/>
          <p:nvPr/>
        </p:nvSpPr>
        <p:spPr>
          <a:xfrm>
            <a:off x="5872163" y="2811735"/>
            <a:ext cx="2557463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8D99AE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Suivi visuel de la diminution des conflits à chaque étape.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998981"/>
            <a:ext cx="3278981" cy="7543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450" b="1" dirty="0">
                <a:solidFill>
                  <a:srgbClr val="0A19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STACK TECHNIQUE</a:t>
            </a:r>
            <a:endParaRPr lang="en-US" sz="2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1968522"/>
            <a:ext cx="214313" cy="1714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35844" y="1967629"/>
            <a:ext cx="160377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A19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PYTHON 3.11 &amp; FLASK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714375" y="2212302"/>
            <a:ext cx="3278981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8D99AE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Moteur algorithmique robuste et API REST pour la communication asynchrone.</a:t>
            </a:r>
            <a:endParaRPr lang="en-US" sz="8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" y="2861825"/>
            <a:ext cx="214313" cy="1714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35844" y="2860932"/>
            <a:ext cx="213062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A19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JS VANILLA &amp; PARTICLES.JS</a:t>
            </a:r>
            <a:endParaRPr lang="en-US" sz="1000" dirty="0"/>
          </a:p>
        </p:txBody>
      </p:sp>
      <p:sp>
        <p:nvSpPr>
          <p:cNvPr id="9" name="Text 4"/>
          <p:cNvSpPr/>
          <p:nvPr/>
        </p:nvSpPr>
        <p:spPr>
          <a:xfrm>
            <a:off x="714375" y="3105606"/>
            <a:ext cx="3278981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8D99AE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Interface fluide et visualisations dynamiques sans frameworks lourds.</a:t>
            </a:r>
            <a:endParaRPr lang="en-US" sz="8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3755129"/>
            <a:ext cx="214313" cy="1714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35844" y="3754236"/>
            <a:ext cx="137517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A19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TIMELINE &amp; STATS</a:t>
            </a:r>
            <a:endParaRPr lang="en-US" sz="1000" dirty="0"/>
          </a:p>
        </p:txBody>
      </p:sp>
      <p:sp>
        <p:nvSpPr>
          <p:cNvPr id="12" name="Text 6"/>
          <p:cNvSpPr/>
          <p:nvPr/>
        </p:nvSpPr>
        <p:spPr>
          <a:xfrm>
            <a:off x="714375" y="3998909"/>
            <a:ext cx="3278981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8D99AE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Navigation pas à pas dans les itérations et analyse de performance en temps réel.</a:t>
            </a:r>
            <a:endParaRPr lang="en-US" sz="850" dirty="0"/>
          </a:p>
        </p:txBody>
      </p:sp>
      <p:sp>
        <p:nvSpPr>
          <p:cNvPr id="13" name="Shape 7"/>
          <p:cNvSpPr/>
          <p:nvPr/>
        </p:nvSpPr>
        <p:spPr>
          <a:xfrm>
            <a:off x="4421981" y="714375"/>
            <a:ext cx="4007644" cy="2419945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14" name="Text 8"/>
          <p:cNvSpPr/>
          <p:nvPr/>
        </p:nvSpPr>
        <p:spPr>
          <a:xfrm>
            <a:off x="4636294" y="1100138"/>
            <a:ext cx="3579019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90429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Démonstration N-Reines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4872038" y="1451967"/>
            <a:ext cx="1700213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Configuration d'un échiquier</a:t>
            </a:r>
            <a:endParaRPr lang="en-US" sz="950" dirty="0"/>
          </a:p>
        </p:txBody>
      </p:sp>
      <p:sp>
        <p:nvSpPr>
          <p:cNvPr id="16" name="Text 10"/>
          <p:cNvSpPr/>
          <p:nvPr/>
        </p:nvSpPr>
        <p:spPr>
          <a:xfrm>
            <a:off x="6572250" y="1451967"/>
            <a:ext cx="39826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20x20</a:t>
            </a:r>
            <a:endParaRPr lang="en-US" sz="900" dirty="0"/>
          </a:p>
        </p:txBody>
      </p:sp>
      <p:sp>
        <p:nvSpPr>
          <p:cNvPr id="17" name="Text 11"/>
          <p:cNvSpPr/>
          <p:nvPr/>
        </p:nvSpPr>
        <p:spPr>
          <a:xfrm>
            <a:off x="6970514" y="1451967"/>
            <a:ext cx="3571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.</a:t>
            </a:r>
            <a:endParaRPr lang="en-US" sz="950" dirty="0"/>
          </a:p>
        </p:txBody>
      </p:sp>
      <p:sp>
        <p:nvSpPr>
          <p:cNvPr id="18" name="Text 12"/>
          <p:cNvSpPr/>
          <p:nvPr/>
        </p:nvSpPr>
        <p:spPr>
          <a:xfrm>
            <a:off x="4636294" y="1714500"/>
            <a:ext cx="3579019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Initialisation gloutonne pour minimiser les conflits de départ.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4636294" y="2132409"/>
            <a:ext cx="3579019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Visualisation : Sélection de la reine la plus attaquée.</a:t>
            </a:r>
            <a:endParaRPr lang="en-US" sz="950" dirty="0"/>
          </a:p>
        </p:txBody>
      </p:sp>
      <p:sp>
        <p:nvSpPr>
          <p:cNvPr id="20" name="Text 14"/>
          <p:cNvSpPr/>
          <p:nvPr/>
        </p:nvSpPr>
        <p:spPr>
          <a:xfrm>
            <a:off x="4872038" y="2394942"/>
            <a:ext cx="1651992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Déplacement vers la case à</a:t>
            </a:r>
            <a:endParaRPr lang="en-US" sz="950" dirty="0"/>
          </a:p>
        </p:txBody>
      </p:sp>
      <p:sp>
        <p:nvSpPr>
          <p:cNvPr id="21" name="Text 15"/>
          <p:cNvSpPr/>
          <p:nvPr/>
        </p:nvSpPr>
        <p:spPr>
          <a:xfrm>
            <a:off x="6524030" y="2394942"/>
            <a:ext cx="95011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conflit minimum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7474148" y="2394942"/>
            <a:ext cx="3571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.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4636294" y="2657475"/>
            <a:ext cx="3579019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Suivi de la courbe de décroissance des conflits.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1525" y="1639491"/>
            <a:ext cx="7715250" cy="377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450" b="1" dirty="0">
                <a:solidFill>
                  <a:srgbClr val="0A19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CONCLUSION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771525" y="2445283"/>
            <a:ext cx="7143750" cy="1080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0A19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« Min-Conflicts a révolutionné la résolution de CSP </a:t>
            </a:r>
            <a:r>
              <a:rPr lang="en-US" sz="1800" b="1" dirty="0">
                <a:solidFill>
                  <a:srgbClr val="0A19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en passant d'une approche systématique à une </a:t>
            </a:r>
            <a:r>
              <a:rPr lang="en-US" sz="1800" b="1" dirty="0">
                <a:solidFill>
                  <a:srgbClr val="D90429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réparation locale stochastique</a:t>
            </a:r>
            <a:r>
              <a:rPr lang="en-US" sz="1800" b="1" dirty="0">
                <a:solidFill>
                  <a:srgbClr val="0A19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. »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771525" y="3689691"/>
            <a:ext cx="381476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90429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VISUALISATION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771525" y="3920077"/>
            <a:ext cx="3814763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8D99AE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Notre application rend l'algorithme visible et compréhensible pour tous.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4672013" y="3689691"/>
            <a:ext cx="381476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90429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OBJECTIF PÉDAGOGIQUE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672013" y="3920077"/>
            <a:ext cx="3814763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8D99AE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Transformer des concepts d'IA abstraits en une expérience concrète et interactive.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2026-05-23T04:30:25Z</dcterms:created>
  <dcterms:modified xsi:type="dcterms:W3CDTF">2026-05-23T04:30:25Z</dcterms:modified>
</cp:coreProperties>
</file>