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59" r:id="rId4"/>
    <p:sldId id="260" r:id="rId5"/>
    <p:sldId id="261" r:id="rId6"/>
    <p:sldId id="262" r:id="rId7"/>
    <p:sldId id="266" r:id="rId8"/>
    <p:sldId id="264"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72EF80-2DBC-399D-3BEB-64E5E1C858B5}" v="1" dt="2026-05-18T10:07:38.1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7" d="100"/>
          <a:sy n="127" d="100"/>
        </p:scale>
        <p:origin x="1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933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a:t>Bonjour à tous. Nous sommes ravis de vous présenter aujourd'hui notre projet ADOMC, un solveur de problèmes de satisfaction de contraintes basé sur l'algorithme Min-Conflict. Notre application allie puissance algorithmique et interface moderne pour rendre ces concepts complexes accessibles et visuels. Nous avons développé un outil capable de résoudre des problèmes complexes tout en offrant une expérience utilisateur intuitive. Ce projet démontre comment l'intelligence artificielle peut être rendue compréhensible et interactive. Maintenant, permettez-moi de vous présenter l'équipe derrière ce travail.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a:t>Pour commencer, qu'est-ce qu'un CSP ? C'est un cadre mathématique où l'on doit assigner des valeurs à des variables tout en respectant des règles strictes. Ces problèmes sont partout en informatique : de l'organisation de vos emplois du temps à la gestion des réseaux de télécommunication. Ils sont fondamentaux pour l'optimisation et la prise de décision automatisée. Comprendre les CSP est crucial pour de nombreuses applications d'IA. Alors, pourquoi avons-nous choisi de nous concentrer sur ce type de problème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a:t>La résolution manuelle d'un Sudoku complexe ou d'un problème de 100 reines est extrêmement difficile. Notre motivation était de créer un outil qui non seulement résout ces problèmes efficacement, mais permet aussi de visualiser chaque étape du processus pour mieux comprendre la logique derrière les algorithmes. Les CSP sont souvent NP-complets, ce qui rend la résolution manuelle impossible pour de grandes tailles. Il manquait des outils visuels pour comprendre le fonctionnement interne des algorithmes. Nous avions besoin d'algorithmes capables de trouver des solutions rapidement. Voyons maintenant comment nous avons abordé ces défis avec nos solutions algorithmiques.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a:t>Nous avons implémenté deux approches complémentaires. Le Min-Conflict est excellent pour les grands problèmes car il réduit localement les erreurs. Pour garantir une solution exacte, nous utilisons le Backtracking optimisé avec l'heuristique MRV. Enfin, nous avons intégré une timeline pour suivre la résolution en temps réel. Le Min-Conflict est une recherche locale stochastique, idéale pour les CSP de grande taille. Le Backtracking avec MRV garantit de trouver une solution si elle existe. La visualisation interactive permet de comprendre le processus. Maintenant, parlons de la technologie que nous avons utilisée pour construire tout cela.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a:t>Après avoir vu les problèmes et nos solutions algorithmiques, parlons de la manière dont nous les avons concrétisées. Notre stack technique est conçue pour l'efficacité et la modernité. Nous avons choisi Python 3.11 et Flask pour un backend robuste et léger. Côté frontend, JavaScript Vanilla assure une performance maximale et une fluidité totale. Particles.js ajoute une touche visuelle dynamique, renforçant l'expérience utilisateur. Maintenant, voyons comment ces outils s'intègrent dans notre architecture globale.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a:t>Notre architecture est un modèle client-serveur classique, optimisé pour la réactivité. Le frontend, en JavaScript, communique avec notre API Flask, qui gère la logique complexe en Python. Cela nous permet d'offrir des fonctionnalités riches comme la configuration dynamique du N-Reines et l'analyse cellule par cellule du Sudoku. Nous avons aussi intégré des benchmarks pour comparer les algorithmes et un design cyberpunk sombre, entièrement responsive. Voyons maintenant comment tout cela prend vie lors de notre démonstration.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3F4B0-F23D-2FBA-AB2A-4D0720636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911D4-04F2-39F4-EE1A-163A00C4B2CC}"/>
              </a:ext>
            </a:extLst>
          </p:cNvPr>
          <p:cNvSpPr>
            <a:spLocks noGrp="1" noRot="1" noChangeAspect="1"/>
          </p:cNvSpPr>
          <p:nvPr>
            <p:ph type="sldImg"/>
          </p:nvPr>
        </p:nvSpPr>
        <p:spPr/>
        <p:txBody>
          <a:bodyPr/>
          <a:lstStyle/>
          <a:p>
            <a:endParaRPr lang="fr-MG"/>
          </a:p>
        </p:txBody>
      </p:sp>
      <p:sp>
        <p:nvSpPr>
          <p:cNvPr id="3" name="Notes Placeholder 2">
            <a:extLst>
              <a:ext uri="{FF2B5EF4-FFF2-40B4-BE49-F238E27FC236}">
                <a16:creationId xmlns:a16="http://schemas.microsoft.com/office/drawing/2014/main" id="{FC313536-89C3-FF24-216A-B260D9035008}"/>
              </a:ext>
            </a:extLst>
          </p:cNvPr>
          <p:cNvSpPr>
            <a:spLocks noGrp="1"/>
          </p:cNvSpPr>
          <p:nvPr>
            <p:ph type="body" idx="1"/>
          </p:nvPr>
        </p:nvSpPr>
        <p:spPr/>
        <p:txBody>
          <a:bodyPr/>
          <a:lstStyle/>
          <a:p>
            <a:r>
              <a:rPr lang="en-US"/>
              <a:t>Passons à la démonstration pour voir ADOMC en action. Nous commencerons par lancer le serveur Flask et vous présenter la landing page interactive. Ensuite, nous résoudrons un problème de 20 reines, en utilisant le slider pour analyser les conflits pas à pas. Enfin, nous aborderons un Sudoku expert avec le backtracking, en commentant les statistiques de performance en temps réel. Cela vous donnera une idée concrète de la puissance de notre solveur. Après cette démonstration, nous conclurons et parlerons des perspectives d'avenir.</a:t>
            </a:r>
          </a:p>
        </p:txBody>
      </p:sp>
      <p:sp>
        <p:nvSpPr>
          <p:cNvPr id="4" name="Slide Number Placeholder 3">
            <a:extLst>
              <a:ext uri="{FF2B5EF4-FFF2-40B4-BE49-F238E27FC236}">
                <a16:creationId xmlns:a16="http://schemas.microsoft.com/office/drawing/2014/main" id="{924DA17E-007B-F139-FE9E-AFC22F56D38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0573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a:t>En résumé, ADOMC est une application fonctionnelle, performante et surtout très pédagogique. Nous avons réussi à créer un outil de visualisation qui rend les CSP accessibles. Les défis majeurs ont été l'optimisation des transferts de données et la fluidité des animations. Pour l'avenir, nous envisageons d'ajouter de nouvelles contraintes, comme la coloration de graphes, et de déployer l'application sur le cloud. Merci de votre attention.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jpe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jpeg"/><Relationship Id="rId5" Type="http://schemas.openxmlformats.org/officeDocument/2006/relationships/image" Target="../media/image3.jpeg"/><Relationship Id="rId10" Type="http://schemas.openxmlformats.org/officeDocument/2006/relationships/image" Target="../media/image12.jpeg"/><Relationship Id="rId4" Type="http://schemas.openxmlformats.org/officeDocument/2006/relationships/image" Target="../media/image2.png"/><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3.jpe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554338"/>
            <a:ext cx="9144000" cy="571500"/>
          </a:xfrm>
          <a:prstGeom prst="rect">
            <a:avLst/>
          </a:prstGeom>
          <a:noFill/>
          <a:ln/>
        </p:spPr>
        <p:txBody>
          <a:bodyPr wrap="none" lIns="510286" tIns="0" rIns="510286" bIns="0" rtlCol="0" anchor="t">
            <a:spAutoFit/>
          </a:bodyPr>
          <a:lstStyle/>
          <a:p>
            <a:pPr marL="0" indent="0" algn="l">
              <a:lnSpc>
                <a:spcPct val="80000"/>
              </a:lnSpc>
              <a:buNone/>
            </a:pPr>
            <a:r>
              <a:rPr lang="en-US" sz="4150" b="1">
                <a:solidFill>
                  <a:srgbClr val="000000"/>
                </a:solidFill>
                <a:latin typeface="Playfair Display Black" pitchFamily="34" charset="0"/>
                <a:ea typeface="Playfair Display Black" pitchFamily="34" charset="-122"/>
                <a:cs typeface="Playfair Display Black" pitchFamily="34" charset="-120"/>
              </a:rPr>
              <a:t>MIN-CONFLICT SOLVER</a:t>
            </a:r>
            <a:endParaRPr lang="en-US" sz="4150"/>
          </a:p>
        </p:txBody>
      </p:sp>
      <p:sp>
        <p:nvSpPr>
          <p:cNvPr id="5" name="Text 1"/>
          <p:cNvSpPr/>
          <p:nvPr/>
        </p:nvSpPr>
        <p:spPr>
          <a:xfrm>
            <a:off x="0" y="1465864"/>
            <a:ext cx="4820037" cy="250325"/>
          </a:xfrm>
          <a:prstGeom prst="rect">
            <a:avLst/>
          </a:prstGeom>
          <a:noFill/>
          <a:ln/>
        </p:spPr>
        <p:txBody>
          <a:bodyPr wrap="none" lIns="510286" tIns="0" rIns="510286" bIns="0" rtlCol="0" anchor="t">
            <a:spAutoFit/>
          </a:bodyPr>
          <a:lstStyle/>
          <a:p>
            <a:pPr marL="0" indent="0" algn="l">
              <a:lnSpc>
                <a:spcPct val="80000"/>
              </a:lnSpc>
              <a:buNone/>
            </a:pPr>
            <a:r>
              <a:rPr lang="en-US" sz="2000" b="1" noProof="1">
                <a:solidFill>
                  <a:srgbClr val="000000"/>
                </a:solidFill>
                <a:latin typeface="Playfair Display Black" pitchFamily="34" charset="0"/>
              </a:rPr>
              <a:t>Présentation du projet ADOMC</a:t>
            </a:r>
            <a:endParaRPr lang="en-US" sz="2000" noProof="1"/>
          </a:p>
        </p:txBody>
      </p:sp>
      <p:sp>
        <p:nvSpPr>
          <p:cNvPr id="7" name="Text 3"/>
          <p:cNvSpPr/>
          <p:nvPr/>
        </p:nvSpPr>
        <p:spPr>
          <a:xfrm>
            <a:off x="299671" y="3948443"/>
            <a:ext cx="5467341" cy="969496"/>
          </a:xfrm>
          <a:prstGeom prst="rect">
            <a:avLst/>
          </a:prstGeom>
          <a:noFill/>
          <a:ln/>
        </p:spPr>
        <p:txBody>
          <a:bodyPr wrap="square" lIns="0" tIns="0" rIns="0" bIns="0" rtlCol="0" anchor="t">
            <a:spAutoFit/>
          </a:bodyPr>
          <a:lstStyle/>
          <a:p>
            <a:pPr marL="0" indent="0" algn="l">
              <a:lnSpc>
                <a:spcPct val="120000"/>
              </a:lnSpc>
              <a:buNone/>
            </a:pPr>
            <a:r>
              <a:rPr lang="en-US" sz="1200" b="1" err="1">
                <a:solidFill>
                  <a:srgbClr val="222222"/>
                </a:solidFill>
                <a:latin typeface="Inter Medium" pitchFamily="34" charset="0"/>
                <a:ea typeface="Inter Medium" pitchFamily="34" charset="-122"/>
                <a:cs typeface="Inter Medium" pitchFamily="34" charset="-120"/>
              </a:rPr>
              <a:t>Présenté</a:t>
            </a:r>
            <a:r>
              <a:rPr lang="en-US" sz="1200" b="1">
                <a:solidFill>
                  <a:srgbClr val="222222"/>
                </a:solidFill>
                <a:latin typeface="Inter Medium" pitchFamily="34" charset="0"/>
                <a:ea typeface="Inter Medium" pitchFamily="34" charset="-122"/>
                <a:cs typeface="Inter Medium" pitchFamily="34" charset="-120"/>
              </a:rPr>
              <a:t> par :</a:t>
            </a:r>
            <a:r>
              <a:rPr lang="en-US" sz="1250">
                <a:solidFill>
                  <a:srgbClr val="222222"/>
                </a:solidFill>
                <a:latin typeface="Inter Medium" pitchFamily="34" charset="0"/>
                <a:ea typeface="Inter Medium" pitchFamily="34" charset="-122"/>
                <a:cs typeface="Inter Medium" pitchFamily="34" charset="-120"/>
              </a:rPr>
              <a:t> </a:t>
            </a:r>
          </a:p>
          <a:p>
            <a:pPr lvl="0"/>
            <a:r>
              <a:rPr lang="en-US" sz="1200"/>
              <a:t>2768 - ANDRIAMANANTENA Elvis Sylvano </a:t>
            </a:r>
            <a:endParaRPr lang="fr-MG" sz="1200"/>
          </a:p>
          <a:p>
            <a:pPr lvl="0"/>
            <a:r>
              <a:rPr lang="en-US" sz="1200"/>
              <a:t>2738 - TIDA Ratsaranjanahary Lauralien </a:t>
            </a:r>
            <a:endParaRPr lang="fr-MG" sz="1200"/>
          </a:p>
          <a:p>
            <a:pPr lvl="0"/>
            <a:r>
              <a:rPr lang="en-US" sz="1200"/>
              <a:t>2754 - SAMUELSON RAHITAVOLA Chrywdell Jeannioh</a:t>
            </a:r>
            <a:endParaRPr lang="fr-MG" sz="1200"/>
          </a:p>
          <a:p>
            <a:pPr lvl="0"/>
            <a:r>
              <a:rPr lang="en-US" sz="1200"/>
              <a:t>2587 - RABEARIMANANA Faniriniaina Luciano </a:t>
            </a:r>
            <a:endParaRPr lang="fr-MG" sz="1200"/>
          </a:p>
        </p:txBody>
      </p:sp>
      <p:sp>
        <p:nvSpPr>
          <p:cNvPr id="8" name="Text 4"/>
          <p:cNvSpPr/>
          <p:nvPr/>
        </p:nvSpPr>
        <p:spPr>
          <a:xfrm>
            <a:off x="8439642" y="4925519"/>
            <a:ext cx="543418" cy="153888"/>
          </a:xfrm>
          <a:prstGeom prst="rect">
            <a:avLst/>
          </a:prstGeom>
          <a:noFill/>
          <a:ln/>
        </p:spPr>
        <p:txBody>
          <a:bodyPr wrap="none" lIns="0" tIns="0" rIns="0" bIns="0" rtlCol="0" anchor="t">
            <a:spAutoFit/>
          </a:bodyPr>
          <a:lstStyle/>
          <a:p>
            <a:pPr marL="0" indent="0" algn="r">
              <a:buNone/>
            </a:pPr>
            <a:r>
              <a:rPr lang="en-US" sz="1000" b="1">
                <a:solidFill>
                  <a:srgbClr val="FF3300"/>
                </a:solidFill>
                <a:latin typeface="Inter Medium" pitchFamily="34" charset="0"/>
                <a:ea typeface="Inter Medium" pitchFamily="34" charset="-122"/>
                <a:cs typeface="Inter Medium" pitchFamily="34" charset="-120"/>
              </a:rPr>
              <a:t> MAI 2026</a:t>
            </a:r>
            <a:endParaRPr lang="en-US" sz="1000"/>
          </a:p>
        </p:txBody>
      </p:sp>
      <p:sp>
        <p:nvSpPr>
          <p:cNvPr id="12" name="Rectangle 11">
            <a:extLst>
              <a:ext uri="{FF2B5EF4-FFF2-40B4-BE49-F238E27FC236}">
                <a16:creationId xmlns:a16="http://schemas.microsoft.com/office/drawing/2014/main" id="{639CDB8C-2F2A-810E-4F17-A9E71D72D829}"/>
              </a:ext>
            </a:extLst>
          </p:cNvPr>
          <p:cNvSpPr/>
          <p:nvPr/>
        </p:nvSpPr>
        <p:spPr>
          <a:xfrm>
            <a:off x="7637000" y="64093"/>
            <a:ext cx="1440816" cy="571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G"/>
          </a:p>
        </p:txBody>
      </p:sp>
      <p:sp>
        <p:nvSpPr>
          <p:cNvPr id="13" name="Rectangle 12">
            <a:extLst>
              <a:ext uri="{FF2B5EF4-FFF2-40B4-BE49-F238E27FC236}">
                <a16:creationId xmlns:a16="http://schemas.microsoft.com/office/drawing/2014/main" id="{962A71A3-4B45-F754-2729-CA7E2AC7A37C}"/>
              </a:ext>
            </a:extLst>
          </p:cNvPr>
          <p:cNvSpPr/>
          <p:nvPr/>
        </p:nvSpPr>
        <p:spPr>
          <a:xfrm>
            <a:off x="7192108" y="948725"/>
            <a:ext cx="1440816" cy="7314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G"/>
          </a:p>
        </p:txBody>
      </p:sp>
      <p:pic>
        <p:nvPicPr>
          <p:cNvPr id="9" name="Picture 8">
            <a:extLst>
              <a:ext uri="{FF2B5EF4-FFF2-40B4-BE49-F238E27FC236}">
                <a16:creationId xmlns:a16="http://schemas.microsoft.com/office/drawing/2014/main" id="{2ADADE47-DCCB-C5BF-9CA4-C0FE3D4DE4CB}"/>
              </a:ext>
            </a:extLst>
          </p:cNvPr>
          <p:cNvPicPr>
            <a:picLocks noChangeAspect="1"/>
          </p:cNvPicPr>
          <p:nvPr/>
        </p:nvPicPr>
        <p:blipFill>
          <a:blip r:embed="rId4"/>
          <a:stretch>
            <a:fillRect/>
          </a:stretch>
        </p:blipFill>
        <p:spPr>
          <a:xfrm>
            <a:off x="8519054" y="76831"/>
            <a:ext cx="558762" cy="558762"/>
          </a:xfrm>
          <a:prstGeom prst="rect">
            <a:avLst/>
          </a:prstGeom>
        </p:spPr>
      </p:pic>
      <p:pic>
        <p:nvPicPr>
          <p:cNvPr id="11" name="Picture 10">
            <a:extLst>
              <a:ext uri="{FF2B5EF4-FFF2-40B4-BE49-F238E27FC236}">
                <a16:creationId xmlns:a16="http://schemas.microsoft.com/office/drawing/2014/main" id="{B00FE0A2-90D5-045D-C361-2E7610562B14}"/>
              </a:ext>
            </a:extLst>
          </p:cNvPr>
          <p:cNvPicPr>
            <a:picLocks noChangeAspect="1"/>
          </p:cNvPicPr>
          <p:nvPr/>
        </p:nvPicPr>
        <p:blipFill>
          <a:blip r:embed="rId5"/>
          <a:stretch>
            <a:fillRect/>
          </a:stretch>
        </p:blipFill>
        <p:spPr>
          <a:xfrm>
            <a:off x="7878150" y="112794"/>
            <a:ext cx="439027" cy="5587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a:solidFill>
                  <a:srgbClr val="000000"/>
                </a:solidFill>
                <a:latin typeface="Playfair Display Black" pitchFamily="34" charset="0"/>
                <a:ea typeface="Playfair Display Black" pitchFamily="34" charset="-122"/>
                <a:cs typeface="Playfair Display Black" pitchFamily="34" charset="-120"/>
              </a:rPr>
              <a:t>INTRODUCTION AUX CSP</a:t>
            </a:r>
            <a:endParaRPr lang="en-US" sz="3300"/>
          </a:p>
        </p:txBody>
      </p:sp>
      <p:sp>
        <p:nvSpPr>
          <p:cNvPr id="5" name="Text 1"/>
          <p:cNvSpPr/>
          <p:nvPr/>
        </p:nvSpPr>
        <p:spPr>
          <a:xfrm>
            <a:off x="428625" y="2029941"/>
            <a:ext cx="4714875" cy="276820"/>
          </a:xfrm>
          <a:prstGeom prst="rect">
            <a:avLst/>
          </a:prstGeom>
          <a:noFill/>
          <a:ln/>
        </p:spPr>
        <p:txBody>
          <a:bodyPr wrap="square" lIns="0" tIns="0" rIns="0" bIns="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QU'EST-CE QU'UN CSP ?</a:t>
            </a:r>
            <a:endParaRPr lang="en-US" sz="1600"/>
          </a:p>
        </p:txBody>
      </p:sp>
      <p:sp>
        <p:nvSpPr>
          <p:cNvPr id="6" name="Text 2"/>
          <p:cNvSpPr/>
          <p:nvPr/>
        </p:nvSpPr>
        <p:spPr>
          <a:xfrm>
            <a:off x="628650" y="2478212"/>
            <a:ext cx="4514850" cy="502909"/>
          </a:xfrm>
          <a:prstGeom prst="rect">
            <a:avLst/>
          </a:prstGeom>
          <a:noFill/>
          <a:ln/>
        </p:spPr>
        <p:txBody>
          <a:bodyPr wrap="square" lIns="0" tIns="0" rIns="0" bIns="0" rtlCol="0" anchor="t">
            <a:spAutoFit/>
          </a:bodyPr>
          <a:lstStyle/>
          <a:p>
            <a:pPr marL="0" indent="0" algn="l">
              <a:lnSpc>
                <a:spcPct val="128000"/>
              </a:lnSpc>
              <a:buNone/>
            </a:pPr>
            <a:r>
              <a:rPr lang="en-US" sz="1100" b="1">
                <a:solidFill>
                  <a:srgbClr val="222222"/>
                </a:solidFill>
                <a:latin typeface="Inter Medium" pitchFamily="34" charset="0"/>
                <a:ea typeface="Inter Medium" pitchFamily="34" charset="-122"/>
                <a:cs typeface="Inter Medium" pitchFamily="34" charset="-120"/>
              </a:rPr>
              <a:t>Définition :</a:t>
            </a:r>
            <a:r>
              <a:rPr lang="en-US" sz="1150">
                <a:solidFill>
                  <a:srgbClr val="222222"/>
                </a:solidFill>
                <a:latin typeface="Inter Medium" pitchFamily="34" charset="0"/>
                <a:ea typeface="Inter Medium" pitchFamily="34" charset="-122"/>
                <a:cs typeface="Inter Medium" pitchFamily="34" charset="-120"/>
              </a:rPr>
              <a:t> Un ensemble de variables, de domaines et de contraintes à satisfaire simultanément.</a:t>
            </a:r>
            <a:endParaRPr lang="en-US" sz="1100"/>
          </a:p>
        </p:txBody>
      </p:sp>
      <p:sp>
        <p:nvSpPr>
          <p:cNvPr id="7" name="Text 3"/>
          <p:cNvSpPr/>
          <p:nvPr/>
        </p:nvSpPr>
        <p:spPr>
          <a:xfrm>
            <a:off x="628650" y="3095420"/>
            <a:ext cx="4514850" cy="502909"/>
          </a:xfrm>
          <a:prstGeom prst="rect">
            <a:avLst/>
          </a:prstGeom>
          <a:noFill/>
          <a:ln/>
        </p:spPr>
        <p:txBody>
          <a:bodyPr wrap="square" lIns="0" tIns="0" rIns="0" bIns="0" rtlCol="0" anchor="t">
            <a:spAutoFit/>
          </a:bodyPr>
          <a:lstStyle/>
          <a:p>
            <a:pPr marL="0" indent="0" algn="l">
              <a:lnSpc>
                <a:spcPct val="128000"/>
              </a:lnSpc>
              <a:buNone/>
            </a:pPr>
            <a:r>
              <a:rPr lang="en-US" sz="1100" b="1">
                <a:solidFill>
                  <a:srgbClr val="222222"/>
                </a:solidFill>
                <a:latin typeface="Inter Medium" pitchFamily="34" charset="0"/>
                <a:ea typeface="Inter Medium" pitchFamily="34" charset="-122"/>
                <a:cs typeface="Inter Medium" pitchFamily="34" charset="-120"/>
              </a:rPr>
              <a:t>Importance :</a:t>
            </a:r>
            <a:r>
              <a:rPr lang="en-US" sz="1150">
                <a:solidFill>
                  <a:srgbClr val="222222"/>
                </a:solidFill>
                <a:latin typeface="Inter Medium" pitchFamily="34" charset="0"/>
                <a:ea typeface="Inter Medium" pitchFamily="34" charset="-122"/>
                <a:cs typeface="Inter Medium" pitchFamily="34" charset="-120"/>
              </a:rPr>
              <a:t> Fondamental pour l'optimisation combinatoire et l'IA décisionnelle.</a:t>
            </a:r>
            <a:endParaRPr lang="en-US" sz="1100"/>
          </a:p>
        </p:txBody>
      </p:sp>
      <p:sp>
        <p:nvSpPr>
          <p:cNvPr id="8" name="Text 4"/>
          <p:cNvSpPr/>
          <p:nvPr/>
        </p:nvSpPr>
        <p:spPr>
          <a:xfrm>
            <a:off x="628650" y="3712629"/>
            <a:ext cx="4514850" cy="502909"/>
          </a:xfrm>
          <a:prstGeom prst="rect">
            <a:avLst/>
          </a:prstGeom>
          <a:noFill/>
          <a:ln/>
        </p:spPr>
        <p:txBody>
          <a:bodyPr wrap="square" lIns="0" tIns="0" rIns="0" bIns="0" rtlCol="0" anchor="t">
            <a:spAutoFit/>
          </a:bodyPr>
          <a:lstStyle/>
          <a:p>
            <a:pPr marL="0" indent="0" algn="l">
              <a:lnSpc>
                <a:spcPct val="128000"/>
              </a:lnSpc>
              <a:buNone/>
            </a:pPr>
            <a:r>
              <a:rPr lang="en-US" sz="1100" b="1">
                <a:solidFill>
                  <a:srgbClr val="222222"/>
                </a:solidFill>
                <a:latin typeface="Inter Medium" pitchFamily="34" charset="0"/>
                <a:ea typeface="Inter Medium" pitchFamily="34" charset="-122"/>
                <a:cs typeface="Inter Medium" pitchFamily="34" charset="-120"/>
              </a:rPr>
              <a:t>Complexité :</a:t>
            </a:r>
            <a:r>
              <a:rPr lang="en-US" sz="1150">
                <a:solidFill>
                  <a:srgbClr val="222222"/>
                </a:solidFill>
                <a:latin typeface="Inter Medium" pitchFamily="34" charset="0"/>
                <a:ea typeface="Inter Medium" pitchFamily="34" charset="-122"/>
                <a:cs typeface="Inter Medium" pitchFamily="34" charset="-120"/>
              </a:rPr>
              <a:t> Souvent NP-complets, nécessitant des heuristiques intelligentes.</a:t>
            </a:r>
            <a:endParaRPr lang="en-US" sz="1100"/>
          </a:p>
        </p:txBody>
      </p:sp>
      <p:sp>
        <p:nvSpPr>
          <p:cNvPr id="9" name="Shape 5"/>
          <p:cNvSpPr/>
          <p:nvPr/>
        </p:nvSpPr>
        <p:spPr>
          <a:xfrm>
            <a:off x="5572125" y="2029941"/>
            <a:ext cx="3143250" cy="2286000"/>
          </a:xfrm>
          <a:prstGeom prst="rect">
            <a:avLst/>
          </a:prstGeom>
          <a:solidFill>
            <a:srgbClr val="F8F8F8"/>
          </a:solidFill>
          <a:ln/>
        </p:spPr>
        <p:txBody>
          <a:bodyPr/>
          <a:lstStyle/>
          <a:p>
            <a:endParaRPr lang="fr-MG"/>
          </a:p>
        </p:txBody>
      </p:sp>
      <p:sp>
        <p:nvSpPr>
          <p:cNvPr id="10" name="Shape 6"/>
          <p:cNvSpPr/>
          <p:nvPr/>
        </p:nvSpPr>
        <p:spPr>
          <a:xfrm>
            <a:off x="5572125" y="2029941"/>
            <a:ext cx="57150" cy="2286000"/>
          </a:xfrm>
          <a:prstGeom prst="rect">
            <a:avLst/>
          </a:prstGeom>
          <a:solidFill>
            <a:srgbClr val="000000"/>
          </a:solidFill>
          <a:ln/>
        </p:spPr>
        <p:txBody>
          <a:bodyPr/>
          <a:lstStyle/>
          <a:p>
            <a:endParaRPr lang="fr-MG"/>
          </a:p>
        </p:txBody>
      </p:sp>
      <p:sp>
        <p:nvSpPr>
          <p:cNvPr id="11" name="Text 7"/>
          <p:cNvSpPr/>
          <p:nvPr/>
        </p:nvSpPr>
        <p:spPr>
          <a:xfrm>
            <a:off x="5786438" y="2172816"/>
            <a:ext cx="2714625" cy="207169"/>
          </a:xfrm>
          <a:prstGeom prst="rect">
            <a:avLst/>
          </a:prstGeom>
          <a:noFill/>
          <a:ln/>
        </p:spPr>
        <p:txBody>
          <a:bodyPr wrap="square" lIns="0" tIns="0" rIns="0" bIns="0" rtlCol="0" anchor="t">
            <a:spAutoFit/>
          </a:bodyPr>
          <a:lstStyle/>
          <a:p>
            <a:pPr marL="0" indent="0" algn="l">
              <a:buNone/>
            </a:pPr>
            <a:r>
              <a:rPr lang="en-US" sz="1200" b="1">
                <a:solidFill>
                  <a:srgbClr val="000000"/>
                </a:solidFill>
                <a:latin typeface="Inter Medium" pitchFamily="34" charset="0"/>
                <a:ea typeface="Inter Medium" pitchFamily="34" charset="-122"/>
                <a:cs typeface="Inter Medium" pitchFamily="34" charset="-120"/>
              </a:rPr>
              <a:t>EXEMPLES CONCRETS</a:t>
            </a:r>
            <a:endParaRPr lang="en-US" sz="1200"/>
          </a:p>
        </p:txBody>
      </p:sp>
      <p:sp>
        <p:nvSpPr>
          <p:cNvPr id="12" name="Text 8"/>
          <p:cNvSpPr/>
          <p:nvPr/>
        </p:nvSpPr>
        <p:spPr>
          <a:xfrm>
            <a:off x="5986463" y="2551435"/>
            <a:ext cx="1414463" cy="205718"/>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Planification d'horaires</a:t>
            </a:r>
            <a:endParaRPr lang="en-US" sz="950"/>
          </a:p>
        </p:txBody>
      </p:sp>
      <p:sp>
        <p:nvSpPr>
          <p:cNvPr id="13" name="Text 9"/>
          <p:cNvSpPr/>
          <p:nvPr/>
        </p:nvSpPr>
        <p:spPr>
          <a:xfrm>
            <a:off x="5986463" y="2871453"/>
            <a:ext cx="1519833" cy="205718"/>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Allocation de ressources</a:t>
            </a:r>
            <a:endParaRPr lang="en-US" sz="950"/>
          </a:p>
        </p:txBody>
      </p:sp>
      <p:sp>
        <p:nvSpPr>
          <p:cNvPr id="14" name="Text 10"/>
          <p:cNvSpPr/>
          <p:nvPr/>
        </p:nvSpPr>
        <p:spPr>
          <a:xfrm>
            <a:off x="5986463" y="3191470"/>
            <a:ext cx="1530548" cy="205718"/>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Jeux (Sudoku, N-Reines)</a:t>
            </a:r>
            <a:endParaRPr lang="en-US" sz="950"/>
          </a:p>
        </p:txBody>
      </p:sp>
      <p:sp>
        <p:nvSpPr>
          <p:cNvPr id="15" name="Text 11"/>
          <p:cNvSpPr/>
          <p:nvPr/>
        </p:nvSpPr>
        <p:spPr>
          <a:xfrm>
            <a:off x="5986463" y="3511488"/>
            <a:ext cx="1551980" cy="205718"/>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Configuration industrielle</a:t>
            </a:r>
            <a:endParaRPr lang="en-US" sz="950"/>
          </a:p>
        </p:txBody>
      </p:sp>
      <p:pic>
        <p:nvPicPr>
          <p:cNvPr id="2" name="Picture 1">
            <a:extLst>
              <a:ext uri="{FF2B5EF4-FFF2-40B4-BE49-F238E27FC236}">
                <a16:creationId xmlns:a16="http://schemas.microsoft.com/office/drawing/2014/main" id="{44FE8F8C-078B-CF26-5FD0-47A6C0FD3203}"/>
              </a:ext>
            </a:extLst>
          </p:cNvPr>
          <p:cNvPicPr>
            <a:picLocks noChangeAspect="1"/>
          </p:cNvPicPr>
          <p:nvPr/>
        </p:nvPicPr>
        <p:blipFill>
          <a:blip r:embed="rId4"/>
          <a:stretch>
            <a:fillRect/>
          </a:stretch>
        </p:blipFill>
        <p:spPr>
          <a:xfrm>
            <a:off x="7868824" y="60295"/>
            <a:ext cx="439027" cy="558762"/>
          </a:xfrm>
          <a:prstGeom prst="rect">
            <a:avLst/>
          </a:prstGeom>
        </p:spPr>
      </p:pic>
      <p:pic>
        <p:nvPicPr>
          <p:cNvPr id="16" name="Picture 15">
            <a:extLst>
              <a:ext uri="{FF2B5EF4-FFF2-40B4-BE49-F238E27FC236}">
                <a16:creationId xmlns:a16="http://schemas.microsoft.com/office/drawing/2014/main" id="{4C20DD63-3337-8407-B067-50C6C5872916}"/>
              </a:ext>
            </a:extLst>
          </p:cNvPr>
          <p:cNvPicPr>
            <a:picLocks noChangeAspect="1"/>
          </p:cNvPicPr>
          <p:nvPr/>
        </p:nvPicPr>
        <p:blipFill>
          <a:blip r:embed="rId5"/>
          <a:stretch>
            <a:fillRect/>
          </a:stretch>
        </p:blipFill>
        <p:spPr>
          <a:xfrm>
            <a:off x="8501063" y="60295"/>
            <a:ext cx="558762" cy="5587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1291568"/>
          </a:xfrm>
          <a:prstGeom prst="rect">
            <a:avLst/>
          </a:prstGeom>
          <a:noFill/>
          <a:ln/>
        </p:spPr>
        <p:txBody>
          <a:bodyPr wrap="square" lIns="510286" tIns="340233" rIns="510286" bIns="0" rtlCol="0" anchor="t">
            <a:spAutoFit/>
          </a:bodyPr>
          <a:lstStyle/>
          <a:p>
            <a:pPr marL="0" indent="0" algn="l">
              <a:lnSpc>
                <a:spcPct val="88000"/>
              </a:lnSpc>
              <a:buNone/>
            </a:pPr>
            <a:r>
              <a:rPr lang="en-US" sz="3300" b="1">
                <a:solidFill>
                  <a:srgbClr val="000000"/>
                </a:solidFill>
                <a:latin typeface="Playfair Display Black" pitchFamily="34" charset="0"/>
                <a:ea typeface="Playfair Display Black" pitchFamily="34" charset="-122"/>
                <a:cs typeface="Playfair Display Black" pitchFamily="34" charset="-120"/>
              </a:rPr>
              <a:t>LE BESOIN : POURQUOI CE PROJET ?</a:t>
            </a:r>
            <a:endParaRPr lang="en-US" sz="3300"/>
          </a:p>
        </p:txBody>
      </p:sp>
      <p:sp>
        <p:nvSpPr>
          <p:cNvPr id="5" name="Text 1"/>
          <p:cNvSpPr/>
          <p:nvPr/>
        </p:nvSpPr>
        <p:spPr>
          <a:xfrm>
            <a:off x="428625" y="2532850"/>
            <a:ext cx="2537817" cy="305395"/>
          </a:xfrm>
          <a:prstGeom prst="rect">
            <a:avLst/>
          </a:prstGeom>
          <a:noFill/>
          <a:ln/>
        </p:spPr>
        <p:txBody>
          <a:bodyPr wrap="square" lIns="0" tIns="0" rIns="0" bIns="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DÉFIS DE RÉSOLUTION</a:t>
            </a:r>
            <a:endParaRPr lang="en-US" sz="1600"/>
          </a:p>
        </p:txBody>
      </p:sp>
      <p:sp>
        <p:nvSpPr>
          <p:cNvPr id="6" name="Text 2"/>
          <p:cNvSpPr/>
          <p:nvPr/>
        </p:nvSpPr>
        <p:spPr>
          <a:xfrm>
            <a:off x="671513" y="3052558"/>
            <a:ext cx="3614738" cy="660016"/>
          </a:xfrm>
          <a:prstGeom prst="rect">
            <a:avLst/>
          </a:prstGeom>
          <a:noFill/>
          <a:ln/>
        </p:spPr>
        <p:txBody>
          <a:bodyPr wrap="square" lIns="0" tIns="0" rIns="0" bIns="0" rtlCol="0" anchor="t">
            <a:spAutoFit/>
          </a:bodyPr>
          <a:lstStyle/>
          <a:p>
            <a:pPr marL="0" indent="0" algn="l">
              <a:lnSpc>
                <a:spcPct val="112000"/>
              </a:lnSpc>
              <a:buNone/>
            </a:pPr>
            <a:r>
              <a:rPr lang="en-US" sz="1100" b="1">
                <a:solidFill>
                  <a:srgbClr val="FF3300"/>
                </a:solidFill>
                <a:latin typeface="Inter Medium" pitchFamily="34" charset="0"/>
                <a:ea typeface="Inter Medium" pitchFamily="34" charset="-122"/>
                <a:cs typeface="Inter Medium" pitchFamily="34" charset="-120"/>
              </a:rPr>
              <a:t>Complexité Algorithmique :</a:t>
            </a:r>
            <a:r>
              <a:rPr lang="en-US" sz="1150">
                <a:solidFill>
                  <a:srgbClr val="222222"/>
                </a:solidFill>
                <a:latin typeface="Inter Medium" pitchFamily="34" charset="0"/>
                <a:ea typeface="Inter Medium" pitchFamily="34" charset="-122"/>
                <a:cs typeface="Inter Medium" pitchFamily="34" charset="-120"/>
              </a:rPr>
              <a:t> Les CSP sont souvent NP-complets, rendant l'exploration exhaustive impossible.</a:t>
            </a:r>
            <a:endParaRPr lang="en-US" sz="1100"/>
          </a:p>
        </p:txBody>
      </p:sp>
      <p:sp>
        <p:nvSpPr>
          <p:cNvPr id="7" name="Text 3"/>
          <p:cNvSpPr/>
          <p:nvPr/>
        </p:nvSpPr>
        <p:spPr>
          <a:xfrm>
            <a:off x="671513" y="3884023"/>
            <a:ext cx="3614738" cy="660016"/>
          </a:xfrm>
          <a:prstGeom prst="rect">
            <a:avLst/>
          </a:prstGeom>
          <a:noFill/>
          <a:ln/>
        </p:spPr>
        <p:txBody>
          <a:bodyPr wrap="square" lIns="0" tIns="0" rIns="0" bIns="0" rtlCol="0" anchor="t">
            <a:spAutoFit/>
          </a:bodyPr>
          <a:lstStyle/>
          <a:p>
            <a:pPr marL="0" indent="0" algn="l">
              <a:lnSpc>
                <a:spcPct val="112000"/>
              </a:lnSpc>
              <a:buNone/>
            </a:pPr>
            <a:r>
              <a:rPr lang="en-US" sz="1100" b="1">
                <a:solidFill>
                  <a:srgbClr val="FF3300"/>
                </a:solidFill>
                <a:latin typeface="Inter Medium" pitchFamily="34" charset="0"/>
                <a:ea typeface="Inter Medium" pitchFamily="34" charset="-122"/>
                <a:cs typeface="Inter Medium" pitchFamily="34" charset="-120"/>
              </a:rPr>
              <a:t>Limites Humaines :</a:t>
            </a:r>
            <a:r>
              <a:rPr lang="en-US" sz="1150">
                <a:solidFill>
                  <a:srgbClr val="222222"/>
                </a:solidFill>
                <a:latin typeface="Inter Medium" pitchFamily="34" charset="0"/>
                <a:ea typeface="Inter Medium" pitchFamily="34" charset="-122"/>
                <a:cs typeface="Inter Medium" pitchFamily="34" charset="-120"/>
              </a:rPr>
              <a:t> Difficulté extrême de résoudre manuellement des problèmes à grande échelle (ex: 100 reines).</a:t>
            </a:r>
            <a:endParaRPr lang="en-US" sz="1100"/>
          </a:p>
        </p:txBody>
      </p:sp>
      <p:sp>
        <p:nvSpPr>
          <p:cNvPr id="8" name="Text 4"/>
          <p:cNvSpPr/>
          <p:nvPr/>
        </p:nvSpPr>
        <p:spPr>
          <a:xfrm>
            <a:off x="4857750" y="2532850"/>
            <a:ext cx="3121819" cy="305395"/>
          </a:xfrm>
          <a:prstGeom prst="rect">
            <a:avLst/>
          </a:prstGeom>
          <a:noFill/>
          <a:ln/>
        </p:spPr>
        <p:txBody>
          <a:bodyPr wrap="square" lIns="0" tIns="0" rIns="0" bIns="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OBJECTIFS PÉDAGOGIQUES</a:t>
            </a:r>
            <a:endParaRPr lang="en-US" sz="1600"/>
          </a:p>
        </p:txBody>
      </p:sp>
      <p:sp>
        <p:nvSpPr>
          <p:cNvPr id="9" name="Text 5"/>
          <p:cNvSpPr/>
          <p:nvPr/>
        </p:nvSpPr>
        <p:spPr>
          <a:xfrm>
            <a:off x="5100638" y="3052558"/>
            <a:ext cx="3614738" cy="660016"/>
          </a:xfrm>
          <a:prstGeom prst="rect">
            <a:avLst/>
          </a:prstGeom>
          <a:noFill/>
          <a:ln/>
        </p:spPr>
        <p:txBody>
          <a:bodyPr wrap="square" lIns="0" tIns="0" rIns="0" bIns="0" rtlCol="0" anchor="t">
            <a:spAutoFit/>
          </a:bodyPr>
          <a:lstStyle/>
          <a:p>
            <a:pPr marL="0" indent="0" algn="l">
              <a:lnSpc>
                <a:spcPct val="112000"/>
              </a:lnSpc>
              <a:buNone/>
            </a:pPr>
            <a:r>
              <a:rPr lang="en-US" sz="1100" b="1">
                <a:solidFill>
                  <a:srgbClr val="FF3300"/>
                </a:solidFill>
                <a:latin typeface="Inter Medium" pitchFamily="34" charset="0"/>
                <a:ea typeface="Inter Medium" pitchFamily="34" charset="-122"/>
                <a:cs typeface="Inter Medium" pitchFamily="34" charset="-120"/>
              </a:rPr>
              <a:t>Visualisation :</a:t>
            </a:r>
            <a:r>
              <a:rPr lang="en-US" sz="1150">
                <a:solidFill>
                  <a:srgbClr val="222222"/>
                </a:solidFill>
                <a:latin typeface="Inter Medium" pitchFamily="34" charset="0"/>
                <a:ea typeface="Inter Medium" pitchFamily="34" charset="-122"/>
                <a:cs typeface="Inter Medium" pitchFamily="34" charset="-120"/>
              </a:rPr>
              <a:t> Manque d'outils interactifs pour observer le comportement des heuristiques en temps réel.</a:t>
            </a:r>
            <a:endParaRPr lang="en-US" sz="1100"/>
          </a:p>
        </p:txBody>
      </p:sp>
      <p:sp>
        <p:nvSpPr>
          <p:cNvPr id="10" name="Text 6"/>
          <p:cNvSpPr/>
          <p:nvPr/>
        </p:nvSpPr>
        <p:spPr>
          <a:xfrm>
            <a:off x="5100638" y="3884023"/>
            <a:ext cx="3614738" cy="660016"/>
          </a:xfrm>
          <a:prstGeom prst="rect">
            <a:avLst/>
          </a:prstGeom>
          <a:noFill/>
          <a:ln/>
        </p:spPr>
        <p:txBody>
          <a:bodyPr wrap="square" lIns="0" tIns="0" rIns="0" bIns="0" rtlCol="0" anchor="t">
            <a:spAutoFit/>
          </a:bodyPr>
          <a:lstStyle/>
          <a:p>
            <a:pPr marL="0" indent="0" algn="l">
              <a:lnSpc>
                <a:spcPct val="112000"/>
              </a:lnSpc>
              <a:buNone/>
            </a:pPr>
            <a:r>
              <a:rPr lang="en-US" sz="1100" b="1">
                <a:solidFill>
                  <a:srgbClr val="FF3300"/>
                </a:solidFill>
                <a:latin typeface="Inter Medium" pitchFamily="34" charset="0"/>
                <a:ea typeface="Inter Medium" pitchFamily="34" charset="-122"/>
                <a:cs typeface="Inter Medium" pitchFamily="34" charset="-120"/>
              </a:rPr>
              <a:t>Accessibilité :</a:t>
            </a:r>
            <a:r>
              <a:rPr lang="en-US" sz="1150">
                <a:solidFill>
                  <a:srgbClr val="222222"/>
                </a:solidFill>
                <a:latin typeface="Inter Medium" pitchFamily="34" charset="0"/>
                <a:ea typeface="Inter Medium" pitchFamily="34" charset="-122"/>
                <a:cs typeface="Inter Medium" pitchFamily="34" charset="-120"/>
              </a:rPr>
              <a:t> Nécessité de rendre les concepts d'IA abstraits concrets via une interface moderne.</a:t>
            </a:r>
            <a:endParaRPr lang="en-US" sz="1100"/>
          </a:p>
        </p:txBody>
      </p:sp>
      <p:pic>
        <p:nvPicPr>
          <p:cNvPr id="2" name="Picture 1">
            <a:extLst>
              <a:ext uri="{FF2B5EF4-FFF2-40B4-BE49-F238E27FC236}">
                <a16:creationId xmlns:a16="http://schemas.microsoft.com/office/drawing/2014/main" id="{E06D1E12-91DE-8276-B3C5-5803E616D772}"/>
              </a:ext>
            </a:extLst>
          </p:cNvPr>
          <p:cNvPicPr>
            <a:picLocks noChangeAspect="1"/>
          </p:cNvPicPr>
          <p:nvPr/>
        </p:nvPicPr>
        <p:blipFill>
          <a:blip r:embed="rId4"/>
          <a:stretch>
            <a:fillRect/>
          </a:stretch>
        </p:blipFill>
        <p:spPr>
          <a:xfrm>
            <a:off x="8485664" y="40699"/>
            <a:ext cx="558762" cy="558762"/>
          </a:xfrm>
          <a:prstGeom prst="rect">
            <a:avLst/>
          </a:prstGeom>
        </p:spPr>
      </p:pic>
      <p:pic>
        <p:nvPicPr>
          <p:cNvPr id="11" name="Picture 10">
            <a:extLst>
              <a:ext uri="{FF2B5EF4-FFF2-40B4-BE49-F238E27FC236}">
                <a16:creationId xmlns:a16="http://schemas.microsoft.com/office/drawing/2014/main" id="{CFD7FF91-EA10-02EE-9A97-FAE393F56670}"/>
              </a:ext>
            </a:extLst>
          </p:cNvPr>
          <p:cNvPicPr>
            <a:picLocks noChangeAspect="1"/>
          </p:cNvPicPr>
          <p:nvPr/>
        </p:nvPicPr>
        <p:blipFill>
          <a:blip r:embed="rId5"/>
          <a:stretch>
            <a:fillRect/>
          </a:stretch>
        </p:blipFill>
        <p:spPr>
          <a:xfrm>
            <a:off x="7947064" y="60295"/>
            <a:ext cx="439027" cy="5587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a:solidFill>
                  <a:srgbClr val="000000"/>
                </a:solidFill>
                <a:latin typeface="Playfair Display Black" pitchFamily="34" charset="0"/>
                <a:ea typeface="Playfair Display Black" pitchFamily="34" charset="-122"/>
                <a:cs typeface="Playfair Display Black" pitchFamily="34" charset="-120"/>
              </a:rPr>
              <a:t>ALGORITHMES &amp; SOLUTIONS</a:t>
            </a:r>
            <a:endParaRPr lang="en-US" sz="3300"/>
          </a:p>
        </p:txBody>
      </p:sp>
      <p:sp>
        <p:nvSpPr>
          <p:cNvPr id="5" name="Text 1"/>
          <p:cNvSpPr/>
          <p:nvPr/>
        </p:nvSpPr>
        <p:spPr>
          <a:xfrm>
            <a:off x="428625" y="1958504"/>
            <a:ext cx="2619356" cy="121444"/>
          </a:xfrm>
          <a:prstGeom prst="rect">
            <a:avLst/>
          </a:prstGeom>
          <a:noFill/>
          <a:ln/>
        </p:spPr>
        <p:txBody>
          <a:bodyPr wrap="square" lIns="0" tIns="0" rIns="0" bIns="0" rtlCol="0" anchor="t">
            <a:spAutoFit/>
          </a:bodyPr>
          <a:lstStyle/>
          <a:p>
            <a:pPr marL="0" indent="0" algn="l">
              <a:buNone/>
            </a:pPr>
            <a:r>
              <a:rPr lang="en-US" sz="700" b="1">
                <a:solidFill>
                  <a:srgbClr val="FF3300"/>
                </a:solidFill>
                <a:latin typeface="Inter Medium" pitchFamily="34" charset="0"/>
                <a:ea typeface="Inter Medium" pitchFamily="34" charset="-122"/>
                <a:cs typeface="Inter Medium" pitchFamily="34" charset="-120"/>
              </a:rPr>
              <a:t>PROBLÈME 1 : EFFICACITÉ</a:t>
            </a:r>
            <a:endParaRPr lang="en-US" sz="700"/>
          </a:p>
        </p:txBody>
      </p:sp>
      <p:sp>
        <p:nvSpPr>
          <p:cNvPr id="6" name="Text 2"/>
          <p:cNvSpPr/>
          <p:nvPr/>
        </p:nvSpPr>
        <p:spPr>
          <a:xfrm>
            <a:off x="428625" y="2137097"/>
            <a:ext cx="2619356" cy="500063"/>
          </a:xfrm>
          <a:prstGeom prst="rect">
            <a:avLst/>
          </a:prstGeom>
          <a:noFill/>
          <a:ln/>
        </p:spPr>
        <p:txBody>
          <a:bodyPr wrap="square" lIns="0" tIns="0" rIns="0" bIns="0" rtlCol="0" anchor="t">
            <a:spAutoFit/>
          </a:bodyPr>
          <a:lstStyle/>
          <a:p>
            <a:pPr marL="0" indent="0" algn="l">
              <a:lnSpc>
                <a:spcPct val="96000"/>
              </a:lnSpc>
              <a:buNone/>
            </a:pPr>
            <a:r>
              <a:rPr lang="en-US" sz="1400" b="1">
                <a:solidFill>
                  <a:srgbClr val="000000"/>
                </a:solidFill>
                <a:latin typeface="Inter Medium" pitchFamily="34" charset="0"/>
                <a:ea typeface="Inter Medium" pitchFamily="34" charset="-122"/>
                <a:cs typeface="Inter Medium" pitchFamily="34" charset="-120"/>
              </a:rPr>
              <a:t>Algorithme Min-Conflict</a:t>
            </a:r>
            <a:endParaRPr lang="en-US" sz="1400"/>
          </a:p>
        </p:txBody>
      </p:sp>
      <p:sp>
        <p:nvSpPr>
          <p:cNvPr id="7" name="Text 3"/>
          <p:cNvSpPr/>
          <p:nvPr/>
        </p:nvSpPr>
        <p:spPr>
          <a:xfrm>
            <a:off x="571500" y="2805038"/>
            <a:ext cx="1925241"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Recherche locale stochastique.</a:t>
            </a:r>
            <a:endParaRPr lang="en-US" sz="950"/>
          </a:p>
        </p:txBody>
      </p:sp>
      <p:sp>
        <p:nvSpPr>
          <p:cNvPr id="8" name="Text 4"/>
          <p:cNvSpPr/>
          <p:nvPr/>
        </p:nvSpPr>
        <p:spPr>
          <a:xfrm>
            <a:off x="571500" y="3096481"/>
            <a:ext cx="2341364"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Idéal pour les CSP de grande taille (N-</a:t>
            </a:r>
            <a:endParaRPr lang="en-US" sz="950"/>
          </a:p>
        </p:txBody>
      </p:sp>
      <p:sp>
        <p:nvSpPr>
          <p:cNvPr id="9" name="Text 5"/>
          <p:cNvSpPr/>
          <p:nvPr/>
        </p:nvSpPr>
        <p:spPr>
          <a:xfrm>
            <a:off x="428625" y="3302198"/>
            <a:ext cx="835819"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Reines 100+).</a:t>
            </a:r>
            <a:endParaRPr lang="en-US" sz="950"/>
          </a:p>
        </p:txBody>
      </p:sp>
      <p:sp>
        <p:nvSpPr>
          <p:cNvPr id="10" name="Shape 6"/>
          <p:cNvSpPr/>
          <p:nvPr/>
        </p:nvSpPr>
        <p:spPr>
          <a:xfrm>
            <a:off x="428625" y="3625788"/>
            <a:ext cx="2619356" cy="582885"/>
          </a:xfrm>
          <a:prstGeom prst="rect">
            <a:avLst/>
          </a:prstGeom>
          <a:solidFill>
            <a:srgbClr val="F0F0F0"/>
          </a:solidFill>
          <a:ln/>
        </p:spPr>
        <p:txBody>
          <a:bodyPr/>
          <a:lstStyle/>
          <a:p>
            <a:endParaRPr lang="fr-MG"/>
          </a:p>
        </p:txBody>
      </p:sp>
      <p:sp>
        <p:nvSpPr>
          <p:cNvPr id="11" name="Shape 7"/>
          <p:cNvSpPr/>
          <p:nvPr/>
        </p:nvSpPr>
        <p:spPr>
          <a:xfrm>
            <a:off x="428625" y="3625788"/>
            <a:ext cx="2619356" cy="28575"/>
          </a:xfrm>
          <a:prstGeom prst="rect">
            <a:avLst/>
          </a:prstGeom>
          <a:solidFill>
            <a:srgbClr val="FF3300"/>
          </a:solidFill>
          <a:ln/>
        </p:spPr>
        <p:txBody>
          <a:bodyPr/>
          <a:lstStyle/>
          <a:p>
            <a:endParaRPr lang="fr-MG"/>
          </a:p>
        </p:txBody>
      </p:sp>
      <p:sp>
        <p:nvSpPr>
          <p:cNvPr id="12" name="Text 8"/>
          <p:cNvSpPr/>
          <p:nvPr/>
        </p:nvSpPr>
        <p:spPr>
          <a:xfrm>
            <a:off x="428625" y="3625788"/>
            <a:ext cx="2619356" cy="582885"/>
          </a:xfrm>
          <a:prstGeom prst="rect">
            <a:avLst/>
          </a:prstGeom>
          <a:noFill/>
          <a:ln/>
        </p:spPr>
        <p:txBody>
          <a:bodyPr wrap="square" lIns="170053" tIns="170053" rIns="170053" bIns="0" rtlCol="0" anchor="t">
            <a:spAutoFit/>
          </a:bodyPr>
          <a:lstStyle/>
          <a:p>
            <a:pPr marL="0" indent="0" algn="l">
              <a:lnSpc>
                <a:spcPct val="128000"/>
              </a:lnSpc>
              <a:buNone/>
            </a:pPr>
            <a:r>
              <a:rPr lang="en-US" sz="900" b="1">
                <a:solidFill>
                  <a:srgbClr val="222222"/>
                </a:solidFill>
                <a:latin typeface="Inter Medium" pitchFamily="34" charset="0"/>
                <a:ea typeface="Inter Medium" pitchFamily="34" charset="-122"/>
                <a:cs typeface="Inter Medium" pitchFamily="34" charset="-120"/>
              </a:rPr>
              <a:t>Focus :</a:t>
            </a:r>
            <a:r>
              <a:rPr lang="en-US" sz="950">
                <a:solidFill>
                  <a:srgbClr val="222222"/>
                </a:solidFill>
                <a:latin typeface="Inter Medium" pitchFamily="34" charset="0"/>
                <a:ea typeface="Inter Medium" pitchFamily="34" charset="-122"/>
                <a:cs typeface="Inter Medium" pitchFamily="34" charset="-120"/>
              </a:rPr>
              <a:t> Réduction itérative des conflits locaux.</a:t>
            </a:r>
            <a:endParaRPr lang="en-US" sz="950"/>
          </a:p>
        </p:txBody>
      </p:sp>
      <p:sp>
        <p:nvSpPr>
          <p:cNvPr id="13" name="Text 9"/>
          <p:cNvSpPr/>
          <p:nvPr/>
        </p:nvSpPr>
        <p:spPr>
          <a:xfrm>
            <a:off x="3262294" y="1958504"/>
            <a:ext cx="2619384" cy="121444"/>
          </a:xfrm>
          <a:prstGeom prst="rect">
            <a:avLst/>
          </a:prstGeom>
          <a:noFill/>
          <a:ln/>
        </p:spPr>
        <p:txBody>
          <a:bodyPr wrap="square" lIns="0" tIns="0" rIns="0" bIns="0" rtlCol="0" anchor="t">
            <a:spAutoFit/>
          </a:bodyPr>
          <a:lstStyle/>
          <a:p>
            <a:pPr marL="0" indent="0" algn="l">
              <a:buNone/>
            </a:pPr>
            <a:r>
              <a:rPr lang="en-US" sz="700" b="1">
                <a:solidFill>
                  <a:srgbClr val="FF3300"/>
                </a:solidFill>
                <a:latin typeface="Inter Medium" pitchFamily="34" charset="0"/>
                <a:ea typeface="Inter Medium" pitchFamily="34" charset="-122"/>
                <a:cs typeface="Inter Medium" pitchFamily="34" charset="-120"/>
              </a:rPr>
              <a:t>PROBLÈME 2 : COMPLÉTUDE</a:t>
            </a:r>
            <a:endParaRPr lang="en-US" sz="700"/>
          </a:p>
        </p:txBody>
      </p:sp>
      <p:sp>
        <p:nvSpPr>
          <p:cNvPr id="14" name="Text 10"/>
          <p:cNvSpPr/>
          <p:nvPr/>
        </p:nvSpPr>
        <p:spPr>
          <a:xfrm>
            <a:off x="3262294" y="2137097"/>
            <a:ext cx="2619384" cy="500063"/>
          </a:xfrm>
          <a:prstGeom prst="rect">
            <a:avLst/>
          </a:prstGeom>
          <a:noFill/>
          <a:ln/>
        </p:spPr>
        <p:txBody>
          <a:bodyPr wrap="square" lIns="0" tIns="0" rIns="0" bIns="0" rtlCol="0" anchor="t">
            <a:spAutoFit/>
          </a:bodyPr>
          <a:lstStyle/>
          <a:p>
            <a:pPr marL="0" indent="0" algn="l">
              <a:lnSpc>
                <a:spcPct val="96000"/>
              </a:lnSpc>
              <a:buNone/>
            </a:pPr>
            <a:r>
              <a:rPr lang="en-US" sz="1400" b="1">
                <a:solidFill>
                  <a:srgbClr val="000000"/>
                </a:solidFill>
                <a:latin typeface="Inter Medium" pitchFamily="34" charset="0"/>
                <a:ea typeface="Inter Medium" pitchFamily="34" charset="-122"/>
                <a:cs typeface="Inter Medium" pitchFamily="34" charset="-120"/>
              </a:rPr>
              <a:t>Backtracking avec MRV</a:t>
            </a:r>
            <a:endParaRPr lang="en-US" sz="1400"/>
          </a:p>
        </p:txBody>
      </p:sp>
      <p:sp>
        <p:nvSpPr>
          <p:cNvPr id="15" name="Text 11"/>
          <p:cNvSpPr/>
          <p:nvPr/>
        </p:nvSpPr>
        <p:spPr>
          <a:xfrm>
            <a:off x="3405169" y="2805038"/>
            <a:ext cx="2323505"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Garantit de trouver une solution si elle</a:t>
            </a:r>
            <a:endParaRPr lang="en-US" sz="950"/>
          </a:p>
        </p:txBody>
      </p:sp>
      <p:sp>
        <p:nvSpPr>
          <p:cNvPr id="16" name="Text 12"/>
          <p:cNvSpPr/>
          <p:nvPr/>
        </p:nvSpPr>
        <p:spPr>
          <a:xfrm>
            <a:off x="3262294" y="3010756"/>
            <a:ext cx="401836"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existe.</a:t>
            </a:r>
            <a:endParaRPr lang="en-US" sz="950"/>
          </a:p>
        </p:txBody>
      </p:sp>
      <p:sp>
        <p:nvSpPr>
          <p:cNvPr id="17" name="Text 13"/>
          <p:cNvSpPr/>
          <p:nvPr/>
        </p:nvSpPr>
        <p:spPr>
          <a:xfrm>
            <a:off x="3405169" y="3302198"/>
            <a:ext cx="2448520"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Heuristique MRV pour réduire l'arbre de</a:t>
            </a:r>
            <a:endParaRPr lang="en-US" sz="950"/>
          </a:p>
        </p:txBody>
      </p:sp>
      <p:sp>
        <p:nvSpPr>
          <p:cNvPr id="18" name="Text 14"/>
          <p:cNvSpPr/>
          <p:nvPr/>
        </p:nvSpPr>
        <p:spPr>
          <a:xfrm>
            <a:off x="3262294" y="3507916"/>
            <a:ext cx="664369"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recherche.</a:t>
            </a:r>
            <a:endParaRPr lang="en-US" sz="950"/>
          </a:p>
        </p:txBody>
      </p:sp>
      <p:sp>
        <p:nvSpPr>
          <p:cNvPr id="19" name="Shape 15"/>
          <p:cNvSpPr/>
          <p:nvPr/>
        </p:nvSpPr>
        <p:spPr>
          <a:xfrm>
            <a:off x="3262294" y="3831506"/>
            <a:ext cx="2619384" cy="582885"/>
          </a:xfrm>
          <a:prstGeom prst="rect">
            <a:avLst/>
          </a:prstGeom>
          <a:solidFill>
            <a:srgbClr val="F0F0F0"/>
          </a:solidFill>
          <a:ln/>
        </p:spPr>
        <p:txBody>
          <a:bodyPr/>
          <a:lstStyle/>
          <a:p>
            <a:endParaRPr lang="fr-MG"/>
          </a:p>
        </p:txBody>
      </p:sp>
      <p:sp>
        <p:nvSpPr>
          <p:cNvPr id="20" name="Shape 16"/>
          <p:cNvSpPr/>
          <p:nvPr/>
        </p:nvSpPr>
        <p:spPr>
          <a:xfrm>
            <a:off x="3262294" y="3831506"/>
            <a:ext cx="2619384" cy="28575"/>
          </a:xfrm>
          <a:prstGeom prst="rect">
            <a:avLst/>
          </a:prstGeom>
          <a:solidFill>
            <a:srgbClr val="FF3300"/>
          </a:solidFill>
          <a:ln/>
        </p:spPr>
        <p:txBody>
          <a:bodyPr/>
          <a:lstStyle/>
          <a:p>
            <a:endParaRPr lang="fr-MG"/>
          </a:p>
        </p:txBody>
      </p:sp>
      <p:sp>
        <p:nvSpPr>
          <p:cNvPr id="21" name="Text 17"/>
          <p:cNvSpPr/>
          <p:nvPr/>
        </p:nvSpPr>
        <p:spPr>
          <a:xfrm>
            <a:off x="3262294" y="3831506"/>
            <a:ext cx="2619384" cy="582885"/>
          </a:xfrm>
          <a:prstGeom prst="rect">
            <a:avLst/>
          </a:prstGeom>
          <a:noFill/>
          <a:ln/>
        </p:spPr>
        <p:txBody>
          <a:bodyPr wrap="square" lIns="170053" tIns="170053" rIns="170053" bIns="0" rtlCol="0" anchor="t">
            <a:spAutoFit/>
          </a:bodyPr>
          <a:lstStyle/>
          <a:p>
            <a:pPr marL="0" indent="0" algn="l">
              <a:lnSpc>
                <a:spcPct val="128000"/>
              </a:lnSpc>
              <a:buNone/>
            </a:pPr>
            <a:r>
              <a:rPr lang="en-US" sz="900" b="1">
                <a:solidFill>
                  <a:srgbClr val="222222"/>
                </a:solidFill>
                <a:latin typeface="Inter Medium" pitchFamily="34" charset="0"/>
                <a:ea typeface="Inter Medium" pitchFamily="34" charset="-122"/>
                <a:cs typeface="Inter Medium" pitchFamily="34" charset="-120"/>
              </a:rPr>
              <a:t>Focus :</a:t>
            </a:r>
            <a:r>
              <a:rPr lang="en-US" sz="950">
                <a:solidFill>
                  <a:srgbClr val="222222"/>
                </a:solidFill>
                <a:latin typeface="Inter Medium" pitchFamily="34" charset="0"/>
                <a:ea typeface="Inter Medium" pitchFamily="34" charset="-122"/>
                <a:cs typeface="Inter Medium" pitchFamily="34" charset="-120"/>
              </a:rPr>
              <a:t> Exploration systématique optimisée.</a:t>
            </a:r>
            <a:endParaRPr lang="en-US" sz="950"/>
          </a:p>
        </p:txBody>
      </p:sp>
      <p:sp>
        <p:nvSpPr>
          <p:cNvPr id="22" name="Text 18"/>
          <p:cNvSpPr/>
          <p:nvPr/>
        </p:nvSpPr>
        <p:spPr>
          <a:xfrm>
            <a:off x="6095991" y="1958504"/>
            <a:ext cx="2619356" cy="121444"/>
          </a:xfrm>
          <a:prstGeom prst="rect">
            <a:avLst/>
          </a:prstGeom>
          <a:noFill/>
          <a:ln/>
        </p:spPr>
        <p:txBody>
          <a:bodyPr wrap="square" lIns="0" tIns="0" rIns="0" bIns="0" rtlCol="0" anchor="t">
            <a:spAutoFit/>
          </a:bodyPr>
          <a:lstStyle/>
          <a:p>
            <a:pPr marL="0" indent="0" algn="l">
              <a:buNone/>
            </a:pPr>
            <a:r>
              <a:rPr lang="en-US" sz="700" b="1">
                <a:solidFill>
                  <a:srgbClr val="FF3300"/>
                </a:solidFill>
                <a:latin typeface="Inter Medium" pitchFamily="34" charset="0"/>
                <a:ea typeface="Inter Medium" pitchFamily="34" charset="-122"/>
                <a:cs typeface="Inter Medium" pitchFamily="34" charset="-120"/>
              </a:rPr>
              <a:t>PROBLÈME 3 : PÉDAGOGIE</a:t>
            </a:r>
            <a:endParaRPr lang="en-US" sz="700"/>
          </a:p>
        </p:txBody>
      </p:sp>
      <p:sp>
        <p:nvSpPr>
          <p:cNvPr id="23" name="Text 19"/>
          <p:cNvSpPr/>
          <p:nvPr/>
        </p:nvSpPr>
        <p:spPr>
          <a:xfrm>
            <a:off x="6095991" y="2137097"/>
            <a:ext cx="2619356" cy="500063"/>
          </a:xfrm>
          <a:prstGeom prst="rect">
            <a:avLst/>
          </a:prstGeom>
          <a:noFill/>
          <a:ln/>
        </p:spPr>
        <p:txBody>
          <a:bodyPr wrap="square" lIns="0" tIns="0" rIns="0" bIns="0" rtlCol="0" anchor="t">
            <a:spAutoFit/>
          </a:bodyPr>
          <a:lstStyle/>
          <a:p>
            <a:pPr marL="0" indent="0" algn="l">
              <a:lnSpc>
                <a:spcPct val="96000"/>
              </a:lnSpc>
              <a:buNone/>
            </a:pPr>
            <a:r>
              <a:rPr lang="en-US" sz="1400" b="1">
                <a:solidFill>
                  <a:srgbClr val="000000"/>
                </a:solidFill>
                <a:latin typeface="Inter Medium" pitchFamily="34" charset="0"/>
                <a:ea typeface="Inter Medium" pitchFamily="34" charset="-122"/>
                <a:cs typeface="Inter Medium" pitchFamily="34" charset="-120"/>
              </a:rPr>
              <a:t>Visualisation Interactive</a:t>
            </a:r>
            <a:endParaRPr lang="en-US" sz="1400"/>
          </a:p>
        </p:txBody>
      </p:sp>
      <p:sp>
        <p:nvSpPr>
          <p:cNvPr id="24" name="Text 20"/>
          <p:cNvSpPr/>
          <p:nvPr/>
        </p:nvSpPr>
        <p:spPr>
          <a:xfrm>
            <a:off x="6238866" y="2805038"/>
            <a:ext cx="2444948"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Timeline pour naviguer dans les étapes.</a:t>
            </a:r>
            <a:endParaRPr lang="en-US" sz="950"/>
          </a:p>
        </p:txBody>
      </p:sp>
      <p:sp>
        <p:nvSpPr>
          <p:cNvPr id="25" name="Text 21"/>
          <p:cNvSpPr/>
          <p:nvPr/>
        </p:nvSpPr>
        <p:spPr>
          <a:xfrm>
            <a:off x="6238866" y="3096481"/>
            <a:ext cx="2346722"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Statistiques de performance en temps</a:t>
            </a:r>
            <a:endParaRPr lang="en-US" sz="950"/>
          </a:p>
        </p:txBody>
      </p:sp>
      <p:sp>
        <p:nvSpPr>
          <p:cNvPr id="26" name="Text 22"/>
          <p:cNvSpPr/>
          <p:nvPr/>
        </p:nvSpPr>
        <p:spPr>
          <a:xfrm>
            <a:off x="6095991" y="3302198"/>
            <a:ext cx="269677" cy="155377"/>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réel.</a:t>
            </a:r>
            <a:endParaRPr lang="en-US" sz="950"/>
          </a:p>
        </p:txBody>
      </p:sp>
      <p:sp>
        <p:nvSpPr>
          <p:cNvPr id="27" name="Shape 23"/>
          <p:cNvSpPr/>
          <p:nvPr/>
        </p:nvSpPr>
        <p:spPr>
          <a:xfrm>
            <a:off x="6095991" y="3625788"/>
            <a:ext cx="2619356" cy="582885"/>
          </a:xfrm>
          <a:prstGeom prst="rect">
            <a:avLst/>
          </a:prstGeom>
          <a:solidFill>
            <a:srgbClr val="F0F0F0"/>
          </a:solidFill>
          <a:ln/>
        </p:spPr>
        <p:txBody>
          <a:bodyPr/>
          <a:lstStyle/>
          <a:p>
            <a:endParaRPr lang="fr-MG"/>
          </a:p>
        </p:txBody>
      </p:sp>
      <p:sp>
        <p:nvSpPr>
          <p:cNvPr id="28" name="Shape 24"/>
          <p:cNvSpPr/>
          <p:nvPr/>
        </p:nvSpPr>
        <p:spPr>
          <a:xfrm>
            <a:off x="6095991" y="3625788"/>
            <a:ext cx="2619356" cy="28575"/>
          </a:xfrm>
          <a:prstGeom prst="rect">
            <a:avLst/>
          </a:prstGeom>
          <a:solidFill>
            <a:srgbClr val="FF3300"/>
          </a:solidFill>
          <a:ln/>
        </p:spPr>
        <p:txBody>
          <a:bodyPr/>
          <a:lstStyle/>
          <a:p>
            <a:endParaRPr lang="fr-MG"/>
          </a:p>
        </p:txBody>
      </p:sp>
      <p:sp>
        <p:nvSpPr>
          <p:cNvPr id="29" name="Text 25"/>
          <p:cNvSpPr/>
          <p:nvPr/>
        </p:nvSpPr>
        <p:spPr>
          <a:xfrm>
            <a:off x="6095991" y="3625788"/>
            <a:ext cx="2619356" cy="582885"/>
          </a:xfrm>
          <a:prstGeom prst="rect">
            <a:avLst/>
          </a:prstGeom>
          <a:noFill/>
          <a:ln/>
        </p:spPr>
        <p:txBody>
          <a:bodyPr wrap="square" lIns="170053" tIns="170053" rIns="170053" bIns="0" rtlCol="0" anchor="t">
            <a:spAutoFit/>
          </a:bodyPr>
          <a:lstStyle/>
          <a:p>
            <a:pPr marL="0" indent="0" algn="l">
              <a:lnSpc>
                <a:spcPct val="128000"/>
              </a:lnSpc>
              <a:buNone/>
            </a:pPr>
            <a:r>
              <a:rPr lang="en-US" sz="900" b="1">
                <a:solidFill>
                  <a:srgbClr val="222222"/>
                </a:solidFill>
                <a:latin typeface="Inter Medium" pitchFamily="34" charset="0"/>
                <a:ea typeface="Inter Medium" pitchFamily="34" charset="-122"/>
                <a:cs typeface="Inter Medium" pitchFamily="34" charset="-120"/>
              </a:rPr>
              <a:t>Focus :</a:t>
            </a:r>
            <a:r>
              <a:rPr lang="en-US" sz="950">
                <a:solidFill>
                  <a:srgbClr val="222222"/>
                </a:solidFill>
                <a:latin typeface="Inter Medium" pitchFamily="34" charset="0"/>
                <a:ea typeface="Inter Medium" pitchFamily="34" charset="-122"/>
                <a:cs typeface="Inter Medium" pitchFamily="34" charset="-120"/>
              </a:rPr>
              <a:t> Compréhension visuelle du processus.</a:t>
            </a:r>
            <a:endParaRPr lang="en-US" sz="950"/>
          </a:p>
        </p:txBody>
      </p:sp>
      <p:pic>
        <p:nvPicPr>
          <p:cNvPr id="2" name="Picture 1">
            <a:extLst>
              <a:ext uri="{FF2B5EF4-FFF2-40B4-BE49-F238E27FC236}">
                <a16:creationId xmlns:a16="http://schemas.microsoft.com/office/drawing/2014/main" id="{12B42C72-795F-276A-28F6-C9AB8C0D404E}"/>
              </a:ext>
            </a:extLst>
          </p:cNvPr>
          <p:cNvPicPr>
            <a:picLocks noChangeAspect="1"/>
          </p:cNvPicPr>
          <p:nvPr/>
        </p:nvPicPr>
        <p:blipFill>
          <a:blip r:embed="rId4"/>
          <a:stretch>
            <a:fillRect/>
          </a:stretch>
        </p:blipFill>
        <p:spPr>
          <a:xfrm>
            <a:off x="8527978" y="60295"/>
            <a:ext cx="558762" cy="558762"/>
          </a:xfrm>
          <a:prstGeom prst="rect">
            <a:avLst/>
          </a:prstGeom>
        </p:spPr>
      </p:pic>
      <p:pic>
        <p:nvPicPr>
          <p:cNvPr id="30" name="Picture 29">
            <a:extLst>
              <a:ext uri="{FF2B5EF4-FFF2-40B4-BE49-F238E27FC236}">
                <a16:creationId xmlns:a16="http://schemas.microsoft.com/office/drawing/2014/main" id="{F3F964D8-7323-D873-5662-A4C31658D35F}"/>
              </a:ext>
            </a:extLst>
          </p:cNvPr>
          <p:cNvPicPr>
            <a:picLocks noChangeAspect="1"/>
          </p:cNvPicPr>
          <p:nvPr/>
        </p:nvPicPr>
        <p:blipFill>
          <a:blip r:embed="rId5"/>
          <a:stretch>
            <a:fillRect/>
          </a:stretch>
        </p:blipFill>
        <p:spPr>
          <a:xfrm>
            <a:off x="7986055" y="60295"/>
            <a:ext cx="439027" cy="5587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a:solidFill>
                  <a:srgbClr val="000000"/>
                </a:solidFill>
                <a:latin typeface="Playfair Display Black" pitchFamily="34" charset="0"/>
                <a:ea typeface="Playfair Display Black" pitchFamily="34" charset="-122"/>
                <a:cs typeface="Playfair Display Black" pitchFamily="34" charset="-120"/>
              </a:rPr>
              <a:t>STACK TECHNIQUE ET OUTILS</a:t>
            </a:r>
            <a:endParaRPr lang="en-US" sz="3300"/>
          </a:p>
        </p:txBody>
      </p:sp>
      <p:sp>
        <p:nvSpPr>
          <p:cNvPr id="5" name="Text 1"/>
          <p:cNvSpPr/>
          <p:nvPr/>
        </p:nvSpPr>
        <p:spPr>
          <a:xfrm>
            <a:off x="428625" y="2029941"/>
            <a:ext cx="2571750" cy="376833"/>
          </a:xfrm>
          <a:prstGeom prst="rect">
            <a:avLst/>
          </a:prstGeom>
          <a:noFill/>
          <a:ln/>
        </p:spPr>
        <p:txBody>
          <a:bodyPr wrap="square" lIns="0" tIns="0" rIns="0" bIns="8509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BACKEND</a:t>
            </a:r>
            <a:endParaRPr lang="en-US" sz="1600"/>
          </a:p>
        </p:txBody>
      </p:sp>
      <p:sp>
        <p:nvSpPr>
          <p:cNvPr id="6" name="Text 2"/>
          <p:cNvSpPr/>
          <p:nvPr/>
        </p:nvSpPr>
        <p:spPr>
          <a:xfrm>
            <a:off x="621506" y="2621087"/>
            <a:ext cx="832247" cy="189309"/>
          </a:xfrm>
          <a:prstGeom prst="rect">
            <a:avLst/>
          </a:prstGeom>
          <a:noFill/>
          <a:ln/>
        </p:spPr>
        <p:txBody>
          <a:bodyPr wrap="none" lIns="0" tIns="0" rIns="0" bIns="0" rtlCol="0" anchor="t">
            <a:spAutoFit/>
          </a:bodyPr>
          <a:lstStyle/>
          <a:p>
            <a:pPr marL="0" indent="0" algn="l">
              <a:buNone/>
            </a:pPr>
            <a:r>
              <a:rPr lang="en-US" sz="1100" b="1">
                <a:solidFill>
                  <a:srgbClr val="222222"/>
                </a:solidFill>
                <a:latin typeface="Inter Medium" pitchFamily="34" charset="0"/>
                <a:ea typeface="Inter Medium" pitchFamily="34" charset="-122"/>
                <a:cs typeface="Inter Medium" pitchFamily="34" charset="-120"/>
              </a:rPr>
              <a:t>Python 3.11</a:t>
            </a:r>
            <a:endParaRPr lang="en-US" sz="1100"/>
          </a:p>
        </p:txBody>
      </p:sp>
      <p:sp>
        <p:nvSpPr>
          <p:cNvPr id="7" name="Text 3"/>
          <p:cNvSpPr/>
          <p:nvPr/>
        </p:nvSpPr>
        <p:spPr>
          <a:xfrm>
            <a:off x="621506" y="2838971"/>
            <a:ext cx="1680567" cy="137517"/>
          </a:xfrm>
          <a:prstGeom prst="rect">
            <a:avLst/>
          </a:prstGeom>
          <a:noFill/>
          <a:ln/>
        </p:spPr>
        <p:txBody>
          <a:bodyPr wrap="square" lIns="0" tIns="0" rIns="0" bIns="0" rtlCol="0" anchor="t">
            <a:spAutoFit/>
          </a:bodyPr>
          <a:lstStyle/>
          <a:p>
            <a:pPr marL="0" indent="0" algn="l">
              <a:buNone/>
            </a:pPr>
            <a:r>
              <a:rPr lang="en-US" sz="850">
                <a:solidFill>
                  <a:srgbClr val="666666"/>
                </a:solidFill>
                <a:latin typeface="Inter Medium" pitchFamily="34" charset="0"/>
                <a:ea typeface="Inter Medium" pitchFamily="34" charset="-122"/>
                <a:cs typeface="Inter Medium" pitchFamily="34" charset="-120"/>
              </a:rPr>
              <a:t>Logique algorithmique robuste</a:t>
            </a:r>
            <a:endParaRPr lang="en-US" sz="850"/>
          </a:p>
        </p:txBody>
      </p:sp>
      <p:sp>
        <p:nvSpPr>
          <p:cNvPr id="8" name="Text 4"/>
          <p:cNvSpPr/>
          <p:nvPr/>
        </p:nvSpPr>
        <p:spPr>
          <a:xfrm>
            <a:off x="621506" y="3119363"/>
            <a:ext cx="392906" cy="189309"/>
          </a:xfrm>
          <a:prstGeom prst="rect">
            <a:avLst/>
          </a:prstGeom>
          <a:noFill/>
          <a:ln/>
        </p:spPr>
        <p:txBody>
          <a:bodyPr wrap="none" lIns="0" tIns="0" rIns="0" bIns="0" rtlCol="0" anchor="t">
            <a:spAutoFit/>
          </a:bodyPr>
          <a:lstStyle/>
          <a:p>
            <a:pPr marL="0" indent="0" algn="l">
              <a:buNone/>
            </a:pPr>
            <a:r>
              <a:rPr lang="en-US" sz="1100" b="1">
                <a:solidFill>
                  <a:srgbClr val="222222"/>
                </a:solidFill>
                <a:latin typeface="Inter Medium" pitchFamily="34" charset="0"/>
                <a:ea typeface="Inter Medium" pitchFamily="34" charset="-122"/>
                <a:cs typeface="Inter Medium" pitchFamily="34" charset="-120"/>
              </a:rPr>
              <a:t>Flask</a:t>
            </a:r>
            <a:endParaRPr lang="en-US" sz="1100"/>
          </a:p>
        </p:txBody>
      </p:sp>
      <p:sp>
        <p:nvSpPr>
          <p:cNvPr id="9" name="Text 5"/>
          <p:cNvSpPr/>
          <p:nvPr/>
        </p:nvSpPr>
        <p:spPr>
          <a:xfrm>
            <a:off x="621506" y="3337247"/>
            <a:ext cx="1834158" cy="137517"/>
          </a:xfrm>
          <a:prstGeom prst="rect">
            <a:avLst/>
          </a:prstGeom>
          <a:noFill/>
          <a:ln/>
        </p:spPr>
        <p:txBody>
          <a:bodyPr wrap="square" lIns="0" tIns="0" rIns="0" bIns="0" rtlCol="0" anchor="t">
            <a:spAutoFit/>
          </a:bodyPr>
          <a:lstStyle/>
          <a:p>
            <a:pPr marL="0" indent="0" algn="l">
              <a:buNone/>
            </a:pPr>
            <a:r>
              <a:rPr lang="en-US" sz="850">
                <a:solidFill>
                  <a:srgbClr val="666666"/>
                </a:solidFill>
                <a:latin typeface="Inter Medium" pitchFamily="34" charset="0"/>
                <a:ea typeface="Inter Medium" pitchFamily="34" charset="-122"/>
                <a:cs typeface="Inter Medium" pitchFamily="34" charset="-120"/>
              </a:rPr>
              <a:t>Micro-framework pour l'API REST</a:t>
            </a:r>
            <a:endParaRPr lang="en-US" sz="850"/>
          </a:p>
        </p:txBody>
      </p:sp>
      <p:sp>
        <p:nvSpPr>
          <p:cNvPr id="10" name="Text 6"/>
          <p:cNvSpPr/>
          <p:nvPr/>
        </p:nvSpPr>
        <p:spPr>
          <a:xfrm>
            <a:off x="3286125" y="2029941"/>
            <a:ext cx="2571750" cy="376833"/>
          </a:xfrm>
          <a:prstGeom prst="rect">
            <a:avLst/>
          </a:prstGeom>
          <a:noFill/>
          <a:ln/>
        </p:spPr>
        <p:txBody>
          <a:bodyPr wrap="square" lIns="0" tIns="0" rIns="0" bIns="8509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FRONTEND</a:t>
            </a:r>
            <a:endParaRPr lang="en-US" sz="1600"/>
          </a:p>
        </p:txBody>
      </p:sp>
      <p:sp>
        <p:nvSpPr>
          <p:cNvPr id="11" name="Text 7"/>
          <p:cNvSpPr/>
          <p:nvPr/>
        </p:nvSpPr>
        <p:spPr>
          <a:xfrm>
            <a:off x="3479006" y="2621087"/>
            <a:ext cx="726877" cy="189309"/>
          </a:xfrm>
          <a:prstGeom prst="rect">
            <a:avLst/>
          </a:prstGeom>
          <a:noFill/>
          <a:ln/>
        </p:spPr>
        <p:txBody>
          <a:bodyPr wrap="none" lIns="0" tIns="0" rIns="0" bIns="0" rtlCol="0" anchor="t">
            <a:spAutoFit/>
          </a:bodyPr>
          <a:lstStyle/>
          <a:p>
            <a:pPr marL="0" indent="0" algn="l">
              <a:buNone/>
            </a:pPr>
            <a:r>
              <a:rPr lang="en-US" sz="1100" b="1">
                <a:solidFill>
                  <a:srgbClr val="222222"/>
                </a:solidFill>
                <a:latin typeface="Inter Medium" pitchFamily="34" charset="0"/>
                <a:ea typeface="Inter Medium" pitchFamily="34" charset="-122"/>
                <a:cs typeface="Inter Medium" pitchFamily="34" charset="-120"/>
              </a:rPr>
              <a:t>JS Vanilla</a:t>
            </a:r>
            <a:endParaRPr lang="en-US" sz="1100"/>
          </a:p>
        </p:txBody>
      </p:sp>
      <p:sp>
        <p:nvSpPr>
          <p:cNvPr id="12" name="Text 8"/>
          <p:cNvSpPr/>
          <p:nvPr/>
        </p:nvSpPr>
        <p:spPr>
          <a:xfrm>
            <a:off x="3479006" y="2838971"/>
            <a:ext cx="1593056" cy="137517"/>
          </a:xfrm>
          <a:prstGeom prst="rect">
            <a:avLst/>
          </a:prstGeom>
          <a:noFill/>
          <a:ln/>
        </p:spPr>
        <p:txBody>
          <a:bodyPr wrap="square" lIns="0" tIns="0" rIns="0" bIns="0" rtlCol="0" anchor="t">
            <a:spAutoFit/>
          </a:bodyPr>
          <a:lstStyle/>
          <a:p>
            <a:pPr marL="0" indent="0" algn="l">
              <a:buNone/>
            </a:pPr>
            <a:r>
              <a:rPr lang="en-US" sz="850">
                <a:solidFill>
                  <a:srgbClr val="666666"/>
                </a:solidFill>
                <a:latin typeface="Inter Medium" pitchFamily="34" charset="0"/>
                <a:ea typeface="Inter Medium" pitchFamily="34" charset="-122"/>
                <a:cs typeface="Inter Medium" pitchFamily="34" charset="-120"/>
              </a:rPr>
              <a:t>Performance et fluidité totale</a:t>
            </a:r>
            <a:endParaRPr lang="en-US" sz="850"/>
          </a:p>
        </p:txBody>
      </p:sp>
      <p:sp>
        <p:nvSpPr>
          <p:cNvPr id="13" name="Text 9"/>
          <p:cNvSpPr/>
          <p:nvPr/>
        </p:nvSpPr>
        <p:spPr>
          <a:xfrm>
            <a:off x="3479006" y="3119363"/>
            <a:ext cx="825103" cy="189309"/>
          </a:xfrm>
          <a:prstGeom prst="rect">
            <a:avLst/>
          </a:prstGeom>
          <a:noFill/>
          <a:ln/>
        </p:spPr>
        <p:txBody>
          <a:bodyPr wrap="none" lIns="0" tIns="0" rIns="0" bIns="0" rtlCol="0" anchor="t">
            <a:spAutoFit/>
          </a:bodyPr>
          <a:lstStyle/>
          <a:p>
            <a:pPr marL="0" indent="0" algn="l">
              <a:buNone/>
            </a:pPr>
            <a:r>
              <a:rPr lang="en-US" sz="1100" b="1">
                <a:solidFill>
                  <a:srgbClr val="222222"/>
                </a:solidFill>
                <a:latin typeface="Inter Medium" pitchFamily="34" charset="0"/>
                <a:ea typeface="Inter Medium" pitchFamily="34" charset="-122"/>
                <a:cs typeface="Inter Medium" pitchFamily="34" charset="-120"/>
              </a:rPr>
              <a:t>Particles.js</a:t>
            </a:r>
            <a:endParaRPr lang="en-US" sz="1100"/>
          </a:p>
        </p:txBody>
      </p:sp>
      <p:sp>
        <p:nvSpPr>
          <p:cNvPr id="14" name="Text 10"/>
          <p:cNvSpPr/>
          <p:nvPr/>
        </p:nvSpPr>
        <p:spPr>
          <a:xfrm>
            <a:off x="3479006" y="3337247"/>
            <a:ext cx="1791295" cy="137517"/>
          </a:xfrm>
          <a:prstGeom prst="rect">
            <a:avLst/>
          </a:prstGeom>
          <a:noFill/>
          <a:ln/>
        </p:spPr>
        <p:txBody>
          <a:bodyPr wrap="square" lIns="0" tIns="0" rIns="0" bIns="0" rtlCol="0" anchor="t">
            <a:spAutoFit/>
          </a:bodyPr>
          <a:lstStyle/>
          <a:p>
            <a:pPr marL="0" indent="0" algn="l">
              <a:buNone/>
            </a:pPr>
            <a:r>
              <a:rPr lang="en-US" sz="850">
                <a:solidFill>
                  <a:srgbClr val="666666"/>
                </a:solidFill>
                <a:latin typeface="Inter Medium" pitchFamily="34" charset="0"/>
                <a:ea typeface="Inter Medium" pitchFamily="34" charset="-122"/>
                <a:cs typeface="Inter Medium" pitchFamily="34" charset="-120"/>
              </a:rPr>
              <a:t>Effets visuels cyber-dynamiques</a:t>
            </a:r>
            <a:endParaRPr lang="en-US" sz="850"/>
          </a:p>
        </p:txBody>
      </p:sp>
      <p:sp>
        <p:nvSpPr>
          <p:cNvPr id="15" name="Text 11"/>
          <p:cNvSpPr/>
          <p:nvPr/>
        </p:nvSpPr>
        <p:spPr>
          <a:xfrm>
            <a:off x="6143625" y="2029941"/>
            <a:ext cx="2571750" cy="376833"/>
          </a:xfrm>
          <a:prstGeom prst="rect">
            <a:avLst/>
          </a:prstGeom>
          <a:noFill/>
          <a:ln/>
        </p:spPr>
        <p:txBody>
          <a:bodyPr wrap="square" lIns="0" tIns="0" rIns="0" bIns="8509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OUTILS</a:t>
            </a:r>
            <a:endParaRPr lang="en-US" sz="1600"/>
          </a:p>
        </p:txBody>
      </p:sp>
      <p:sp>
        <p:nvSpPr>
          <p:cNvPr id="16" name="Text 12"/>
          <p:cNvSpPr/>
          <p:nvPr/>
        </p:nvSpPr>
        <p:spPr>
          <a:xfrm>
            <a:off x="6336506" y="2621087"/>
            <a:ext cx="916186" cy="189309"/>
          </a:xfrm>
          <a:prstGeom prst="rect">
            <a:avLst/>
          </a:prstGeom>
          <a:noFill/>
          <a:ln/>
        </p:spPr>
        <p:txBody>
          <a:bodyPr wrap="none" lIns="0" tIns="0" rIns="0" bIns="0" rtlCol="0" anchor="t">
            <a:spAutoFit/>
          </a:bodyPr>
          <a:lstStyle/>
          <a:p>
            <a:pPr marL="0" indent="0" algn="l">
              <a:buNone/>
            </a:pPr>
            <a:r>
              <a:rPr lang="en-US" sz="1100" b="1">
                <a:solidFill>
                  <a:srgbClr val="222222"/>
                </a:solidFill>
                <a:latin typeface="Inter Medium" pitchFamily="34" charset="0"/>
                <a:ea typeface="Inter Medium" pitchFamily="34" charset="-122"/>
                <a:cs typeface="Inter Medium" pitchFamily="34" charset="-120"/>
              </a:rPr>
              <a:t>Git &amp; GitHub</a:t>
            </a:r>
            <a:endParaRPr lang="en-US" sz="1100"/>
          </a:p>
        </p:txBody>
      </p:sp>
      <p:sp>
        <p:nvSpPr>
          <p:cNvPr id="17" name="Text 13"/>
          <p:cNvSpPr/>
          <p:nvPr/>
        </p:nvSpPr>
        <p:spPr>
          <a:xfrm>
            <a:off x="6336506" y="2838971"/>
            <a:ext cx="1764506" cy="137517"/>
          </a:xfrm>
          <a:prstGeom prst="rect">
            <a:avLst/>
          </a:prstGeom>
          <a:noFill/>
          <a:ln/>
        </p:spPr>
        <p:txBody>
          <a:bodyPr wrap="square" lIns="0" tIns="0" rIns="0" bIns="0" rtlCol="0" anchor="t">
            <a:spAutoFit/>
          </a:bodyPr>
          <a:lstStyle/>
          <a:p>
            <a:pPr marL="0" indent="0" algn="l">
              <a:buNone/>
            </a:pPr>
            <a:r>
              <a:rPr lang="en-US" sz="850">
                <a:solidFill>
                  <a:srgbClr val="666666"/>
                </a:solidFill>
                <a:latin typeface="Inter Medium" pitchFamily="34" charset="0"/>
                <a:ea typeface="Inter Medium" pitchFamily="34" charset="-122"/>
                <a:cs typeface="Inter Medium" pitchFamily="34" charset="-120"/>
              </a:rPr>
              <a:t>Gestion de version collaborative</a:t>
            </a:r>
            <a:endParaRPr lang="en-US" sz="850"/>
          </a:p>
        </p:txBody>
      </p:sp>
      <p:sp>
        <p:nvSpPr>
          <p:cNvPr id="18" name="Text 14"/>
          <p:cNvSpPr/>
          <p:nvPr/>
        </p:nvSpPr>
        <p:spPr>
          <a:xfrm>
            <a:off x="6336506" y="3119363"/>
            <a:ext cx="653653" cy="189309"/>
          </a:xfrm>
          <a:prstGeom prst="rect">
            <a:avLst/>
          </a:prstGeom>
          <a:noFill/>
          <a:ln/>
        </p:spPr>
        <p:txBody>
          <a:bodyPr wrap="none" lIns="0" tIns="0" rIns="0" bIns="0" rtlCol="0" anchor="t">
            <a:spAutoFit/>
          </a:bodyPr>
          <a:lstStyle/>
          <a:p>
            <a:pPr marL="0" indent="0" algn="l">
              <a:buNone/>
            </a:pPr>
            <a:r>
              <a:rPr lang="en-US" sz="1100" b="1">
                <a:solidFill>
                  <a:srgbClr val="222222"/>
                </a:solidFill>
                <a:latin typeface="Inter Medium" pitchFamily="34" charset="0"/>
                <a:ea typeface="Inter Medium" pitchFamily="34" charset="-122"/>
                <a:cs typeface="Inter Medium" pitchFamily="34" charset="-120"/>
              </a:rPr>
              <a:t>VS Code</a:t>
            </a:r>
            <a:endParaRPr lang="en-US" sz="1100"/>
          </a:p>
        </p:txBody>
      </p:sp>
      <p:sp>
        <p:nvSpPr>
          <p:cNvPr id="19" name="Text 15"/>
          <p:cNvSpPr/>
          <p:nvPr/>
        </p:nvSpPr>
        <p:spPr>
          <a:xfrm>
            <a:off x="6336506" y="3337247"/>
            <a:ext cx="1887736" cy="137517"/>
          </a:xfrm>
          <a:prstGeom prst="rect">
            <a:avLst/>
          </a:prstGeom>
          <a:noFill/>
          <a:ln/>
        </p:spPr>
        <p:txBody>
          <a:bodyPr wrap="square" lIns="0" tIns="0" rIns="0" bIns="0" rtlCol="0" anchor="t">
            <a:spAutoFit/>
          </a:bodyPr>
          <a:lstStyle/>
          <a:p>
            <a:pPr marL="0" indent="0" algn="l">
              <a:buNone/>
            </a:pPr>
            <a:r>
              <a:rPr lang="en-US" sz="850">
                <a:solidFill>
                  <a:srgbClr val="666666"/>
                </a:solidFill>
                <a:latin typeface="Inter Medium" pitchFamily="34" charset="0"/>
                <a:ea typeface="Inter Medium" pitchFamily="34" charset="-122"/>
                <a:cs typeface="Inter Medium" pitchFamily="34" charset="-120"/>
              </a:rPr>
              <a:t>Environnement de développement</a:t>
            </a:r>
            <a:endParaRPr lang="en-US" sz="850"/>
          </a:p>
        </p:txBody>
      </p:sp>
      <p:pic>
        <p:nvPicPr>
          <p:cNvPr id="2" name="Picture 1">
            <a:extLst>
              <a:ext uri="{FF2B5EF4-FFF2-40B4-BE49-F238E27FC236}">
                <a16:creationId xmlns:a16="http://schemas.microsoft.com/office/drawing/2014/main" id="{4F5587F7-EDB0-C3E4-22B2-6FA2913EC6A7}"/>
              </a:ext>
            </a:extLst>
          </p:cNvPr>
          <p:cNvPicPr>
            <a:picLocks noChangeAspect="1"/>
          </p:cNvPicPr>
          <p:nvPr/>
        </p:nvPicPr>
        <p:blipFill>
          <a:blip r:embed="rId4"/>
          <a:stretch>
            <a:fillRect/>
          </a:stretch>
        </p:blipFill>
        <p:spPr>
          <a:xfrm>
            <a:off x="8522116" y="92003"/>
            <a:ext cx="558762" cy="558762"/>
          </a:xfrm>
          <a:prstGeom prst="rect">
            <a:avLst/>
          </a:prstGeom>
        </p:spPr>
      </p:pic>
      <p:pic>
        <p:nvPicPr>
          <p:cNvPr id="20" name="Picture 19">
            <a:extLst>
              <a:ext uri="{FF2B5EF4-FFF2-40B4-BE49-F238E27FC236}">
                <a16:creationId xmlns:a16="http://schemas.microsoft.com/office/drawing/2014/main" id="{2C1F3F82-8585-BCCA-BA23-943C0F7B5A00}"/>
              </a:ext>
            </a:extLst>
          </p:cNvPr>
          <p:cNvPicPr>
            <a:picLocks noChangeAspect="1"/>
          </p:cNvPicPr>
          <p:nvPr/>
        </p:nvPicPr>
        <p:blipFill>
          <a:blip r:embed="rId5"/>
          <a:stretch>
            <a:fillRect/>
          </a:stretch>
        </p:blipFill>
        <p:spPr>
          <a:xfrm>
            <a:off x="8004728" y="92003"/>
            <a:ext cx="439027" cy="558762"/>
          </a:xfrm>
          <a:prstGeom prst="rect">
            <a:avLst/>
          </a:prstGeom>
        </p:spPr>
      </p:pic>
      <p:pic>
        <p:nvPicPr>
          <p:cNvPr id="22" name="Picture 21">
            <a:extLst>
              <a:ext uri="{FF2B5EF4-FFF2-40B4-BE49-F238E27FC236}">
                <a16:creationId xmlns:a16="http://schemas.microsoft.com/office/drawing/2014/main" id="{8F2686A9-3303-0DA4-025E-2C450A64C855}"/>
              </a:ext>
            </a:extLst>
          </p:cNvPr>
          <p:cNvPicPr>
            <a:picLocks noChangeAspect="1"/>
          </p:cNvPicPr>
          <p:nvPr/>
        </p:nvPicPr>
        <p:blipFill>
          <a:blip r:embed="rId6"/>
          <a:stretch>
            <a:fillRect/>
          </a:stretch>
        </p:blipFill>
        <p:spPr>
          <a:xfrm>
            <a:off x="2417378" y="2659282"/>
            <a:ext cx="315441" cy="315441"/>
          </a:xfrm>
          <a:prstGeom prst="rect">
            <a:avLst/>
          </a:prstGeom>
        </p:spPr>
      </p:pic>
      <p:pic>
        <p:nvPicPr>
          <p:cNvPr id="24" name="Picture 23">
            <a:extLst>
              <a:ext uri="{FF2B5EF4-FFF2-40B4-BE49-F238E27FC236}">
                <a16:creationId xmlns:a16="http://schemas.microsoft.com/office/drawing/2014/main" id="{9EBBE9EC-8263-018A-75B3-8E9075CF4156}"/>
              </a:ext>
            </a:extLst>
          </p:cNvPr>
          <p:cNvPicPr>
            <a:picLocks noChangeAspect="1"/>
          </p:cNvPicPr>
          <p:nvPr/>
        </p:nvPicPr>
        <p:blipFill>
          <a:blip r:embed="rId7"/>
          <a:stretch>
            <a:fillRect/>
          </a:stretch>
        </p:blipFill>
        <p:spPr>
          <a:xfrm>
            <a:off x="2266150" y="3208660"/>
            <a:ext cx="586196" cy="228600"/>
          </a:xfrm>
          <a:prstGeom prst="rect">
            <a:avLst/>
          </a:prstGeom>
        </p:spPr>
      </p:pic>
      <p:pic>
        <p:nvPicPr>
          <p:cNvPr id="26" name="Picture 25">
            <a:extLst>
              <a:ext uri="{FF2B5EF4-FFF2-40B4-BE49-F238E27FC236}">
                <a16:creationId xmlns:a16="http://schemas.microsoft.com/office/drawing/2014/main" id="{FDC473C2-6B4F-46AD-79AE-E71C67DB1FA7}"/>
              </a:ext>
            </a:extLst>
          </p:cNvPr>
          <p:cNvPicPr>
            <a:picLocks noChangeAspect="1"/>
          </p:cNvPicPr>
          <p:nvPr/>
        </p:nvPicPr>
        <p:blipFill>
          <a:blip r:embed="rId8"/>
          <a:stretch>
            <a:fillRect/>
          </a:stretch>
        </p:blipFill>
        <p:spPr>
          <a:xfrm>
            <a:off x="5242535" y="2684438"/>
            <a:ext cx="265128" cy="265128"/>
          </a:xfrm>
          <a:prstGeom prst="rect">
            <a:avLst/>
          </a:prstGeom>
        </p:spPr>
      </p:pic>
      <p:pic>
        <p:nvPicPr>
          <p:cNvPr id="32" name="Picture 31">
            <a:extLst>
              <a:ext uri="{FF2B5EF4-FFF2-40B4-BE49-F238E27FC236}">
                <a16:creationId xmlns:a16="http://schemas.microsoft.com/office/drawing/2014/main" id="{6E5233AB-98E4-6D58-6443-7D2BB0E42482}"/>
              </a:ext>
            </a:extLst>
          </p:cNvPr>
          <p:cNvPicPr>
            <a:picLocks noChangeAspect="1"/>
          </p:cNvPicPr>
          <p:nvPr/>
        </p:nvPicPr>
        <p:blipFill>
          <a:blip r:embed="rId9"/>
          <a:stretch>
            <a:fillRect/>
          </a:stretch>
        </p:blipFill>
        <p:spPr>
          <a:xfrm>
            <a:off x="8101012" y="2602772"/>
            <a:ext cx="656599" cy="393428"/>
          </a:xfrm>
          <a:prstGeom prst="rect">
            <a:avLst/>
          </a:prstGeom>
        </p:spPr>
      </p:pic>
      <p:pic>
        <p:nvPicPr>
          <p:cNvPr id="34" name="Picture 33">
            <a:extLst>
              <a:ext uri="{FF2B5EF4-FFF2-40B4-BE49-F238E27FC236}">
                <a16:creationId xmlns:a16="http://schemas.microsoft.com/office/drawing/2014/main" id="{60133E31-81FF-5AFD-08D2-4729727D42CD}"/>
              </a:ext>
            </a:extLst>
          </p:cNvPr>
          <p:cNvPicPr>
            <a:picLocks noChangeAspect="1"/>
          </p:cNvPicPr>
          <p:nvPr/>
        </p:nvPicPr>
        <p:blipFill>
          <a:blip r:embed="rId10"/>
          <a:stretch>
            <a:fillRect/>
          </a:stretch>
        </p:blipFill>
        <p:spPr>
          <a:xfrm>
            <a:off x="8103645" y="3198803"/>
            <a:ext cx="259824" cy="219737"/>
          </a:xfrm>
          <a:prstGeom prst="rect">
            <a:avLst/>
          </a:prstGeom>
        </p:spPr>
      </p:pic>
      <p:pic>
        <p:nvPicPr>
          <p:cNvPr id="38" name="Picture 37">
            <a:extLst>
              <a:ext uri="{FF2B5EF4-FFF2-40B4-BE49-F238E27FC236}">
                <a16:creationId xmlns:a16="http://schemas.microsoft.com/office/drawing/2014/main" id="{F0AC6EFD-B433-7ADF-550C-AA1CAF7BB7B7}"/>
              </a:ext>
            </a:extLst>
          </p:cNvPr>
          <p:cNvPicPr>
            <a:picLocks noChangeAspect="1"/>
          </p:cNvPicPr>
          <p:nvPr/>
        </p:nvPicPr>
        <p:blipFill>
          <a:blip r:embed="rId11"/>
          <a:stretch>
            <a:fillRect/>
          </a:stretch>
        </p:blipFill>
        <p:spPr>
          <a:xfrm>
            <a:off x="5079424" y="3215654"/>
            <a:ext cx="603210" cy="2651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2192"/>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a:solidFill>
                  <a:srgbClr val="000000"/>
                </a:solidFill>
                <a:latin typeface="Playfair Display Black" pitchFamily="34" charset="0"/>
                <a:ea typeface="Playfair Display Black" pitchFamily="34" charset="-122"/>
                <a:cs typeface="Playfair Display Black" pitchFamily="34" charset="-120"/>
              </a:rPr>
              <a:t>ARCHITECTURE &amp; FONCTIONS</a:t>
            </a:r>
            <a:endParaRPr lang="en-US" sz="3300"/>
          </a:p>
        </p:txBody>
      </p:sp>
      <p:sp>
        <p:nvSpPr>
          <p:cNvPr id="5" name="Text 1"/>
          <p:cNvSpPr/>
          <p:nvPr/>
        </p:nvSpPr>
        <p:spPr>
          <a:xfrm>
            <a:off x="428625" y="2029941"/>
            <a:ext cx="1550194" cy="271463"/>
          </a:xfrm>
          <a:prstGeom prst="rect">
            <a:avLst/>
          </a:prstGeom>
          <a:noFill/>
          <a:ln/>
        </p:spPr>
        <p:txBody>
          <a:bodyPr wrap="square" lIns="0" tIns="0" rIns="0" bIns="0" rtlCol="0" anchor="t">
            <a:spAutoFit/>
          </a:bodyPr>
          <a:lstStyle/>
          <a:p>
            <a:pPr marL="0" indent="0" algn="l">
              <a:buNone/>
            </a:pPr>
            <a:r>
              <a:rPr lang="en-US" sz="1400" b="1">
                <a:solidFill>
                  <a:srgbClr val="000000"/>
                </a:solidFill>
                <a:latin typeface="Inter Medium" pitchFamily="34" charset="0"/>
                <a:ea typeface="Inter Medium" pitchFamily="34" charset="-122"/>
                <a:cs typeface="Inter Medium" pitchFamily="34" charset="-120"/>
              </a:rPr>
              <a:t>ARCHITECTURE</a:t>
            </a:r>
            <a:endParaRPr lang="en-US" sz="1400"/>
          </a:p>
        </p:txBody>
      </p:sp>
      <p:sp>
        <p:nvSpPr>
          <p:cNvPr id="6" name="Text 2"/>
          <p:cNvSpPr/>
          <p:nvPr/>
        </p:nvSpPr>
        <p:spPr>
          <a:xfrm>
            <a:off x="428625" y="2472854"/>
            <a:ext cx="2571750" cy="578644"/>
          </a:xfrm>
          <a:prstGeom prst="rect">
            <a:avLst/>
          </a:prstGeom>
          <a:noFill/>
          <a:ln/>
        </p:spPr>
        <p:txBody>
          <a:bodyPr wrap="square" lIns="170053" tIns="127508" rIns="0" bIns="0" rtlCol="0" anchor="t">
            <a:spAutoFit/>
          </a:bodyPr>
          <a:lstStyle/>
          <a:p>
            <a:pPr marL="0" indent="0" algn="l">
              <a:buNone/>
            </a:pPr>
            <a:r>
              <a:rPr lang="en-US" sz="1000" b="1">
                <a:solidFill>
                  <a:srgbClr val="222222"/>
                </a:solidFill>
                <a:latin typeface="Inter Medium" pitchFamily="34" charset="0"/>
                <a:ea typeface="Inter Medium" pitchFamily="34" charset="-122"/>
                <a:cs typeface="Inter Medium" pitchFamily="34" charset="-120"/>
              </a:rPr>
              <a:t>FRONTEND (JS)</a:t>
            </a:r>
            <a:endParaRPr lang="en-US" sz="1000"/>
          </a:p>
        </p:txBody>
      </p:sp>
      <p:sp>
        <p:nvSpPr>
          <p:cNvPr id="7" name="Text 3"/>
          <p:cNvSpPr/>
          <p:nvPr/>
        </p:nvSpPr>
        <p:spPr>
          <a:xfrm>
            <a:off x="428625" y="3158654"/>
            <a:ext cx="1191628" cy="184666"/>
          </a:xfrm>
          <a:prstGeom prst="rect">
            <a:avLst/>
          </a:prstGeom>
          <a:noFill/>
          <a:ln/>
        </p:spPr>
        <p:txBody>
          <a:bodyPr wrap="square" lIns="0" tIns="0" rIns="0" bIns="0" rtlCol="0" anchor="t">
            <a:spAutoFit/>
          </a:bodyPr>
          <a:lstStyle/>
          <a:p>
            <a:pPr marL="0" indent="0" algn="ctr">
              <a:buNone/>
            </a:pPr>
            <a:r>
              <a:rPr lang="en-US" sz="1200" b="1">
                <a:solidFill>
                  <a:srgbClr val="FF3300"/>
                </a:solidFill>
                <a:latin typeface="Inter Medium" pitchFamily="34" charset="0"/>
                <a:ea typeface="Inter Medium" pitchFamily="34" charset="-122"/>
                <a:cs typeface="Inter Medium" pitchFamily="34" charset="-120"/>
              </a:rPr>
              <a:t>▼ ▲</a:t>
            </a:r>
            <a:endParaRPr lang="en-US" sz="1200"/>
          </a:p>
        </p:txBody>
      </p:sp>
      <p:sp>
        <p:nvSpPr>
          <p:cNvPr id="8" name="Text 4"/>
          <p:cNvSpPr/>
          <p:nvPr/>
        </p:nvSpPr>
        <p:spPr>
          <a:xfrm>
            <a:off x="428625" y="3472979"/>
            <a:ext cx="2571750" cy="578644"/>
          </a:xfrm>
          <a:prstGeom prst="rect">
            <a:avLst/>
          </a:prstGeom>
          <a:noFill/>
          <a:ln/>
        </p:spPr>
        <p:txBody>
          <a:bodyPr wrap="square" lIns="170053" tIns="127508" rIns="0" bIns="0" rtlCol="0" anchor="t">
            <a:spAutoFit/>
          </a:bodyPr>
          <a:lstStyle/>
          <a:p>
            <a:pPr marL="0" indent="0" algn="l">
              <a:buNone/>
            </a:pPr>
            <a:r>
              <a:rPr lang="en-US" sz="1000" b="1">
                <a:solidFill>
                  <a:srgbClr val="222222"/>
                </a:solidFill>
                <a:latin typeface="Inter Medium" pitchFamily="34" charset="0"/>
                <a:ea typeface="Inter Medium" pitchFamily="34" charset="-122"/>
                <a:cs typeface="Inter Medium" pitchFamily="34" charset="-120"/>
              </a:rPr>
              <a:t>API REST (FLASK)</a:t>
            </a:r>
            <a:endParaRPr lang="en-US" sz="1000"/>
          </a:p>
        </p:txBody>
      </p:sp>
      <p:sp>
        <p:nvSpPr>
          <p:cNvPr id="9" name="Text 5"/>
          <p:cNvSpPr/>
          <p:nvPr/>
        </p:nvSpPr>
        <p:spPr>
          <a:xfrm>
            <a:off x="428625" y="4158779"/>
            <a:ext cx="1191628" cy="184666"/>
          </a:xfrm>
          <a:prstGeom prst="rect">
            <a:avLst/>
          </a:prstGeom>
          <a:noFill/>
          <a:ln/>
        </p:spPr>
        <p:txBody>
          <a:bodyPr wrap="square" lIns="0" tIns="0" rIns="0" bIns="0" rtlCol="0" anchor="t">
            <a:spAutoFit/>
          </a:bodyPr>
          <a:lstStyle/>
          <a:p>
            <a:pPr marL="0" indent="0" algn="ctr">
              <a:buNone/>
            </a:pPr>
            <a:r>
              <a:rPr lang="en-US" sz="1200" b="1">
                <a:solidFill>
                  <a:srgbClr val="FF3300"/>
                </a:solidFill>
                <a:latin typeface="Inter Medium" pitchFamily="34" charset="0"/>
                <a:ea typeface="Inter Medium" pitchFamily="34" charset="-122"/>
                <a:cs typeface="Inter Medium" pitchFamily="34" charset="-120"/>
              </a:rPr>
              <a:t>▼ ▲</a:t>
            </a:r>
            <a:endParaRPr lang="en-US" sz="1200"/>
          </a:p>
        </p:txBody>
      </p:sp>
      <p:sp>
        <p:nvSpPr>
          <p:cNvPr id="10" name="Text 6"/>
          <p:cNvSpPr/>
          <p:nvPr/>
        </p:nvSpPr>
        <p:spPr>
          <a:xfrm>
            <a:off x="428625" y="4473104"/>
            <a:ext cx="2571750" cy="578644"/>
          </a:xfrm>
          <a:prstGeom prst="rect">
            <a:avLst/>
          </a:prstGeom>
          <a:noFill/>
          <a:ln/>
        </p:spPr>
        <p:txBody>
          <a:bodyPr wrap="square" lIns="170053" tIns="127508" rIns="0" bIns="0" rtlCol="0" anchor="t">
            <a:spAutoFit/>
          </a:bodyPr>
          <a:lstStyle/>
          <a:p>
            <a:pPr marL="0" indent="0" algn="l">
              <a:buNone/>
            </a:pPr>
            <a:r>
              <a:rPr lang="en-US" sz="1000" b="1">
                <a:solidFill>
                  <a:srgbClr val="222222"/>
                </a:solidFill>
                <a:latin typeface="Inter Medium" pitchFamily="34" charset="0"/>
                <a:ea typeface="Inter Medium" pitchFamily="34" charset="-122"/>
                <a:cs typeface="Inter Medium" pitchFamily="34" charset="-120"/>
              </a:rPr>
              <a:t>BACKEND (PYTHON)</a:t>
            </a:r>
            <a:endParaRPr lang="en-US" sz="1000"/>
          </a:p>
        </p:txBody>
      </p:sp>
      <p:sp>
        <p:nvSpPr>
          <p:cNvPr id="11" name="Text 7"/>
          <p:cNvSpPr/>
          <p:nvPr/>
        </p:nvSpPr>
        <p:spPr>
          <a:xfrm>
            <a:off x="3286125" y="2029941"/>
            <a:ext cx="1902023" cy="271463"/>
          </a:xfrm>
          <a:prstGeom prst="rect">
            <a:avLst/>
          </a:prstGeom>
          <a:noFill/>
          <a:ln/>
        </p:spPr>
        <p:txBody>
          <a:bodyPr wrap="square" lIns="0" tIns="0" rIns="0" bIns="0" rtlCol="0" anchor="t">
            <a:spAutoFit/>
          </a:bodyPr>
          <a:lstStyle/>
          <a:p>
            <a:pPr marL="0" indent="0" algn="l">
              <a:buNone/>
            </a:pPr>
            <a:r>
              <a:rPr lang="en-US" sz="1400" b="1">
                <a:solidFill>
                  <a:srgbClr val="000000"/>
                </a:solidFill>
                <a:latin typeface="Inter Medium" pitchFamily="34" charset="0"/>
                <a:ea typeface="Inter Medium" pitchFamily="34" charset="-122"/>
                <a:cs typeface="Inter Medium" pitchFamily="34" charset="-120"/>
              </a:rPr>
              <a:t>FONCTIONNALITÉS</a:t>
            </a:r>
            <a:endParaRPr lang="en-US" sz="1400"/>
          </a:p>
        </p:txBody>
      </p:sp>
      <p:sp>
        <p:nvSpPr>
          <p:cNvPr id="12" name="Text 8"/>
          <p:cNvSpPr/>
          <p:nvPr/>
        </p:nvSpPr>
        <p:spPr>
          <a:xfrm>
            <a:off x="3743325" y="2587154"/>
            <a:ext cx="468697" cy="540051"/>
          </a:xfrm>
          <a:prstGeom prst="rect">
            <a:avLst/>
          </a:prstGeom>
          <a:noFill/>
          <a:ln/>
        </p:spPr>
        <p:txBody>
          <a:bodyPr wrap="square" lIns="0" tIns="0" rIns="0" bIns="0" rtlCol="0" anchor="t">
            <a:spAutoFit/>
          </a:bodyPr>
          <a:lstStyle/>
          <a:p>
            <a:pPr marL="0" indent="0" algn="l">
              <a:lnSpc>
                <a:spcPct val="112000"/>
              </a:lnSpc>
              <a:buNone/>
            </a:pPr>
            <a:r>
              <a:rPr lang="en-US" sz="900" b="1">
                <a:solidFill>
                  <a:srgbClr val="222222"/>
                </a:solidFill>
                <a:latin typeface="Inter Medium" pitchFamily="34" charset="0"/>
                <a:ea typeface="Inter Medium" pitchFamily="34" charset="-122"/>
                <a:cs typeface="Inter Medium" pitchFamily="34" charset="-120"/>
              </a:rPr>
              <a:t>N-Reines :</a:t>
            </a:r>
            <a:endParaRPr lang="en-US" sz="900"/>
          </a:p>
        </p:txBody>
      </p:sp>
      <p:sp>
        <p:nvSpPr>
          <p:cNvPr id="13" name="Text 9"/>
          <p:cNvSpPr/>
          <p:nvPr/>
        </p:nvSpPr>
        <p:spPr>
          <a:xfrm>
            <a:off x="4212022" y="2587154"/>
            <a:ext cx="2160203" cy="360034"/>
          </a:xfrm>
          <a:prstGeom prst="rect">
            <a:avLst/>
          </a:prstGeom>
          <a:noFill/>
          <a:ln/>
        </p:spPr>
        <p:txBody>
          <a:bodyPr wrap="squar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Configuration dynamique, replay et statistiques.</a:t>
            </a:r>
            <a:endParaRPr lang="en-US" sz="950"/>
          </a:p>
        </p:txBody>
      </p:sp>
      <p:sp>
        <p:nvSpPr>
          <p:cNvPr id="14" name="Text 10"/>
          <p:cNvSpPr/>
          <p:nvPr/>
        </p:nvSpPr>
        <p:spPr>
          <a:xfrm>
            <a:off x="3743325" y="3255792"/>
            <a:ext cx="466130" cy="360034"/>
          </a:xfrm>
          <a:prstGeom prst="rect">
            <a:avLst/>
          </a:prstGeom>
          <a:noFill/>
          <a:ln/>
        </p:spPr>
        <p:txBody>
          <a:bodyPr wrap="square" lIns="0" tIns="0" rIns="0" bIns="0" rtlCol="0" anchor="t">
            <a:spAutoFit/>
          </a:bodyPr>
          <a:lstStyle/>
          <a:p>
            <a:pPr marL="0" indent="0" algn="l">
              <a:lnSpc>
                <a:spcPct val="112000"/>
              </a:lnSpc>
              <a:buNone/>
            </a:pPr>
            <a:r>
              <a:rPr lang="en-US" sz="900" b="1">
                <a:solidFill>
                  <a:srgbClr val="222222"/>
                </a:solidFill>
                <a:latin typeface="Inter Medium" pitchFamily="34" charset="0"/>
                <a:ea typeface="Inter Medium" pitchFamily="34" charset="-122"/>
                <a:cs typeface="Inter Medium" pitchFamily="34" charset="-120"/>
              </a:rPr>
              <a:t>Sudoku :</a:t>
            </a:r>
            <a:endParaRPr lang="en-US" sz="900"/>
          </a:p>
        </p:txBody>
      </p:sp>
      <p:sp>
        <p:nvSpPr>
          <p:cNvPr id="15" name="Text 11"/>
          <p:cNvSpPr/>
          <p:nvPr/>
        </p:nvSpPr>
        <p:spPr>
          <a:xfrm>
            <a:off x="4209455" y="3255792"/>
            <a:ext cx="2162770" cy="360034"/>
          </a:xfrm>
          <a:prstGeom prst="rect">
            <a:avLst/>
          </a:prstGeom>
          <a:noFill/>
          <a:ln/>
        </p:spPr>
        <p:txBody>
          <a:bodyPr wrap="squar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Niveaux de difficulté et analyse cellule par cellule.</a:t>
            </a:r>
            <a:endParaRPr lang="en-US" sz="950"/>
          </a:p>
        </p:txBody>
      </p:sp>
      <p:sp>
        <p:nvSpPr>
          <p:cNvPr id="16" name="Text 12"/>
          <p:cNvSpPr/>
          <p:nvPr/>
        </p:nvSpPr>
        <p:spPr>
          <a:xfrm>
            <a:off x="3743325" y="3744413"/>
            <a:ext cx="767953" cy="360034"/>
          </a:xfrm>
          <a:prstGeom prst="rect">
            <a:avLst/>
          </a:prstGeom>
          <a:noFill/>
          <a:ln/>
        </p:spPr>
        <p:txBody>
          <a:bodyPr wrap="square" lIns="0" tIns="0" rIns="0" bIns="0" rtlCol="0" anchor="t">
            <a:spAutoFit/>
          </a:bodyPr>
          <a:lstStyle/>
          <a:p>
            <a:pPr marL="0" indent="0" algn="l">
              <a:lnSpc>
                <a:spcPct val="112000"/>
              </a:lnSpc>
              <a:buNone/>
            </a:pPr>
            <a:r>
              <a:rPr lang="en-US" sz="900" b="1">
                <a:solidFill>
                  <a:srgbClr val="222222"/>
                </a:solidFill>
                <a:latin typeface="Inter Medium" pitchFamily="34" charset="0"/>
                <a:ea typeface="Inter Medium" pitchFamily="34" charset="-122"/>
                <a:cs typeface="Inter Medium" pitchFamily="34" charset="-120"/>
              </a:rPr>
              <a:t>Benchmarks :</a:t>
            </a:r>
            <a:endParaRPr lang="en-US" sz="900"/>
          </a:p>
        </p:txBody>
      </p:sp>
      <p:sp>
        <p:nvSpPr>
          <p:cNvPr id="17" name="Text 13"/>
          <p:cNvSpPr/>
          <p:nvPr/>
        </p:nvSpPr>
        <p:spPr>
          <a:xfrm>
            <a:off x="4511278" y="3744413"/>
            <a:ext cx="1860947" cy="360034"/>
          </a:xfrm>
          <a:prstGeom prst="rect">
            <a:avLst/>
          </a:prstGeom>
          <a:noFill/>
          <a:ln/>
        </p:spPr>
        <p:txBody>
          <a:bodyPr wrap="squar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Comparaison automatique des performances.</a:t>
            </a:r>
            <a:endParaRPr lang="en-US" sz="950"/>
          </a:p>
        </p:txBody>
      </p:sp>
      <p:sp>
        <p:nvSpPr>
          <p:cNvPr id="18" name="Text 14"/>
          <p:cNvSpPr/>
          <p:nvPr/>
        </p:nvSpPr>
        <p:spPr>
          <a:xfrm>
            <a:off x="6657975" y="2029941"/>
            <a:ext cx="751880" cy="271463"/>
          </a:xfrm>
          <a:prstGeom prst="rect">
            <a:avLst/>
          </a:prstGeom>
          <a:noFill/>
          <a:ln/>
        </p:spPr>
        <p:txBody>
          <a:bodyPr wrap="none" lIns="0" tIns="0" rIns="0" bIns="0" rtlCol="0" anchor="t">
            <a:spAutoFit/>
          </a:bodyPr>
          <a:lstStyle/>
          <a:p>
            <a:pPr marL="0" indent="0" algn="l">
              <a:buNone/>
            </a:pPr>
            <a:r>
              <a:rPr lang="en-US" sz="1400" b="1">
                <a:solidFill>
                  <a:srgbClr val="000000"/>
                </a:solidFill>
                <a:latin typeface="Inter Medium" pitchFamily="34" charset="0"/>
                <a:ea typeface="Inter Medium" pitchFamily="34" charset="-122"/>
                <a:cs typeface="Inter Medium" pitchFamily="34" charset="-120"/>
              </a:rPr>
              <a:t>DESIGN</a:t>
            </a:r>
            <a:endParaRPr lang="en-US" sz="1400"/>
          </a:p>
        </p:txBody>
      </p:sp>
      <p:sp>
        <p:nvSpPr>
          <p:cNvPr id="19" name="Text 15"/>
          <p:cNvSpPr/>
          <p:nvPr/>
        </p:nvSpPr>
        <p:spPr>
          <a:xfrm>
            <a:off x="7115175" y="2587154"/>
            <a:ext cx="1600200" cy="154979"/>
          </a:xfrm>
          <a:prstGeom prst="rect">
            <a:avLst/>
          </a:prstGeom>
          <a:noFill/>
          <a:ln/>
        </p:spPr>
        <p:txBody>
          <a:bodyPr wrap="square" lIns="0" tIns="0" rIns="0" bIns="0" rtlCol="0" anchor="t">
            <a:spAutoFit/>
          </a:bodyPr>
          <a:lstStyle/>
          <a:p>
            <a:pPr marL="0" indent="0" algn="l">
              <a:lnSpc>
                <a:spcPct val="112000"/>
              </a:lnSpc>
              <a:buNone/>
            </a:pPr>
            <a:r>
              <a:rPr lang="en-US" sz="950" err="1">
                <a:solidFill>
                  <a:srgbClr val="222222"/>
                </a:solidFill>
                <a:latin typeface="Inter Medium" pitchFamily="34" charset="0"/>
                <a:ea typeface="Inter Medium" pitchFamily="34" charset="-122"/>
                <a:cs typeface="Inter Medium" pitchFamily="34" charset="-120"/>
              </a:rPr>
              <a:t>Thème</a:t>
            </a:r>
            <a:r>
              <a:rPr lang="en-US" sz="950">
                <a:solidFill>
                  <a:srgbClr val="222222"/>
                </a:solidFill>
                <a:latin typeface="Inter Medium" pitchFamily="34" charset="0"/>
                <a:ea typeface="Inter Medium" pitchFamily="34" charset="-122"/>
                <a:cs typeface="Inter Medium" pitchFamily="34" charset="-120"/>
              </a:rPr>
              <a:t>  </a:t>
            </a:r>
            <a:r>
              <a:rPr lang="en-US" sz="950" err="1">
                <a:solidFill>
                  <a:srgbClr val="222222"/>
                </a:solidFill>
                <a:latin typeface="Inter Medium" pitchFamily="34" charset="0"/>
                <a:ea typeface="Inter Medium" pitchFamily="34" charset="-122"/>
                <a:cs typeface="Inter Medium" pitchFamily="34" charset="-120"/>
              </a:rPr>
              <a:t>Sombre</a:t>
            </a:r>
            <a:endParaRPr lang="en-US" sz="950"/>
          </a:p>
        </p:txBody>
      </p:sp>
      <p:sp>
        <p:nvSpPr>
          <p:cNvPr id="20" name="Text 16"/>
          <p:cNvSpPr/>
          <p:nvPr/>
        </p:nvSpPr>
        <p:spPr>
          <a:xfrm>
            <a:off x="7115175" y="3075775"/>
            <a:ext cx="1334095" cy="180017"/>
          </a:xfrm>
          <a:prstGeom prst="rect">
            <a:avLst/>
          </a:prstGeom>
          <a:noFill/>
          <a:ln/>
        </p:spPr>
        <p:txBody>
          <a:bodyPr wrap="non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Interface Responsive.</a:t>
            </a:r>
            <a:endParaRPr lang="en-US" sz="950"/>
          </a:p>
        </p:txBody>
      </p:sp>
      <p:sp>
        <p:nvSpPr>
          <p:cNvPr id="21" name="Text 17"/>
          <p:cNvSpPr/>
          <p:nvPr/>
        </p:nvSpPr>
        <p:spPr>
          <a:xfrm>
            <a:off x="7115175" y="3384379"/>
            <a:ext cx="1437680" cy="180017"/>
          </a:xfrm>
          <a:prstGeom prst="rect">
            <a:avLst/>
          </a:prstGeom>
          <a:noFill/>
          <a:ln/>
        </p:spPr>
        <p:txBody>
          <a:bodyPr wrap="non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Animations Particles.js.</a:t>
            </a:r>
            <a:endParaRPr lang="en-US" sz="950"/>
          </a:p>
        </p:txBody>
      </p:sp>
      <p:pic>
        <p:nvPicPr>
          <p:cNvPr id="2" name="Picture 1">
            <a:extLst>
              <a:ext uri="{FF2B5EF4-FFF2-40B4-BE49-F238E27FC236}">
                <a16:creationId xmlns:a16="http://schemas.microsoft.com/office/drawing/2014/main" id="{500606B0-6DF9-511D-C076-648FCA7F9337}"/>
              </a:ext>
            </a:extLst>
          </p:cNvPr>
          <p:cNvPicPr>
            <a:picLocks noChangeAspect="1"/>
          </p:cNvPicPr>
          <p:nvPr/>
        </p:nvPicPr>
        <p:blipFill>
          <a:blip r:embed="rId4"/>
          <a:stretch>
            <a:fillRect/>
          </a:stretch>
        </p:blipFill>
        <p:spPr>
          <a:xfrm>
            <a:off x="8552855" y="60295"/>
            <a:ext cx="558762" cy="558762"/>
          </a:xfrm>
          <a:prstGeom prst="rect">
            <a:avLst/>
          </a:prstGeom>
        </p:spPr>
      </p:pic>
      <p:pic>
        <p:nvPicPr>
          <p:cNvPr id="22" name="Picture 21">
            <a:extLst>
              <a:ext uri="{FF2B5EF4-FFF2-40B4-BE49-F238E27FC236}">
                <a16:creationId xmlns:a16="http://schemas.microsoft.com/office/drawing/2014/main" id="{D52A1C9C-6A7A-B6C9-9B25-67BB8D58D9B0}"/>
              </a:ext>
            </a:extLst>
          </p:cNvPr>
          <p:cNvPicPr>
            <a:picLocks noChangeAspect="1"/>
          </p:cNvPicPr>
          <p:nvPr/>
        </p:nvPicPr>
        <p:blipFill>
          <a:blip r:embed="rId5"/>
          <a:stretch>
            <a:fillRect/>
          </a:stretch>
        </p:blipFill>
        <p:spPr>
          <a:xfrm>
            <a:off x="8010243" y="75614"/>
            <a:ext cx="439027" cy="5587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D59CC-642C-FB62-F16D-6B537E779652}"/>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E3B0D768-07B3-447F-0A6A-25A9C68AB8E4}"/>
              </a:ext>
            </a:extLst>
          </p:cNvPr>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a:solidFill>
                  <a:srgbClr val="000000"/>
                </a:solidFill>
                <a:latin typeface="Playfair Display Black" pitchFamily="34" charset="0"/>
                <a:ea typeface="Playfair Display Black" pitchFamily="34" charset="-122"/>
                <a:cs typeface="Playfair Display Black" pitchFamily="34" charset="-120"/>
              </a:rPr>
              <a:t>DÉMONSTRATION</a:t>
            </a:r>
            <a:endParaRPr lang="en-US" sz="3300"/>
          </a:p>
        </p:txBody>
      </p:sp>
      <p:sp>
        <p:nvSpPr>
          <p:cNvPr id="5" name="Text 1">
            <a:extLst>
              <a:ext uri="{FF2B5EF4-FFF2-40B4-BE49-F238E27FC236}">
                <a16:creationId xmlns:a16="http://schemas.microsoft.com/office/drawing/2014/main" id="{80B472FF-0488-54CE-B8B5-45D9BE03BEA1}"/>
              </a:ext>
            </a:extLst>
          </p:cNvPr>
          <p:cNvSpPr/>
          <p:nvPr/>
        </p:nvSpPr>
        <p:spPr>
          <a:xfrm>
            <a:off x="188947" y="1277949"/>
            <a:ext cx="2619356" cy="457200"/>
          </a:xfrm>
          <a:prstGeom prst="rect">
            <a:avLst/>
          </a:prstGeom>
          <a:noFill/>
          <a:ln/>
        </p:spPr>
        <p:txBody>
          <a:bodyPr wrap="square" lIns="0" tIns="0" rIns="0" bIns="0" rtlCol="0" anchor="t">
            <a:spAutoFit/>
          </a:bodyPr>
          <a:lstStyle/>
          <a:p>
            <a:pPr marL="0" indent="0" algn="l">
              <a:buNone/>
            </a:pPr>
            <a:r>
              <a:rPr lang="en-US" sz="2450" b="1">
                <a:solidFill>
                  <a:srgbClr val="FF3300"/>
                </a:solidFill>
                <a:latin typeface="Playfair Display Black" pitchFamily="34" charset="0"/>
                <a:ea typeface="Playfair Display Black" pitchFamily="34" charset="-122"/>
                <a:cs typeface="Playfair Display Black" pitchFamily="34" charset="-120"/>
              </a:rPr>
              <a:t>01</a:t>
            </a:r>
            <a:endParaRPr lang="en-US" sz="2450"/>
          </a:p>
        </p:txBody>
      </p:sp>
      <p:sp>
        <p:nvSpPr>
          <p:cNvPr id="6" name="Text 2">
            <a:extLst>
              <a:ext uri="{FF2B5EF4-FFF2-40B4-BE49-F238E27FC236}">
                <a16:creationId xmlns:a16="http://schemas.microsoft.com/office/drawing/2014/main" id="{B6914E57-2C24-0E62-20FC-783C46AE2C9A}"/>
              </a:ext>
            </a:extLst>
          </p:cNvPr>
          <p:cNvSpPr/>
          <p:nvPr/>
        </p:nvSpPr>
        <p:spPr>
          <a:xfrm>
            <a:off x="631553" y="1409886"/>
            <a:ext cx="2619356" cy="428625"/>
          </a:xfrm>
          <a:prstGeom prst="rect">
            <a:avLst/>
          </a:prstGeom>
          <a:noFill/>
          <a:ln/>
        </p:spPr>
        <p:txBody>
          <a:bodyPr wrap="square" lIns="0" tIns="0" rIns="0" bIns="0" rtlCol="0" anchor="t">
            <a:spAutoFit/>
          </a:bodyPr>
          <a:lstStyle/>
          <a:p>
            <a:pPr marL="0" indent="0" algn="l">
              <a:buNone/>
            </a:pPr>
            <a:r>
              <a:rPr lang="en-US" sz="1200" b="1">
                <a:solidFill>
                  <a:srgbClr val="000000"/>
                </a:solidFill>
                <a:latin typeface="Inter Medium" pitchFamily="34" charset="0"/>
                <a:ea typeface="Inter Medium" pitchFamily="34" charset="-122"/>
                <a:cs typeface="Inter Medium" pitchFamily="34" charset="-120"/>
              </a:rPr>
              <a:t>INITIALISATION</a:t>
            </a:r>
            <a:endParaRPr lang="en-US" sz="1200"/>
          </a:p>
        </p:txBody>
      </p:sp>
      <p:sp>
        <p:nvSpPr>
          <p:cNvPr id="7" name="Text 3">
            <a:extLst>
              <a:ext uri="{FF2B5EF4-FFF2-40B4-BE49-F238E27FC236}">
                <a16:creationId xmlns:a16="http://schemas.microsoft.com/office/drawing/2014/main" id="{F2F42E14-237B-0157-23A7-EC9B9C2DE2F5}"/>
              </a:ext>
            </a:extLst>
          </p:cNvPr>
          <p:cNvSpPr/>
          <p:nvPr/>
        </p:nvSpPr>
        <p:spPr>
          <a:xfrm>
            <a:off x="188947" y="1656126"/>
            <a:ext cx="1434688" cy="172483"/>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Lancement du serveur Flask :</a:t>
            </a:r>
            <a:endParaRPr lang="en-US" sz="950"/>
          </a:p>
        </p:txBody>
      </p:sp>
      <p:sp>
        <p:nvSpPr>
          <p:cNvPr id="8" name="Text 4">
            <a:extLst>
              <a:ext uri="{FF2B5EF4-FFF2-40B4-BE49-F238E27FC236}">
                <a16:creationId xmlns:a16="http://schemas.microsoft.com/office/drawing/2014/main" id="{C494C1D9-C4F1-573D-F9DE-6D89C6AF2D68}"/>
              </a:ext>
            </a:extLst>
          </p:cNvPr>
          <p:cNvSpPr/>
          <p:nvPr/>
        </p:nvSpPr>
        <p:spPr>
          <a:xfrm>
            <a:off x="123880" y="2555253"/>
            <a:ext cx="1295226" cy="172483"/>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Navigation Landing Page : </a:t>
            </a:r>
            <a:endParaRPr lang="en-US" sz="950"/>
          </a:p>
        </p:txBody>
      </p:sp>
      <p:sp>
        <p:nvSpPr>
          <p:cNvPr id="9" name="Text 5">
            <a:extLst>
              <a:ext uri="{FF2B5EF4-FFF2-40B4-BE49-F238E27FC236}">
                <a16:creationId xmlns:a16="http://schemas.microsoft.com/office/drawing/2014/main" id="{51FB8AC6-8EC3-1B1D-8B50-F7D9DAEB705C}"/>
              </a:ext>
            </a:extLst>
          </p:cNvPr>
          <p:cNvSpPr/>
          <p:nvPr/>
        </p:nvSpPr>
        <p:spPr>
          <a:xfrm>
            <a:off x="132867" y="3828736"/>
            <a:ext cx="1365758" cy="172483"/>
          </a:xfrm>
          <a:prstGeom prst="rect">
            <a:avLst/>
          </a:prstGeom>
          <a:noFill/>
          <a:ln/>
        </p:spPr>
        <p:txBody>
          <a:bodyPr wrap="none" lIns="0" tIns="0" rIns="0" bIns="0" rtlCol="0" anchor="t">
            <a:spAutoFit/>
          </a:bodyPr>
          <a:lstStyle/>
          <a:p>
            <a:pPr>
              <a:lnSpc>
                <a:spcPct val="128000"/>
              </a:lnSpc>
            </a:pPr>
            <a:r>
              <a:rPr lang="en-US" sz="950">
                <a:solidFill>
                  <a:srgbClr val="222222"/>
                </a:solidFill>
                <a:latin typeface="Inter Medium" pitchFamily="34" charset="0"/>
                <a:ea typeface="Inter Medium" pitchFamily="34" charset="-122"/>
                <a:cs typeface="Inter Medium" pitchFamily="34" charset="-120"/>
              </a:rPr>
              <a:t>Présentation de l'interface :</a:t>
            </a:r>
            <a:endParaRPr lang="en-US" sz="950"/>
          </a:p>
        </p:txBody>
      </p:sp>
      <p:sp>
        <p:nvSpPr>
          <p:cNvPr id="10" name="Text 6">
            <a:extLst>
              <a:ext uri="{FF2B5EF4-FFF2-40B4-BE49-F238E27FC236}">
                <a16:creationId xmlns:a16="http://schemas.microsoft.com/office/drawing/2014/main" id="{748EED17-637B-9035-AD48-6E677386DA20}"/>
              </a:ext>
            </a:extLst>
          </p:cNvPr>
          <p:cNvSpPr/>
          <p:nvPr/>
        </p:nvSpPr>
        <p:spPr>
          <a:xfrm>
            <a:off x="3315611" y="1308480"/>
            <a:ext cx="2619384" cy="457200"/>
          </a:xfrm>
          <a:prstGeom prst="rect">
            <a:avLst/>
          </a:prstGeom>
          <a:noFill/>
          <a:ln/>
        </p:spPr>
        <p:txBody>
          <a:bodyPr wrap="square" lIns="0" tIns="0" rIns="0" bIns="0" rtlCol="0" anchor="t">
            <a:spAutoFit/>
          </a:bodyPr>
          <a:lstStyle/>
          <a:p>
            <a:pPr marL="0" indent="0" algn="l">
              <a:buNone/>
            </a:pPr>
            <a:r>
              <a:rPr lang="en-US" sz="2450" b="1">
                <a:solidFill>
                  <a:srgbClr val="FF3300"/>
                </a:solidFill>
                <a:latin typeface="Playfair Display Black" pitchFamily="34" charset="0"/>
                <a:ea typeface="Playfair Display Black" pitchFamily="34" charset="-122"/>
                <a:cs typeface="Playfair Display Black" pitchFamily="34" charset="-120"/>
              </a:rPr>
              <a:t>02</a:t>
            </a:r>
            <a:endParaRPr lang="en-US" sz="2450"/>
          </a:p>
        </p:txBody>
      </p:sp>
      <p:sp>
        <p:nvSpPr>
          <p:cNvPr id="11" name="Text 7">
            <a:extLst>
              <a:ext uri="{FF2B5EF4-FFF2-40B4-BE49-F238E27FC236}">
                <a16:creationId xmlns:a16="http://schemas.microsoft.com/office/drawing/2014/main" id="{5DCCE688-6235-4AA8-C130-B027065A7E49}"/>
              </a:ext>
            </a:extLst>
          </p:cNvPr>
          <p:cNvSpPr/>
          <p:nvPr/>
        </p:nvSpPr>
        <p:spPr>
          <a:xfrm>
            <a:off x="3848357" y="1441814"/>
            <a:ext cx="2619384" cy="428625"/>
          </a:xfrm>
          <a:prstGeom prst="rect">
            <a:avLst/>
          </a:prstGeom>
          <a:noFill/>
          <a:ln/>
        </p:spPr>
        <p:txBody>
          <a:bodyPr wrap="square" lIns="0" tIns="0" rIns="0" bIns="0" rtlCol="0" anchor="t">
            <a:spAutoFit/>
          </a:bodyPr>
          <a:lstStyle/>
          <a:p>
            <a:pPr marL="0" indent="0" algn="l">
              <a:buNone/>
            </a:pPr>
            <a:r>
              <a:rPr lang="en-US" sz="1200" b="1">
                <a:solidFill>
                  <a:srgbClr val="000000"/>
                </a:solidFill>
                <a:latin typeface="Inter Medium" pitchFamily="34" charset="0"/>
                <a:ea typeface="Inter Medium" pitchFamily="34" charset="-122"/>
                <a:cs typeface="Inter Medium" pitchFamily="34" charset="-120"/>
              </a:rPr>
              <a:t>RÉSOLUTION N-REINES</a:t>
            </a:r>
            <a:endParaRPr lang="en-US" sz="1200"/>
          </a:p>
        </p:txBody>
      </p:sp>
      <p:sp>
        <p:nvSpPr>
          <p:cNvPr id="12" name="Text 8">
            <a:extLst>
              <a:ext uri="{FF2B5EF4-FFF2-40B4-BE49-F238E27FC236}">
                <a16:creationId xmlns:a16="http://schemas.microsoft.com/office/drawing/2014/main" id="{2CBF748B-5CB4-6E61-A24A-DCEF460806AD}"/>
              </a:ext>
            </a:extLst>
          </p:cNvPr>
          <p:cNvSpPr/>
          <p:nvPr/>
        </p:nvSpPr>
        <p:spPr>
          <a:xfrm>
            <a:off x="3316986" y="1656125"/>
            <a:ext cx="1091646" cy="172483"/>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Configuration 20x20 : </a:t>
            </a:r>
          </a:p>
        </p:txBody>
      </p:sp>
      <p:sp>
        <p:nvSpPr>
          <p:cNvPr id="13" name="Text 9">
            <a:extLst>
              <a:ext uri="{FF2B5EF4-FFF2-40B4-BE49-F238E27FC236}">
                <a16:creationId xmlns:a16="http://schemas.microsoft.com/office/drawing/2014/main" id="{10FD053B-C342-FE84-B1B3-5AD950D66B6F}"/>
              </a:ext>
            </a:extLst>
          </p:cNvPr>
          <p:cNvSpPr/>
          <p:nvPr/>
        </p:nvSpPr>
        <p:spPr>
          <a:xfrm>
            <a:off x="3308454" y="3016489"/>
            <a:ext cx="1445909" cy="172483"/>
          </a:xfrm>
          <a:prstGeom prst="rect">
            <a:avLst/>
          </a:prstGeom>
          <a:noFill/>
          <a:ln/>
        </p:spPr>
        <p:txBody>
          <a:bodyPr wrap="none" lIns="0" tIns="0" rIns="0" bIns="0" rtlCol="0" anchor="t">
            <a:spAutoFit/>
          </a:bodyPr>
          <a:lstStyle/>
          <a:p>
            <a:pPr>
              <a:lnSpc>
                <a:spcPct val="128000"/>
              </a:lnSpc>
            </a:pPr>
            <a:r>
              <a:rPr lang="en-US" sz="950" err="1">
                <a:solidFill>
                  <a:srgbClr val="222222"/>
                </a:solidFill>
                <a:latin typeface="Inter Medium" pitchFamily="34" charset="0"/>
                <a:ea typeface="Inter Medium" pitchFamily="34" charset="-122"/>
                <a:cs typeface="Inter Medium" pitchFamily="34" charset="-120"/>
              </a:rPr>
              <a:t>Utilisation</a:t>
            </a:r>
            <a:r>
              <a:rPr lang="en-US" sz="950">
                <a:solidFill>
                  <a:srgbClr val="222222"/>
                </a:solidFill>
                <a:latin typeface="Inter Medium" pitchFamily="34" charset="0"/>
                <a:ea typeface="Inter Medium" pitchFamily="34" charset="-122"/>
                <a:cs typeface="Inter Medium" pitchFamily="34" charset="-120"/>
              </a:rPr>
              <a:t> du slider timeline :</a:t>
            </a:r>
            <a:endParaRPr lang="en-US" sz="950"/>
          </a:p>
        </p:txBody>
      </p:sp>
      <p:sp>
        <p:nvSpPr>
          <p:cNvPr id="14" name="Text 10">
            <a:extLst>
              <a:ext uri="{FF2B5EF4-FFF2-40B4-BE49-F238E27FC236}">
                <a16:creationId xmlns:a16="http://schemas.microsoft.com/office/drawing/2014/main" id="{359B75AC-5181-5442-9A7D-57098E46539C}"/>
              </a:ext>
            </a:extLst>
          </p:cNvPr>
          <p:cNvSpPr/>
          <p:nvPr/>
        </p:nvSpPr>
        <p:spPr>
          <a:xfrm>
            <a:off x="3250909" y="3789495"/>
            <a:ext cx="1001877" cy="172483"/>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Analyse des conflits:</a:t>
            </a:r>
            <a:endParaRPr lang="en-US" sz="950"/>
          </a:p>
        </p:txBody>
      </p:sp>
      <p:sp>
        <p:nvSpPr>
          <p:cNvPr id="15" name="Text 11">
            <a:extLst>
              <a:ext uri="{FF2B5EF4-FFF2-40B4-BE49-F238E27FC236}">
                <a16:creationId xmlns:a16="http://schemas.microsoft.com/office/drawing/2014/main" id="{F7D0F00F-9A0C-960F-9493-2509ED9990F6}"/>
              </a:ext>
            </a:extLst>
          </p:cNvPr>
          <p:cNvSpPr/>
          <p:nvPr/>
        </p:nvSpPr>
        <p:spPr>
          <a:xfrm>
            <a:off x="6442303" y="1299593"/>
            <a:ext cx="2619356" cy="457200"/>
          </a:xfrm>
          <a:prstGeom prst="rect">
            <a:avLst/>
          </a:prstGeom>
          <a:noFill/>
          <a:ln/>
        </p:spPr>
        <p:txBody>
          <a:bodyPr wrap="square" lIns="0" tIns="0" rIns="0" bIns="0" rtlCol="0" anchor="t">
            <a:spAutoFit/>
          </a:bodyPr>
          <a:lstStyle/>
          <a:p>
            <a:pPr marL="0" indent="0" algn="l">
              <a:buNone/>
            </a:pPr>
            <a:r>
              <a:rPr lang="en-US" sz="2450" b="1">
                <a:solidFill>
                  <a:srgbClr val="FF3300"/>
                </a:solidFill>
                <a:latin typeface="Playfair Display Black" pitchFamily="34" charset="0"/>
                <a:ea typeface="Playfair Display Black" pitchFamily="34" charset="-122"/>
                <a:cs typeface="Playfair Display Black" pitchFamily="34" charset="-120"/>
              </a:rPr>
              <a:t>03</a:t>
            </a:r>
            <a:endParaRPr lang="en-US" sz="2450"/>
          </a:p>
        </p:txBody>
      </p:sp>
      <p:sp>
        <p:nvSpPr>
          <p:cNvPr id="16" name="Text 12">
            <a:extLst>
              <a:ext uri="{FF2B5EF4-FFF2-40B4-BE49-F238E27FC236}">
                <a16:creationId xmlns:a16="http://schemas.microsoft.com/office/drawing/2014/main" id="{1992B447-2E7C-74D7-91DF-B50EE39FC377}"/>
              </a:ext>
            </a:extLst>
          </p:cNvPr>
          <p:cNvSpPr/>
          <p:nvPr/>
        </p:nvSpPr>
        <p:spPr>
          <a:xfrm>
            <a:off x="6975049" y="1400809"/>
            <a:ext cx="2619356" cy="428625"/>
          </a:xfrm>
          <a:prstGeom prst="rect">
            <a:avLst/>
          </a:prstGeom>
          <a:noFill/>
          <a:ln/>
        </p:spPr>
        <p:txBody>
          <a:bodyPr wrap="square" lIns="0" tIns="0" rIns="0" bIns="0" rtlCol="0" anchor="t">
            <a:spAutoFit/>
          </a:bodyPr>
          <a:lstStyle/>
          <a:p>
            <a:pPr marL="0" indent="0" algn="l">
              <a:buNone/>
            </a:pPr>
            <a:r>
              <a:rPr lang="en-US" sz="1200" b="1">
                <a:solidFill>
                  <a:srgbClr val="000000"/>
                </a:solidFill>
                <a:latin typeface="Inter Medium" pitchFamily="34" charset="0"/>
                <a:ea typeface="Inter Medium" pitchFamily="34" charset="-122"/>
                <a:cs typeface="Inter Medium" pitchFamily="34" charset="-120"/>
              </a:rPr>
              <a:t>SUDOKU &amp; BENCHMARKS</a:t>
            </a:r>
            <a:endParaRPr lang="en-US" sz="1200"/>
          </a:p>
        </p:txBody>
      </p:sp>
      <p:sp>
        <p:nvSpPr>
          <p:cNvPr id="17" name="Text 13">
            <a:extLst>
              <a:ext uri="{FF2B5EF4-FFF2-40B4-BE49-F238E27FC236}">
                <a16:creationId xmlns:a16="http://schemas.microsoft.com/office/drawing/2014/main" id="{6853DE67-D3B4-B5CC-747C-C28A859AF623}"/>
              </a:ext>
            </a:extLst>
          </p:cNvPr>
          <p:cNvSpPr/>
          <p:nvPr/>
        </p:nvSpPr>
        <p:spPr>
          <a:xfrm>
            <a:off x="6467741" y="1666028"/>
            <a:ext cx="1429879" cy="172483"/>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Niveau Expert Backtracking :</a:t>
            </a:r>
            <a:endParaRPr lang="en-US" sz="950"/>
          </a:p>
        </p:txBody>
      </p:sp>
      <p:sp>
        <p:nvSpPr>
          <p:cNvPr id="18" name="Text 14">
            <a:extLst>
              <a:ext uri="{FF2B5EF4-FFF2-40B4-BE49-F238E27FC236}">
                <a16:creationId xmlns:a16="http://schemas.microsoft.com/office/drawing/2014/main" id="{50D84C6D-238E-284A-C5F4-4A2BE0F19C2F}"/>
              </a:ext>
            </a:extLst>
          </p:cNvPr>
          <p:cNvSpPr/>
          <p:nvPr/>
        </p:nvSpPr>
        <p:spPr>
          <a:xfrm>
            <a:off x="6500970" y="2827202"/>
            <a:ext cx="1460336" cy="172483"/>
          </a:xfrm>
          <a:prstGeom prst="rect">
            <a:avLst/>
          </a:prstGeom>
          <a:noFill/>
          <a:ln/>
        </p:spPr>
        <p:txBody>
          <a:bodyPr wrap="none" lIns="0" tIns="0" rIns="0" bIns="0" rtlCol="0" anchor="t">
            <a:spAutoFit/>
          </a:bodyPr>
          <a:lstStyle/>
          <a:p>
            <a:pPr marL="0" indent="0" algn="l">
              <a:lnSpc>
                <a:spcPct val="128000"/>
              </a:lnSpc>
              <a:buNone/>
            </a:pPr>
            <a:r>
              <a:rPr lang="en-US" sz="950">
                <a:solidFill>
                  <a:srgbClr val="222222"/>
                </a:solidFill>
                <a:latin typeface="Inter Medium" pitchFamily="34" charset="0"/>
                <a:ea typeface="Inter Medium" pitchFamily="34" charset="-122"/>
                <a:cs typeface="Inter Medium" pitchFamily="34" charset="-120"/>
              </a:rPr>
              <a:t>Comparaison algorithmique:</a:t>
            </a:r>
            <a:endParaRPr lang="en-US" sz="950"/>
          </a:p>
        </p:txBody>
      </p:sp>
      <p:pic>
        <p:nvPicPr>
          <p:cNvPr id="2" name="Picture 1">
            <a:extLst>
              <a:ext uri="{FF2B5EF4-FFF2-40B4-BE49-F238E27FC236}">
                <a16:creationId xmlns:a16="http://schemas.microsoft.com/office/drawing/2014/main" id="{30C1A87C-BB19-8A07-8EF6-B3778387832D}"/>
              </a:ext>
            </a:extLst>
          </p:cNvPr>
          <p:cNvPicPr>
            <a:picLocks noChangeAspect="1"/>
          </p:cNvPicPr>
          <p:nvPr/>
        </p:nvPicPr>
        <p:blipFill>
          <a:blip r:embed="rId3"/>
          <a:stretch>
            <a:fillRect/>
          </a:stretch>
        </p:blipFill>
        <p:spPr>
          <a:xfrm>
            <a:off x="8471278" y="122845"/>
            <a:ext cx="558762" cy="558762"/>
          </a:xfrm>
          <a:prstGeom prst="rect">
            <a:avLst/>
          </a:prstGeom>
        </p:spPr>
      </p:pic>
      <p:pic>
        <p:nvPicPr>
          <p:cNvPr id="23" name="Picture 22">
            <a:extLst>
              <a:ext uri="{FF2B5EF4-FFF2-40B4-BE49-F238E27FC236}">
                <a16:creationId xmlns:a16="http://schemas.microsoft.com/office/drawing/2014/main" id="{3B5956D1-8DD6-B5E4-4E9B-74C2A050E6B0}"/>
              </a:ext>
            </a:extLst>
          </p:cNvPr>
          <p:cNvPicPr>
            <a:picLocks noChangeAspect="1"/>
          </p:cNvPicPr>
          <p:nvPr/>
        </p:nvPicPr>
        <p:blipFill>
          <a:blip r:embed="rId4"/>
          <a:stretch>
            <a:fillRect/>
          </a:stretch>
        </p:blipFill>
        <p:spPr>
          <a:xfrm>
            <a:off x="7868668" y="136698"/>
            <a:ext cx="439027" cy="558762"/>
          </a:xfrm>
          <a:prstGeom prst="rect">
            <a:avLst/>
          </a:prstGeom>
        </p:spPr>
      </p:pic>
      <p:sp>
        <p:nvSpPr>
          <p:cNvPr id="24" name="Rectangle 23">
            <a:extLst>
              <a:ext uri="{FF2B5EF4-FFF2-40B4-BE49-F238E27FC236}">
                <a16:creationId xmlns:a16="http://schemas.microsoft.com/office/drawing/2014/main" id="{6EA6E564-0BB2-08A3-AEBF-4D8266C93A41}"/>
              </a:ext>
            </a:extLst>
          </p:cNvPr>
          <p:cNvSpPr/>
          <p:nvPr/>
        </p:nvSpPr>
        <p:spPr>
          <a:xfrm flipV="1">
            <a:off x="0" y="1225688"/>
            <a:ext cx="9144000" cy="54842"/>
          </a:xfrm>
          <a:prstGeom prst="rect">
            <a:avLst/>
          </a:prstGeom>
          <a:solidFill>
            <a:srgbClr val="FF3300"/>
          </a:solidFill>
          <a:ln>
            <a:solidFill>
              <a:srgbClr val="FF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G"/>
          </a:p>
        </p:txBody>
      </p:sp>
      <p:sp>
        <p:nvSpPr>
          <p:cNvPr id="25" name="Rectangle: Rounded Corners 24">
            <a:extLst>
              <a:ext uri="{FF2B5EF4-FFF2-40B4-BE49-F238E27FC236}">
                <a16:creationId xmlns:a16="http://schemas.microsoft.com/office/drawing/2014/main" id="{26D27650-156F-94E3-9B94-34207BF4AE37}"/>
              </a:ext>
            </a:extLst>
          </p:cNvPr>
          <p:cNvSpPr/>
          <p:nvPr/>
        </p:nvSpPr>
        <p:spPr>
          <a:xfrm>
            <a:off x="174494" y="1868867"/>
            <a:ext cx="2619357" cy="657798"/>
          </a:xfrm>
          <a:prstGeom prst="roundRect">
            <a:avLst/>
          </a:prstGeom>
          <a:solidFill>
            <a:schemeClr val="bg2">
              <a:lumMod val="9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900">
                <a:solidFill>
                  <a:schemeClr val="tx1"/>
                </a:solidFill>
              </a:rPr>
              <a:t>&gt; python -m venv venv .\venv\Scripts\Activate.ps1</a:t>
            </a:r>
          </a:p>
          <a:p>
            <a:endParaRPr lang="fr-FR" sz="900">
              <a:solidFill>
                <a:schemeClr val="tx1"/>
              </a:solidFill>
            </a:endParaRPr>
          </a:p>
          <a:p>
            <a:r>
              <a:rPr lang="fr-FR" sz="900">
                <a:solidFill>
                  <a:schemeClr val="tx1"/>
                </a:solidFill>
              </a:rPr>
              <a:t>&gt; python app.py</a:t>
            </a:r>
            <a:endParaRPr lang="fr-MG" sz="900">
              <a:solidFill>
                <a:schemeClr val="tx1"/>
              </a:solidFill>
            </a:endParaRPr>
          </a:p>
        </p:txBody>
      </p:sp>
      <p:pic>
        <p:nvPicPr>
          <p:cNvPr id="27" name="Picture 26">
            <a:extLst>
              <a:ext uri="{FF2B5EF4-FFF2-40B4-BE49-F238E27FC236}">
                <a16:creationId xmlns:a16="http://schemas.microsoft.com/office/drawing/2014/main" id="{F4B66415-F03F-0DA9-7114-06924A076AB1}"/>
              </a:ext>
            </a:extLst>
          </p:cNvPr>
          <p:cNvPicPr>
            <a:picLocks noChangeAspect="1"/>
          </p:cNvPicPr>
          <p:nvPr/>
        </p:nvPicPr>
        <p:blipFill>
          <a:blip r:embed="rId5"/>
          <a:stretch>
            <a:fillRect/>
          </a:stretch>
        </p:blipFill>
        <p:spPr>
          <a:xfrm>
            <a:off x="123880" y="2760515"/>
            <a:ext cx="2066052" cy="1023398"/>
          </a:xfrm>
          <a:prstGeom prst="rect">
            <a:avLst/>
          </a:prstGeom>
        </p:spPr>
      </p:pic>
      <p:pic>
        <p:nvPicPr>
          <p:cNvPr id="28" name="Picture 27">
            <a:extLst>
              <a:ext uri="{FF2B5EF4-FFF2-40B4-BE49-F238E27FC236}">
                <a16:creationId xmlns:a16="http://schemas.microsoft.com/office/drawing/2014/main" id="{9217494E-13CC-3AE9-96BC-25F0CF775C87}"/>
              </a:ext>
            </a:extLst>
          </p:cNvPr>
          <p:cNvPicPr>
            <a:picLocks noChangeAspect="1"/>
          </p:cNvPicPr>
          <p:nvPr/>
        </p:nvPicPr>
        <p:blipFill>
          <a:blip r:embed="rId6"/>
          <a:stretch>
            <a:fillRect/>
          </a:stretch>
        </p:blipFill>
        <p:spPr>
          <a:xfrm>
            <a:off x="3305534" y="3218875"/>
            <a:ext cx="2972246" cy="257042"/>
          </a:xfrm>
          <a:prstGeom prst="rect">
            <a:avLst/>
          </a:prstGeom>
        </p:spPr>
      </p:pic>
      <p:pic>
        <p:nvPicPr>
          <p:cNvPr id="30" name="Picture 29">
            <a:extLst>
              <a:ext uri="{FF2B5EF4-FFF2-40B4-BE49-F238E27FC236}">
                <a16:creationId xmlns:a16="http://schemas.microsoft.com/office/drawing/2014/main" id="{82138540-15C1-55E7-8C58-61DB72F275D6}"/>
              </a:ext>
            </a:extLst>
          </p:cNvPr>
          <p:cNvPicPr>
            <a:picLocks noChangeAspect="1"/>
          </p:cNvPicPr>
          <p:nvPr/>
        </p:nvPicPr>
        <p:blipFill>
          <a:blip r:embed="rId7"/>
          <a:stretch>
            <a:fillRect/>
          </a:stretch>
        </p:blipFill>
        <p:spPr>
          <a:xfrm>
            <a:off x="7652657" y="1853006"/>
            <a:ext cx="951482" cy="880142"/>
          </a:xfrm>
          <a:prstGeom prst="rect">
            <a:avLst/>
          </a:prstGeom>
        </p:spPr>
      </p:pic>
      <p:pic>
        <p:nvPicPr>
          <p:cNvPr id="34" name="Picture 33">
            <a:extLst>
              <a:ext uri="{FF2B5EF4-FFF2-40B4-BE49-F238E27FC236}">
                <a16:creationId xmlns:a16="http://schemas.microsoft.com/office/drawing/2014/main" id="{C456B5BE-72DC-F587-994F-9DADD99E0202}"/>
              </a:ext>
            </a:extLst>
          </p:cNvPr>
          <p:cNvPicPr>
            <a:picLocks noChangeAspect="1"/>
          </p:cNvPicPr>
          <p:nvPr/>
        </p:nvPicPr>
        <p:blipFill>
          <a:blip r:embed="rId8"/>
          <a:stretch>
            <a:fillRect/>
          </a:stretch>
        </p:blipFill>
        <p:spPr>
          <a:xfrm>
            <a:off x="6442303" y="1854543"/>
            <a:ext cx="1009469" cy="880142"/>
          </a:xfrm>
          <a:prstGeom prst="rect">
            <a:avLst/>
          </a:prstGeom>
        </p:spPr>
      </p:pic>
      <p:pic>
        <p:nvPicPr>
          <p:cNvPr id="38" name="Picture 37">
            <a:extLst>
              <a:ext uri="{FF2B5EF4-FFF2-40B4-BE49-F238E27FC236}">
                <a16:creationId xmlns:a16="http://schemas.microsoft.com/office/drawing/2014/main" id="{51A241C7-DBB1-1E47-1A36-2A0A17B9F0C6}"/>
              </a:ext>
            </a:extLst>
          </p:cNvPr>
          <p:cNvPicPr>
            <a:picLocks noChangeAspect="1"/>
          </p:cNvPicPr>
          <p:nvPr/>
        </p:nvPicPr>
        <p:blipFill>
          <a:blip r:embed="rId9"/>
          <a:stretch>
            <a:fillRect/>
          </a:stretch>
        </p:blipFill>
        <p:spPr>
          <a:xfrm>
            <a:off x="3325222" y="1838021"/>
            <a:ext cx="1246778" cy="1021600"/>
          </a:xfrm>
          <a:prstGeom prst="rect">
            <a:avLst/>
          </a:prstGeom>
        </p:spPr>
      </p:pic>
      <p:pic>
        <p:nvPicPr>
          <p:cNvPr id="40" name="Picture 39">
            <a:extLst>
              <a:ext uri="{FF2B5EF4-FFF2-40B4-BE49-F238E27FC236}">
                <a16:creationId xmlns:a16="http://schemas.microsoft.com/office/drawing/2014/main" id="{7916D37C-98FA-B80A-B15D-3590A89F6AAA}"/>
              </a:ext>
            </a:extLst>
          </p:cNvPr>
          <p:cNvPicPr>
            <a:picLocks noChangeAspect="1"/>
          </p:cNvPicPr>
          <p:nvPr/>
        </p:nvPicPr>
        <p:blipFill>
          <a:blip r:embed="rId10"/>
          <a:stretch>
            <a:fillRect/>
          </a:stretch>
        </p:blipFill>
        <p:spPr>
          <a:xfrm>
            <a:off x="119931" y="4002459"/>
            <a:ext cx="2066052" cy="1079402"/>
          </a:xfrm>
          <a:prstGeom prst="rect">
            <a:avLst/>
          </a:prstGeom>
        </p:spPr>
      </p:pic>
      <p:pic>
        <p:nvPicPr>
          <p:cNvPr id="42" name="Picture 41">
            <a:extLst>
              <a:ext uri="{FF2B5EF4-FFF2-40B4-BE49-F238E27FC236}">
                <a16:creationId xmlns:a16="http://schemas.microsoft.com/office/drawing/2014/main" id="{ADE781A3-5AB6-A226-C798-340626F63816}"/>
              </a:ext>
            </a:extLst>
          </p:cNvPr>
          <p:cNvPicPr>
            <a:picLocks noChangeAspect="1"/>
          </p:cNvPicPr>
          <p:nvPr/>
        </p:nvPicPr>
        <p:blipFill>
          <a:blip r:embed="rId11"/>
          <a:stretch>
            <a:fillRect/>
          </a:stretch>
        </p:blipFill>
        <p:spPr>
          <a:xfrm>
            <a:off x="6442303" y="3092202"/>
            <a:ext cx="1295226" cy="1068452"/>
          </a:xfrm>
          <a:prstGeom prst="rect">
            <a:avLst/>
          </a:prstGeom>
        </p:spPr>
      </p:pic>
      <p:pic>
        <p:nvPicPr>
          <p:cNvPr id="44" name="Picture 43">
            <a:extLst>
              <a:ext uri="{FF2B5EF4-FFF2-40B4-BE49-F238E27FC236}">
                <a16:creationId xmlns:a16="http://schemas.microsoft.com/office/drawing/2014/main" id="{B63AF872-FD2D-3663-7246-A5ADB032F061}"/>
              </a:ext>
            </a:extLst>
          </p:cNvPr>
          <p:cNvPicPr>
            <a:picLocks noChangeAspect="1"/>
          </p:cNvPicPr>
          <p:nvPr/>
        </p:nvPicPr>
        <p:blipFill>
          <a:blip r:embed="rId12"/>
          <a:stretch>
            <a:fillRect/>
          </a:stretch>
        </p:blipFill>
        <p:spPr>
          <a:xfrm>
            <a:off x="3308454" y="4014259"/>
            <a:ext cx="1720523" cy="520771"/>
          </a:xfrm>
          <a:prstGeom prst="rect">
            <a:avLst/>
          </a:prstGeom>
        </p:spPr>
      </p:pic>
    </p:spTree>
    <p:extLst>
      <p:ext uri="{BB962C8B-B14F-4D97-AF65-F5344CB8AC3E}">
        <p14:creationId xmlns:p14="http://schemas.microsoft.com/office/powerpoint/2010/main" val="2893690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a:solidFill>
                  <a:srgbClr val="000000"/>
                </a:solidFill>
                <a:latin typeface="Playfair Display Black" pitchFamily="34" charset="0"/>
                <a:ea typeface="Playfair Display Black" pitchFamily="34" charset="-122"/>
                <a:cs typeface="Playfair Display Black" pitchFamily="34" charset="-120"/>
              </a:rPr>
              <a:t>CONCLUSION &amp; PERSPECTIVES</a:t>
            </a:r>
            <a:endParaRPr lang="en-US" sz="3300"/>
          </a:p>
        </p:txBody>
      </p:sp>
      <p:sp>
        <p:nvSpPr>
          <p:cNvPr id="5" name="Text 1"/>
          <p:cNvSpPr/>
          <p:nvPr/>
        </p:nvSpPr>
        <p:spPr>
          <a:xfrm>
            <a:off x="428625" y="2029941"/>
            <a:ext cx="2571750" cy="376833"/>
          </a:xfrm>
          <a:prstGeom prst="rect">
            <a:avLst/>
          </a:prstGeom>
          <a:noFill/>
          <a:ln/>
        </p:spPr>
        <p:txBody>
          <a:bodyPr wrap="square" lIns="0" tIns="0" rIns="0" bIns="8509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BILAN</a:t>
            </a:r>
            <a:endParaRPr lang="en-US" sz="1600"/>
          </a:p>
        </p:txBody>
      </p:sp>
      <p:sp>
        <p:nvSpPr>
          <p:cNvPr id="6" name="Text 2"/>
          <p:cNvSpPr/>
          <p:nvPr/>
        </p:nvSpPr>
        <p:spPr>
          <a:xfrm>
            <a:off x="621506" y="2621087"/>
            <a:ext cx="2378869" cy="360034"/>
          </a:xfrm>
          <a:prstGeom prst="rect">
            <a:avLst/>
          </a:prstGeom>
          <a:noFill/>
          <a:ln/>
        </p:spPr>
        <p:txBody>
          <a:bodyPr wrap="squar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Application fonctionnelle et performante.</a:t>
            </a:r>
            <a:endParaRPr lang="en-US" sz="950"/>
          </a:p>
        </p:txBody>
      </p:sp>
      <p:sp>
        <p:nvSpPr>
          <p:cNvPr id="7" name="Text 3"/>
          <p:cNvSpPr/>
          <p:nvPr/>
        </p:nvSpPr>
        <p:spPr>
          <a:xfrm>
            <a:off x="621506" y="3123995"/>
            <a:ext cx="2378869" cy="360034"/>
          </a:xfrm>
          <a:prstGeom prst="rect">
            <a:avLst/>
          </a:prstGeom>
          <a:noFill/>
          <a:ln/>
        </p:spPr>
        <p:txBody>
          <a:bodyPr wrap="squar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Outil pédagogique de visualisation réussi.</a:t>
            </a:r>
            <a:endParaRPr lang="en-US" sz="950"/>
          </a:p>
        </p:txBody>
      </p:sp>
      <p:sp>
        <p:nvSpPr>
          <p:cNvPr id="8" name="Text 4"/>
          <p:cNvSpPr/>
          <p:nvPr/>
        </p:nvSpPr>
        <p:spPr>
          <a:xfrm>
            <a:off x="3286125" y="2029941"/>
            <a:ext cx="2571750" cy="376833"/>
          </a:xfrm>
          <a:prstGeom prst="rect">
            <a:avLst/>
          </a:prstGeom>
          <a:noFill/>
          <a:ln/>
        </p:spPr>
        <p:txBody>
          <a:bodyPr wrap="square" lIns="0" tIns="0" rIns="0" bIns="8509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DÉFIS</a:t>
            </a:r>
            <a:endParaRPr lang="en-US" sz="1600"/>
          </a:p>
        </p:txBody>
      </p:sp>
      <p:sp>
        <p:nvSpPr>
          <p:cNvPr id="9" name="Text 5"/>
          <p:cNvSpPr/>
          <p:nvPr/>
        </p:nvSpPr>
        <p:spPr>
          <a:xfrm>
            <a:off x="3479006" y="2621087"/>
            <a:ext cx="2378869" cy="360034"/>
          </a:xfrm>
          <a:prstGeom prst="rect">
            <a:avLst/>
          </a:prstGeom>
          <a:noFill/>
          <a:ln/>
        </p:spPr>
        <p:txBody>
          <a:bodyPr wrap="squar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Optimisation des transferts de données API.</a:t>
            </a:r>
            <a:endParaRPr lang="en-US" sz="950"/>
          </a:p>
        </p:txBody>
      </p:sp>
      <p:sp>
        <p:nvSpPr>
          <p:cNvPr id="10" name="Text 6"/>
          <p:cNvSpPr/>
          <p:nvPr/>
        </p:nvSpPr>
        <p:spPr>
          <a:xfrm>
            <a:off x="3479006" y="3123995"/>
            <a:ext cx="2255639" cy="180017"/>
          </a:xfrm>
          <a:prstGeom prst="rect">
            <a:avLst/>
          </a:prstGeom>
          <a:noFill/>
          <a:ln/>
        </p:spPr>
        <p:txBody>
          <a:bodyPr wrap="non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Gestion de la fluidité des animations.</a:t>
            </a:r>
            <a:endParaRPr lang="en-US" sz="950"/>
          </a:p>
        </p:txBody>
      </p:sp>
      <p:sp>
        <p:nvSpPr>
          <p:cNvPr id="11" name="Text 7"/>
          <p:cNvSpPr/>
          <p:nvPr/>
        </p:nvSpPr>
        <p:spPr>
          <a:xfrm>
            <a:off x="6143625" y="2029941"/>
            <a:ext cx="2571750" cy="376833"/>
          </a:xfrm>
          <a:prstGeom prst="rect">
            <a:avLst/>
          </a:prstGeom>
          <a:noFill/>
          <a:ln/>
        </p:spPr>
        <p:txBody>
          <a:bodyPr wrap="square" lIns="0" tIns="0" rIns="0" bIns="85090" rtlCol="0" anchor="t">
            <a:spAutoFit/>
          </a:bodyPr>
          <a:lstStyle/>
          <a:p>
            <a:pPr marL="0" indent="0" algn="l">
              <a:buNone/>
            </a:pPr>
            <a:r>
              <a:rPr lang="en-US" sz="1600" b="1">
                <a:solidFill>
                  <a:srgbClr val="000000"/>
                </a:solidFill>
                <a:latin typeface="Inter Medium" pitchFamily="34" charset="0"/>
                <a:ea typeface="Inter Medium" pitchFamily="34" charset="-122"/>
                <a:cs typeface="Inter Medium" pitchFamily="34" charset="-120"/>
              </a:rPr>
              <a:t>FUTUR</a:t>
            </a:r>
            <a:endParaRPr lang="en-US" sz="1600"/>
          </a:p>
        </p:txBody>
      </p:sp>
      <p:sp>
        <p:nvSpPr>
          <p:cNvPr id="12" name="Text 8"/>
          <p:cNvSpPr/>
          <p:nvPr/>
        </p:nvSpPr>
        <p:spPr>
          <a:xfrm>
            <a:off x="6336506" y="2621087"/>
            <a:ext cx="2378869" cy="360034"/>
          </a:xfrm>
          <a:prstGeom prst="rect">
            <a:avLst/>
          </a:prstGeom>
          <a:noFill/>
          <a:ln/>
        </p:spPr>
        <p:txBody>
          <a:bodyPr wrap="squar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Nouvelles contraintes (Coloration de graphe).</a:t>
            </a:r>
            <a:endParaRPr lang="en-US" sz="950"/>
          </a:p>
        </p:txBody>
      </p:sp>
      <p:sp>
        <p:nvSpPr>
          <p:cNvPr id="13" name="Text 9"/>
          <p:cNvSpPr/>
          <p:nvPr/>
        </p:nvSpPr>
        <p:spPr>
          <a:xfrm>
            <a:off x="6336506" y="3123995"/>
            <a:ext cx="2041327" cy="180017"/>
          </a:xfrm>
          <a:prstGeom prst="rect">
            <a:avLst/>
          </a:prstGeom>
          <a:noFill/>
          <a:ln/>
        </p:spPr>
        <p:txBody>
          <a:bodyPr wrap="none" lIns="0" tIns="0" rIns="0" bIns="0" rtlCol="0" anchor="t">
            <a:spAutoFit/>
          </a:bodyPr>
          <a:lstStyle/>
          <a:p>
            <a:pPr marL="0" indent="0" algn="l">
              <a:lnSpc>
                <a:spcPct val="112000"/>
              </a:lnSpc>
              <a:buNone/>
            </a:pPr>
            <a:r>
              <a:rPr lang="en-US" sz="950">
                <a:solidFill>
                  <a:srgbClr val="222222"/>
                </a:solidFill>
                <a:latin typeface="Inter Medium" pitchFamily="34" charset="0"/>
                <a:ea typeface="Inter Medium" pitchFamily="34" charset="-122"/>
                <a:cs typeface="Inter Medium" pitchFamily="34" charset="-120"/>
              </a:rPr>
              <a:t>Déploiement Cloud (AWS/Azure).</a:t>
            </a:r>
            <a:endParaRPr lang="en-US" sz="950"/>
          </a:p>
        </p:txBody>
      </p:sp>
      <p:sp>
        <p:nvSpPr>
          <p:cNvPr id="14" name="Text 10"/>
          <p:cNvSpPr/>
          <p:nvPr/>
        </p:nvSpPr>
        <p:spPr>
          <a:xfrm>
            <a:off x="428625" y="4686300"/>
            <a:ext cx="8286750" cy="457200"/>
          </a:xfrm>
          <a:prstGeom prst="rect">
            <a:avLst/>
          </a:prstGeom>
          <a:noFill/>
          <a:ln/>
        </p:spPr>
        <p:txBody>
          <a:bodyPr wrap="square" lIns="0" tIns="0" rIns="0" bIns="0" rtlCol="0" anchor="t">
            <a:spAutoFit/>
          </a:bodyPr>
          <a:lstStyle/>
          <a:p>
            <a:pPr marL="0" indent="0" algn="ctr">
              <a:buNone/>
            </a:pPr>
            <a:r>
              <a:rPr lang="en-US" sz="2450" b="1">
                <a:solidFill>
                  <a:srgbClr val="000000"/>
                </a:solidFill>
                <a:latin typeface="Playfair Display Black" pitchFamily="34" charset="0"/>
                <a:ea typeface="Playfair Display Black" pitchFamily="34" charset="-122"/>
                <a:cs typeface="Playfair Display Black" pitchFamily="34" charset="-120"/>
              </a:rPr>
              <a:t>MERCI DE VOTRE ATTENTION</a:t>
            </a:r>
            <a:endParaRPr lang="en-US" sz="2450"/>
          </a:p>
        </p:txBody>
      </p:sp>
      <p:pic>
        <p:nvPicPr>
          <p:cNvPr id="2" name="Picture 1">
            <a:extLst>
              <a:ext uri="{FF2B5EF4-FFF2-40B4-BE49-F238E27FC236}">
                <a16:creationId xmlns:a16="http://schemas.microsoft.com/office/drawing/2014/main" id="{4547821A-F414-795B-2BB6-0F677871C157}"/>
              </a:ext>
            </a:extLst>
          </p:cNvPr>
          <p:cNvPicPr>
            <a:picLocks noChangeAspect="1"/>
          </p:cNvPicPr>
          <p:nvPr/>
        </p:nvPicPr>
        <p:blipFill>
          <a:blip r:embed="rId4"/>
          <a:stretch>
            <a:fillRect/>
          </a:stretch>
        </p:blipFill>
        <p:spPr>
          <a:xfrm>
            <a:off x="8471278" y="92003"/>
            <a:ext cx="558762" cy="558762"/>
          </a:xfrm>
          <a:prstGeom prst="rect">
            <a:avLst/>
          </a:prstGeom>
        </p:spPr>
      </p:pic>
      <p:pic>
        <p:nvPicPr>
          <p:cNvPr id="15" name="Picture 14">
            <a:extLst>
              <a:ext uri="{FF2B5EF4-FFF2-40B4-BE49-F238E27FC236}">
                <a16:creationId xmlns:a16="http://schemas.microsoft.com/office/drawing/2014/main" id="{C2232489-6F65-B950-30DB-CC6F64D976E5}"/>
              </a:ext>
            </a:extLst>
          </p:cNvPr>
          <p:cNvPicPr>
            <a:picLocks noChangeAspect="1"/>
          </p:cNvPicPr>
          <p:nvPr/>
        </p:nvPicPr>
        <p:blipFill>
          <a:blip r:embed="rId5"/>
          <a:stretch>
            <a:fillRect/>
          </a:stretch>
        </p:blipFill>
        <p:spPr>
          <a:xfrm>
            <a:off x="7857101" y="92003"/>
            <a:ext cx="439027" cy="55876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1195</Words>
  <Application>Microsoft Office PowerPoint</Application>
  <PresentationFormat>On-screen Show (16:9)</PresentationFormat>
  <Paragraphs>124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Inter Medium</vt:lpstr>
      <vt:lpstr>Arial</vt:lpstr>
      <vt:lpstr>Playfair Display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Faniriniaina Luciano Rabearimanana</cp:lastModifiedBy>
  <cp:revision>2</cp:revision>
  <dcterms:created xsi:type="dcterms:W3CDTF">2026-05-18T07:53:47Z</dcterms:created>
  <dcterms:modified xsi:type="dcterms:W3CDTF">2026-05-22T05:54:23Z</dcterms:modified>
</cp:coreProperties>
</file>