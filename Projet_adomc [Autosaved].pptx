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60805" autoAdjust="0"/>
  </p:normalViewPr>
  <p:slideViewPr>
    <p:cSldViewPr snapToGrid="0" snapToObjects="1">
      <p:cViewPr varScale="1">
        <p:scale>
          <a:sx n="78" d="100"/>
          <a:sy n="78" d="100"/>
        </p:scale>
        <p:origin x="153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508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Aujourd'hui, nous allons explorer une approche révolutionnaire pour résoudre les Problèmes de Satisfaction de Contraintes, ou CSP. Nous allons plonger dans le monde de Min-Conflicts, une méthode qui a changé la donne. Ce projet ADOMC met en lumière son efficacité et sa simplicité. Préparez-vous à découvrir comment cette technique peut résoudre des problèmes complexes avec une rapidité surprenante. Mais avant de parler de Min-Conflicts, comprenons d'abord ce qu'est un CSP.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Alors, qu'est-ce qu'un CSP ? C'est un problème fondamental en intelligence artificielle et en optimisation. Un CSP est défini par des variables, des domaines de valeurs possibles pour ces variables, et des contraintes que toutes ces variables doivent satisfaire simultanément. C'est un concept clé pour des applications variées, de la planification d'horaires aux jeux comme le Sudoku. Ces problèmes sont souvent NP-complets, ce qui signifie qu'ils sont très difficiles à résoudre de manière exhaustive. C'est là que Min-Conflicts entre en jeu, comme nous le verrons juste après.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que nous avons une idée des CSP, parlons de Min-Conflicts. C'est une méta-heuristique de recherche locale, très différente des méthodes systématiques comme le backtracking. L'idée est simple : on part d'une affectation complète des variables, même si elle est pleine de conflits. Ensuite, on procède par réparations itératives, en modifiant les valeurs pour réduire progressivement ces conflits. Cette approche est particulièrement efficace pour les problèmes de grande taille, car elle se concentre sur l'optimisation locale plutôt que sur une exploration exhaustive. Voyons comment cela fonctionne concrètement avec son pseudo-code.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cœur de l'algorithme Min-Conflicts. Il prend en entrée le problème CSP, un nombre maximal d'étapes, et un état initial. L'algorithme itère, cherchant à réduire les conflits. Si une solution est trouvée, il la retourne immédiatement. Le point crucial est qu'il choisit une variable aléatoire parmi celles en conflit. Puis, il lui assigne la valeur qui minimise le nombre de conflits avec les autres variables. Cette approche itérative et locale est ce qui rend Min-Conflicts si puissant. Nous allons maintenant détailler les trois points clés qui expliquent son efficacité.</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trois points sont essentiels pour comprendre pourquoi Min-Conflicts est si efficace. Premièrement, l'algorithme ne s'intéresse qu'aux variables en conflit. Il ne perd pas de temps sur les variables déjà bien placées, ce qui réduit considérablement l'espace de recherche. Deuxièmement, il vise une minimisation locale. À chaque étape, il choisit la meilleure valeur possible pour la variable sélectionnée, même si cela ne résout pas tous les conflits d'un coup. Enfin, l'aspect stochastique, avec le tirage aléatoire, est crucial. Cela permet à l'algorithme d'échapper aux minima locaux et d'explorer différentes parties de l'espace de recherche. Ces principes combinés expliquent pourquoi Min-Conflicts est si rapide, comme nous le verrons avec l'exemple des N-Reines.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vu comment Min-Conflicts fonctionne, voyons son incroyable efficacité. Cet algorithme a révolutionné la résolution de problèmes complexes, comme l'ordonnancement du télescope Hubble. Il est fascinant de voir comment une approche simple peut surpasser des méthodes plus traditionnelles. Pour le problème des N-Reines, Min-Conflicts trouve une solution pour un million de reines en seulement une de réaffectations. C'est un temps de résolution quasi-linéaire, ce qui est impensable pour d'autres algorithmes. Nous allons maintenant explorer les forces et les faiblesses de cette méthode.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que nous avons vu l'efficacité de Min-Conflicts, il est important de comprendre ses avantages et ses limites. D'un côté, il est ultra-rapide sur les problèmes denses en solutions et passe à l'échelle de manière impressionnante. Sa simplicité d'implémentation est aussi un atout majeur. Cependant, il ne garantit pas toujours une solution, car c'est un algorithme incomplet. Il est aussi très sensible à l'initialisation et peut échouer sur des problèmes mal structurés. Ces points sont cruciaux pour savoir quand l'utiliser. Voyons comment notre projet ADOMC utilise cet algorithme.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parlant de notre projet, nous avons développé une application qui rend Min-Conflicts visible et compréhensible. Notre application ADOMC offre une visualisation interactive de l'algorithme, notamment pour le problème des N-Reines. Vous pouvez configurer la grille, par exemple en 20x20, et voir l'algorithme réparer le problème en temps réel. Une timeline interactive permet de naviguer pas à pas dans les itérations, et des statistiques en direct montrent la diminution des conflits. C'est une façon concrète de comprendre un concept abstrait. Nous allons maintenant vous montrer la stack technique et une démonstration.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réaliser cette visualisation interactive, nous avons opté pour une stack technique moderne et efficace. Nous utilisons Python 3.11 avec Flask pour le moteur algorithmique et l'API REST, ce qui assure robustesse et communication asynchrone. Le frontend est développé en JavaScript Vanilla avec Particles.js, offrant une interface fluide et des visualisations dynamiques sans la lourdeur des frameworks. La timeline et les statistiques en temps réel sont des éléments clés de notre interface. Lors de la démonstration, nous allons configurer un échiquier 20x20, initialiser le problème, et vous verrez comment l'algorithme sélectionne la reine la plus attaquée et la déplace pour minimiser les conflits. Vous pourrez suivre la courbe de décroissance des conflits en direct. Passons maintenant à la démonstration.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Min-Conflicts a véritablement révolutionné la résolution de CSP en passant d'une approche systématique à une réparation locale aléatoire. Notre application ne se contente pas d'utiliser cet algorithme, elle le rend visible et compréhensible pour tous. L'objectif pédagogique est clair : transformer des concepts d'intelligence artificielle abstraits en une expérience concrète et interactive. Nous espérons que cette présentation vous a donné un aperçu clair de la puissance de Min-Conflicts et de l'innovation de notre projet ADOMC.</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591145"/>
            <a:ext cx="8001000" cy="191095"/>
          </a:xfrm>
          <a:prstGeom prst="rect">
            <a:avLst/>
          </a:prstGeom>
          <a:noFill/>
          <a:ln/>
        </p:spPr>
        <p:txBody>
          <a:bodyPr wrap="square" lIns="0" tIns="0" rIns="0" bIns="0" rtlCol="0" anchor="t">
            <a:spAutoFit/>
          </a:bodyPr>
          <a:lstStyle/>
          <a:p>
            <a:pPr marL="0" indent="0" algn="l">
              <a:buNone/>
            </a:pPr>
            <a:r>
              <a:rPr lang="en-US" sz="1100" b="1" dirty="0">
                <a:solidFill>
                  <a:srgbClr val="D90429"/>
                </a:solidFill>
                <a:latin typeface="Montserrat ExtraBold" pitchFamily="34" charset="0"/>
                <a:ea typeface="Montserrat ExtraBold" pitchFamily="34" charset="-122"/>
                <a:cs typeface="Montserrat ExtraBold" pitchFamily="34" charset="-120"/>
              </a:rPr>
              <a:t>PROJET ADOMC</a:t>
            </a:r>
            <a:endParaRPr lang="en-US" sz="1100" dirty="0"/>
          </a:p>
        </p:txBody>
      </p:sp>
      <p:sp>
        <p:nvSpPr>
          <p:cNvPr id="5" name="Text 1"/>
          <p:cNvSpPr/>
          <p:nvPr/>
        </p:nvSpPr>
        <p:spPr>
          <a:xfrm>
            <a:off x="571500" y="1050271"/>
            <a:ext cx="7143750" cy="1320115"/>
          </a:xfrm>
          <a:prstGeom prst="rect">
            <a:avLst/>
          </a:prstGeom>
          <a:noFill/>
          <a:ln/>
        </p:spPr>
        <p:txBody>
          <a:bodyPr wrap="square" lIns="0" tIns="0" rIns="0" bIns="0" rtlCol="0" anchor="t">
            <a:spAutoFit/>
          </a:bodyPr>
          <a:lstStyle/>
          <a:p>
            <a:pPr marL="0" indent="0" algn="l">
              <a:lnSpc>
                <a:spcPct val="88000"/>
              </a:lnSpc>
              <a:buNone/>
            </a:pPr>
            <a:r>
              <a:rPr lang="en-US" sz="2850" b="1" dirty="0">
                <a:solidFill>
                  <a:srgbClr val="0A192F"/>
                </a:solidFill>
                <a:latin typeface="Montserrat ExtraBold" pitchFamily="34" charset="0"/>
                <a:ea typeface="Montserrat ExtraBold" pitchFamily="34" charset="-122"/>
                <a:cs typeface="Montserrat ExtraBold" pitchFamily="34" charset="-120"/>
              </a:rPr>
              <a:t>MIN-CONFLICTS : UNE RÉVOLUTION DANS LA RÉSOLUTION DE CSP</a:t>
            </a:r>
            <a:endParaRPr lang="en-US" sz="2850" dirty="0"/>
          </a:p>
        </p:txBody>
      </p:sp>
      <p:sp>
        <p:nvSpPr>
          <p:cNvPr id="6" name="Text 2"/>
          <p:cNvSpPr/>
          <p:nvPr/>
        </p:nvSpPr>
        <p:spPr>
          <a:xfrm>
            <a:off x="571500" y="3020467"/>
            <a:ext cx="8001000" cy="220005"/>
          </a:xfrm>
          <a:prstGeom prst="rect">
            <a:avLst/>
          </a:prstGeom>
          <a:noFill/>
          <a:ln/>
        </p:spPr>
        <p:txBody>
          <a:bodyPr wrap="none" lIns="0" tIns="0" rIns="0" bIns="0" rtlCol="0" anchor="t">
            <a:spAutoFit/>
          </a:bodyPr>
          <a:lstStyle/>
          <a:p>
            <a:pPr marL="0" indent="0" algn="l">
              <a:lnSpc>
                <a:spcPct val="112000"/>
              </a:lnSpc>
              <a:buNone/>
            </a:pPr>
            <a:r>
              <a:rPr lang="en-US" sz="1150" dirty="0">
                <a:solidFill>
                  <a:srgbClr val="8D99AE"/>
                </a:solidFill>
                <a:latin typeface="Inter Light" pitchFamily="34" charset="0"/>
                <a:ea typeface="Inter Light" pitchFamily="34" charset="-122"/>
                <a:cs typeface="Inter Light" pitchFamily="34" charset="-120"/>
              </a:rPr>
              <a:t>Présenté par :</a:t>
            </a:r>
            <a:endParaRPr lang="en-US" sz="1150" dirty="0"/>
          </a:p>
        </p:txBody>
      </p:sp>
      <p:sp>
        <p:nvSpPr>
          <p:cNvPr id="7" name="Text 3"/>
          <p:cNvSpPr/>
          <p:nvPr/>
        </p:nvSpPr>
        <p:spPr>
          <a:xfrm>
            <a:off x="571500" y="3397634"/>
            <a:ext cx="3946922" cy="220005"/>
          </a:xfrm>
          <a:prstGeom prst="rect">
            <a:avLst/>
          </a:prstGeom>
          <a:noFill/>
          <a:ln/>
        </p:spPr>
        <p:txBody>
          <a:bodyPr wrap="none" lIns="0" tIns="0" rIns="0" bIns="0" rtlCol="0" anchor="t">
            <a:spAutoFit/>
          </a:bodyPr>
          <a:lstStyle/>
          <a:p>
            <a:pPr marL="0" indent="0" algn="l">
              <a:lnSpc>
                <a:spcPct val="112000"/>
              </a:lnSpc>
              <a:buNone/>
            </a:pPr>
            <a:r>
              <a:rPr lang="en-US" sz="1150" dirty="0">
                <a:solidFill>
                  <a:srgbClr val="0A192F"/>
                </a:solidFill>
                <a:latin typeface="Inter Light" pitchFamily="34" charset="0"/>
                <a:ea typeface="Inter Light" pitchFamily="34" charset="-122"/>
                <a:cs typeface="Inter Light" pitchFamily="34" charset="-120"/>
              </a:rPr>
              <a:t>2768 - ANDRIAMANANTENA Elvis Sylvano</a:t>
            </a:r>
            <a:endParaRPr lang="en-US" sz="1150" dirty="0"/>
          </a:p>
        </p:txBody>
      </p:sp>
      <p:sp>
        <p:nvSpPr>
          <p:cNvPr id="8" name="Text 4"/>
          <p:cNvSpPr/>
          <p:nvPr/>
        </p:nvSpPr>
        <p:spPr>
          <a:xfrm>
            <a:off x="4625578" y="3397634"/>
            <a:ext cx="3946922" cy="220005"/>
          </a:xfrm>
          <a:prstGeom prst="rect">
            <a:avLst/>
          </a:prstGeom>
          <a:noFill/>
          <a:ln/>
        </p:spPr>
        <p:txBody>
          <a:bodyPr wrap="none" lIns="0" tIns="0" rIns="0" bIns="0" rtlCol="0" anchor="t">
            <a:spAutoFit/>
          </a:bodyPr>
          <a:lstStyle/>
          <a:p>
            <a:pPr marL="0" indent="0" algn="l">
              <a:lnSpc>
                <a:spcPct val="112000"/>
              </a:lnSpc>
              <a:buNone/>
            </a:pPr>
            <a:r>
              <a:rPr lang="en-US" sz="1150" dirty="0">
                <a:solidFill>
                  <a:srgbClr val="0A192F"/>
                </a:solidFill>
                <a:latin typeface="Inter Light" pitchFamily="34" charset="0"/>
                <a:ea typeface="Inter Light" pitchFamily="34" charset="-122"/>
                <a:cs typeface="Inter Light" pitchFamily="34" charset="-120"/>
              </a:rPr>
              <a:t>2738 - TIDA Ratsaranjanahary Lauralien</a:t>
            </a:r>
            <a:endParaRPr lang="en-US" sz="1150" dirty="0"/>
          </a:p>
        </p:txBody>
      </p:sp>
      <p:sp>
        <p:nvSpPr>
          <p:cNvPr id="9" name="Text 5"/>
          <p:cNvSpPr/>
          <p:nvPr/>
        </p:nvSpPr>
        <p:spPr>
          <a:xfrm>
            <a:off x="571500" y="3724796"/>
            <a:ext cx="3946922" cy="440010"/>
          </a:xfrm>
          <a:prstGeom prst="rect">
            <a:avLst/>
          </a:prstGeom>
          <a:noFill/>
          <a:ln/>
        </p:spPr>
        <p:txBody>
          <a:bodyPr wrap="square" lIns="0" tIns="0" rIns="0" bIns="0" rtlCol="0" anchor="t">
            <a:spAutoFit/>
          </a:bodyPr>
          <a:lstStyle/>
          <a:p>
            <a:pPr marL="0" indent="0" algn="l">
              <a:lnSpc>
                <a:spcPct val="112000"/>
              </a:lnSpc>
              <a:buNone/>
            </a:pPr>
            <a:r>
              <a:rPr lang="en-US" sz="1150" dirty="0">
                <a:solidFill>
                  <a:srgbClr val="0A192F"/>
                </a:solidFill>
                <a:latin typeface="Inter Light" pitchFamily="34" charset="0"/>
                <a:ea typeface="Inter Light" pitchFamily="34" charset="-122"/>
                <a:cs typeface="Inter Light" pitchFamily="34" charset="-120"/>
              </a:rPr>
              <a:t>2754 - SAMUELSON RAHITAVOLA Chryswdell Jeannioh</a:t>
            </a:r>
            <a:endParaRPr lang="en-US" sz="1150" dirty="0"/>
          </a:p>
        </p:txBody>
      </p:sp>
      <p:sp>
        <p:nvSpPr>
          <p:cNvPr id="10" name="Text 6"/>
          <p:cNvSpPr/>
          <p:nvPr/>
        </p:nvSpPr>
        <p:spPr>
          <a:xfrm>
            <a:off x="4625578" y="3724796"/>
            <a:ext cx="3946922" cy="440010"/>
          </a:xfrm>
          <a:prstGeom prst="rect">
            <a:avLst/>
          </a:prstGeom>
          <a:noFill/>
          <a:ln/>
        </p:spPr>
        <p:txBody>
          <a:bodyPr wrap="square" lIns="0" tIns="0" rIns="0" bIns="0" rtlCol="0" anchor="t">
            <a:spAutoFit/>
          </a:bodyPr>
          <a:lstStyle/>
          <a:p>
            <a:pPr marL="0" indent="0" algn="l">
              <a:lnSpc>
                <a:spcPct val="112000"/>
              </a:lnSpc>
              <a:buNone/>
            </a:pPr>
            <a:r>
              <a:rPr lang="en-US" sz="1150" dirty="0">
                <a:solidFill>
                  <a:srgbClr val="0A192F"/>
                </a:solidFill>
                <a:latin typeface="Inter Light" pitchFamily="34" charset="0"/>
                <a:ea typeface="Inter Light" pitchFamily="34" charset="-122"/>
                <a:cs typeface="Inter Light" pitchFamily="34" charset="-120"/>
              </a:rPr>
              <a:t>2587 - RABEARIMANANA Faniriniaina Luciano</a:t>
            </a:r>
            <a:endParaRPr lang="en-US" sz="1150" dirty="0"/>
          </a:p>
        </p:txBody>
      </p:sp>
      <p:sp>
        <p:nvSpPr>
          <p:cNvPr id="11" name="Text 7"/>
          <p:cNvSpPr/>
          <p:nvPr/>
        </p:nvSpPr>
        <p:spPr>
          <a:xfrm>
            <a:off x="571500" y="4379119"/>
            <a:ext cx="8001000" cy="173236"/>
          </a:xfrm>
          <a:prstGeom prst="rect">
            <a:avLst/>
          </a:prstGeom>
          <a:noFill/>
          <a:ln/>
        </p:spPr>
        <p:txBody>
          <a:bodyPr wrap="square" lIns="0" tIns="0" rIns="0" bIns="0" rtlCol="0" anchor="t">
            <a:spAutoFit/>
          </a:bodyPr>
          <a:lstStyle/>
          <a:p>
            <a:pPr marL="0" indent="0" algn="l">
              <a:buNone/>
            </a:pPr>
            <a:r>
              <a:rPr lang="en-US" sz="1000" b="1" dirty="0">
                <a:solidFill>
                  <a:srgbClr val="0A192F"/>
                </a:solidFill>
                <a:latin typeface="Inter Light" pitchFamily="34" charset="0"/>
                <a:ea typeface="Inter Light" pitchFamily="34" charset="-122"/>
                <a:cs typeface="Inter Light" pitchFamily="34" charset="-120"/>
              </a:rPr>
              <a:t>MAI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714375" y="920400"/>
            <a:ext cx="4457700" cy="835819"/>
          </a:xfrm>
          <a:prstGeom prst="rect">
            <a:avLst/>
          </a:prstGeom>
          <a:noFill/>
          <a:ln/>
        </p:spPr>
        <p:txBody>
          <a:bodyPr wrap="square" lIns="0" tIns="0" rIns="0" bIns="0" rtlCol="0" anchor="t">
            <a:spAutoFit/>
          </a:bodyPr>
          <a:lstStyle/>
          <a:p>
            <a:pPr marL="0" indent="0" algn="l">
              <a:buNone/>
            </a:pPr>
            <a:r>
              <a:rPr lang="en-US" sz="2450" b="1" dirty="0">
                <a:solidFill>
                  <a:srgbClr val="0A192F"/>
                </a:solidFill>
                <a:latin typeface="Montserrat ExtraBold" pitchFamily="34" charset="0"/>
                <a:ea typeface="Montserrat ExtraBold" pitchFamily="34" charset="-122"/>
                <a:cs typeface="Montserrat ExtraBold" pitchFamily="34" charset="-120"/>
              </a:rPr>
              <a:t>INTRODUCTION AUX CSP</a:t>
            </a:r>
            <a:endParaRPr lang="en-US" sz="2450" dirty="0"/>
          </a:p>
        </p:txBody>
      </p:sp>
      <p:sp>
        <p:nvSpPr>
          <p:cNvPr id="5" name="Text 1"/>
          <p:cNvSpPr/>
          <p:nvPr/>
        </p:nvSpPr>
        <p:spPr>
          <a:xfrm>
            <a:off x="714375" y="2027681"/>
            <a:ext cx="4457700" cy="822927"/>
          </a:xfrm>
          <a:prstGeom prst="rect">
            <a:avLst/>
          </a:prstGeom>
          <a:noFill/>
          <a:ln/>
        </p:spPr>
        <p:txBody>
          <a:bodyPr wrap="square" lIns="0" tIns="0" rIns="0" bIns="0" rtlCol="0" anchor="t">
            <a:spAutoFit/>
          </a:bodyPr>
          <a:lstStyle/>
          <a:p>
            <a:pPr marL="0" indent="0" algn="l">
              <a:lnSpc>
                <a:spcPct val="128000"/>
              </a:lnSpc>
              <a:buNone/>
            </a:pPr>
            <a:r>
              <a:rPr lang="en-US" sz="1250" dirty="0">
                <a:solidFill>
                  <a:srgbClr val="8D99AE"/>
                </a:solidFill>
                <a:latin typeface="Inter Light" pitchFamily="34" charset="0"/>
                <a:ea typeface="Inter Light" pitchFamily="34" charset="-122"/>
                <a:cs typeface="Inter Light" pitchFamily="34" charset="-120"/>
              </a:rPr>
              <a:t>Un </a:t>
            </a:r>
            <a:r>
              <a:rPr lang="en-US" sz="1200" b="1" dirty="0">
                <a:solidFill>
                  <a:srgbClr val="0A192F"/>
                </a:solidFill>
                <a:latin typeface="Inter Light" pitchFamily="34" charset="0"/>
                <a:ea typeface="Inter Light" pitchFamily="34" charset="-122"/>
                <a:cs typeface="Inter Light" pitchFamily="34" charset="-120"/>
              </a:rPr>
              <a:t>Problème de Satisfaction de Contraintes (CSP)</a:t>
            </a:r>
            <a:r>
              <a:rPr lang="en-US" sz="1250" dirty="0">
                <a:solidFill>
                  <a:srgbClr val="8D99AE"/>
                </a:solidFill>
                <a:latin typeface="Inter Light" pitchFamily="34" charset="0"/>
                <a:ea typeface="Inter Light" pitchFamily="34" charset="-122"/>
                <a:cs typeface="Inter Light" pitchFamily="34" charset="-120"/>
              </a:rPr>
              <a:t> est défini par un ensemble de variables, de domaines et de contraintes à satisfaire simultanément.</a:t>
            </a:r>
            <a:endParaRPr lang="en-US" sz="1250" dirty="0"/>
          </a:p>
        </p:txBody>
      </p:sp>
      <p:sp>
        <p:nvSpPr>
          <p:cNvPr id="6" name="Text 2"/>
          <p:cNvSpPr/>
          <p:nvPr/>
        </p:nvSpPr>
        <p:spPr>
          <a:xfrm>
            <a:off x="714375" y="3136357"/>
            <a:ext cx="4457700" cy="822927"/>
          </a:xfrm>
          <a:prstGeom prst="rect">
            <a:avLst/>
          </a:prstGeom>
          <a:noFill/>
          <a:ln/>
        </p:spPr>
        <p:txBody>
          <a:bodyPr wrap="square" lIns="0" tIns="0" rIns="0" bIns="0" rtlCol="0" anchor="t">
            <a:spAutoFit/>
          </a:bodyPr>
          <a:lstStyle/>
          <a:p>
            <a:pPr marL="0" indent="0" algn="l">
              <a:lnSpc>
                <a:spcPct val="128000"/>
              </a:lnSpc>
              <a:buNone/>
            </a:pPr>
            <a:r>
              <a:rPr lang="en-US" sz="1250" dirty="0">
                <a:solidFill>
                  <a:srgbClr val="8D99AE"/>
                </a:solidFill>
                <a:latin typeface="Inter Light" pitchFamily="34" charset="0"/>
                <a:ea typeface="Inter Light" pitchFamily="34" charset="-122"/>
                <a:cs typeface="Inter Light" pitchFamily="34" charset="-120"/>
              </a:rPr>
              <a:t>C'est un pilier fondamental de l'optimisation combinatoire et de l'intelligence artificielle décisionnelle.</a:t>
            </a:r>
            <a:endParaRPr lang="en-US" sz="1250" dirty="0"/>
          </a:p>
        </p:txBody>
      </p:sp>
      <p:sp>
        <p:nvSpPr>
          <p:cNvPr id="7" name="Shape 3"/>
          <p:cNvSpPr/>
          <p:nvPr/>
        </p:nvSpPr>
        <p:spPr>
          <a:xfrm>
            <a:off x="714375" y="4530784"/>
            <a:ext cx="3177183" cy="316111"/>
          </a:xfrm>
          <a:prstGeom prst="rect">
            <a:avLst/>
          </a:prstGeom>
          <a:solidFill>
            <a:srgbClr val="0A192F"/>
          </a:solidFill>
          <a:ln/>
        </p:spPr>
      </p:sp>
      <p:sp>
        <p:nvSpPr>
          <p:cNvPr id="8" name="Text 4"/>
          <p:cNvSpPr/>
          <p:nvPr/>
        </p:nvSpPr>
        <p:spPr>
          <a:xfrm>
            <a:off x="714375" y="4530784"/>
            <a:ext cx="3177183" cy="316111"/>
          </a:xfrm>
          <a:prstGeom prst="rect">
            <a:avLst/>
          </a:prstGeom>
          <a:noFill/>
          <a:ln/>
        </p:spPr>
        <p:txBody>
          <a:bodyPr wrap="square" lIns="170053" tIns="85090" rIns="170053" bIns="85090" rtlCol="0" anchor="t">
            <a:spAutoFit/>
          </a:bodyPr>
          <a:lstStyle/>
          <a:p>
            <a:pPr marL="0" indent="0" algn="l">
              <a:buNone/>
            </a:pPr>
            <a:r>
              <a:rPr lang="en-US" sz="1000" b="1" dirty="0">
                <a:solidFill>
                  <a:srgbClr val="FFFFFF"/>
                </a:solidFill>
                <a:latin typeface="Montserrat ExtraBold" pitchFamily="34" charset="0"/>
                <a:ea typeface="Montserrat ExtraBold" pitchFamily="34" charset="-122"/>
                <a:cs typeface="Montserrat ExtraBold" pitchFamily="34" charset="-120"/>
              </a:rPr>
              <a:t>COMPLEXITÉ : SOUVENT NP-COMPLET</a:t>
            </a:r>
            <a:endParaRPr lang="en-US" sz="1000" dirty="0"/>
          </a:p>
        </p:txBody>
      </p:sp>
      <p:pic>
        <p:nvPicPr>
          <p:cNvPr id="9" name="Image 1" descr="preencoded.png"/>
          <p:cNvPicPr>
            <a:picLocks noChangeAspect="1"/>
          </p:cNvPicPr>
          <p:nvPr/>
        </p:nvPicPr>
        <p:blipFill>
          <a:blip r:embed="rId4"/>
          <a:stretch>
            <a:fillRect/>
          </a:stretch>
        </p:blipFill>
        <p:spPr>
          <a:xfrm>
            <a:off x="5457825" y="636687"/>
            <a:ext cx="214313" cy="171450"/>
          </a:xfrm>
          <a:prstGeom prst="rect">
            <a:avLst/>
          </a:prstGeom>
        </p:spPr>
      </p:pic>
      <p:sp>
        <p:nvSpPr>
          <p:cNvPr id="10" name="Text 5"/>
          <p:cNvSpPr/>
          <p:nvPr/>
        </p:nvSpPr>
        <p:spPr>
          <a:xfrm>
            <a:off x="5815013" y="635794"/>
            <a:ext cx="1514475" cy="173236"/>
          </a:xfrm>
          <a:prstGeom prst="rect">
            <a:avLst/>
          </a:prstGeom>
          <a:noFill/>
          <a:ln/>
        </p:spPr>
        <p:txBody>
          <a:bodyPr wrap="square" lIns="0" tIns="0" rIns="0" bIns="0" rtlCol="0" anchor="t">
            <a:spAutoFit/>
          </a:bodyPr>
          <a:lstStyle/>
          <a:p>
            <a:pPr marL="0" indent="0" algn="l">
              <a:buNone/>
            </a:pPr>
            <a:r>
              <a:rPr lang="en-US" sz="1050" dirty="0">
                <a:solidFill>
                  <a:srgbClr val="8D99AE"/>
                </a:solidFill>
                <a:latin typeface="Inter Light" pitchFamily="34" charset="0"/>
                <a:ea typeface="Inter Light" pitchFamily="34" charset="-122"/>
                <a:cs typeface="Inter Light" pitchFamily="34" charset="-120"/>
              </a:rPr>
              <a:t>Planification d'horaires</a:t>
            </a:r>
            <a:endParaRPr lang="en-US" sz="1050" dirty="0"/>
          </a:p>
        </p:txBody>
      </p:sp>
      <p:pic>
        <p:nvPicPr>
          <p:cNvPr id="11" name="Image 2" descr="preencoded.png"/>
          <p:cNvPicPr>
            <a:picLocks noChangeAspect="1"/>
          </p:cNvPicPr>
          <p:nvPr/>
        </p:nvPicPr>
        <p:blipFill>
          <a:blip r:embed="rId5"/>
          <a:stretch>
            <a:fillRect/>
          </a:stretch>
        </p:blipFill>
        <p:spPr>
          <a:xfrm>
            <a:off x="5457825" y="988516"/>
            <a:ext cx="214313" cy="171450"/>
          </a:xfrm>
          <a:prstGeom prst="rect">
            <a:avLst/>
          </a:prstGeom>
        </p:spPr>
      </p:pic>
      <p:sp>
        <p:nvSpPr>
          <p:cNvPr id="12" name="Text 6"/>
          <p:cNvSpPr/>
          <p:nvPr/>
        </p:nvSpPr>
        <p:spPr>
          <a:xfrm>
            <a:off x="5815013" y="987623"/>
            <a:ext cx="1635919" cy="173236"/>
          </a:xfrm>
          <a:prstGeom prst="rect">
            <a:avLst/>
          </a:prstGeom>
          <a:noFill/>
          <a:ln/>
        </p:spPr>
        <p:txBody>
          <a:bodyPr wrap="square" lIns="0" tIns="0" rIns="0" bIns="0" rtlCol="0" anchor="t">
            <a:spAutoFit/>
          </a:bodyPr>
          <a:lstStyle/>
          <a:p>
            <a:pPr marL="0" indent="0" algn="l">
              <a:buNone/>
            </a:pPr>
            <a:r>
              <a:rPr lang="en-US" sz="1050" dirty="0">
                <a:solidFill>
                  <a:srgbClr val="8D99AE"/>
                </a:solidFill>
                <a:latin typeface="Inter Light" pitchFamily="34" charset="0"/>
                <a:ea typeface="Inter Light" pitchFamily="34" charset="-122"/>
                <a:cs typeface="Inter Light" pitchFamily="34" charset="-120"/>
              </a:rPr>
              <a:t>Allocation de ressources</a:t>
            </a:r>
            <a:endParaRPr lang="en-US" sz="1050" dirty="0"/>
          </a:p>
        </p:txBody>
      </p:sp>
      <p:pic>
        <p:nvPicPr>
          <p:cNvPr id="13" name="Image 3" descr="preencoded.png"/>
          <p:cNvPicPr>
            <a:picLocks noChangeAspect="1"/>
          </p:cNvPicPr>
          <p:nvPr/>
        </p:nvPicPr>
        <p:blipFill>
          <a:blip r:embed="rId6"/>
          <a:stretch>
            <a:fillRect/>
          </a:stretch>
        </p:blipFill>
        <p:spPr>
          <a:xfrm>
            <a:off x="5457825" y="1340346"/>
            <a:ext cx="214313" cy="171450"/>
          </a:xfrm>
          <a:prstGeom prst="rect">
            <a:avLst/>
          </a:prstGeom>
        </p:spPr>
      </p:pic>
      <p:sp>
        <p:nvSpPr>
          <p:cNvPr id="14" name="Text 7"/>
          <p:cNvSpPr/>
          <p:nvPr/>
        </p:nvSpPr>
        <p:spPr>
          <a:xfrm>
            <a:off x="5815013" y="1339453"/>
            <a:ext cx="1666280" cy="173236"/>
          </a:xfrm>
          <a:prstGeom prst="rect">
            <a:avLst/>
          </a:prstGeom>
          <a:noFill/>
          <a:ln/>
        </p:spPr>
        <p:txBody>
          <a:bodyPr wrap="square" lIns="0" tIns="0" rIns="0" bIns="0" rtlCol="0" anchor="t">
            <a:spAutoFit/>
          </a:bodyPr>
          <a:lstStyle/>
          <a:p>
            <a:pPr marL="0" indent="0" algn="l">
              <a:buNone/>
            </a:pPr>
            <a:r>
              <a:rPr lang="en-US" sz="1050" dirty="0">
                <a:solidFill>
                  <a:srgbClr val="8D99AE"/>
                </a:solidFill>
                <a:latin typeface="Inter Light" pitchFamily="34" charset="0"/>
                <a:ea typeface="Inter Light" pitchFamily="34" charset="-122"/>
                <a:cs typeface="Inter Light" pitchFamily="34" charset="-120"/>
              </a:rPr>
              <a:t>Jeux (Sudoku, N-Reines)</a:t>
            </a:r>
            <a:endParaRPr lang="en-US" sz="1050" dirty="0"/>
          </a:p>
        </p:txBody>
      </p:sp>
      <p:pic>
        <p:nvPicPr>
          <p:cNvPr id="15" name="Image 4" descr="preencoded.png"/>
          <p:cNvPicPr>
            <a:picLocks noChangeAspect="1"/>
          </p:cNvPicPr>
          <p:nvPr/>
        </p:nvPicPr>
        <p:blipFill>
          <a:blip r:embed="rId7"/>
          <a:stretch>
            <a:fillRect/>
          </a:stretch>
        </p:blipFill>
        <p:spPr>
          <a:xfrm>
            <a:off x="5457825" y="1692176"/>
            <a:ext cx="214313" cy="171450"/>
          </a:xfrm>
          <a:prstGeom prst="rect">
            <a:avLst/>
          </a:prstGeom>
        </p:spPr>
      </p:pic>
      <p:sp>
        <p:nvSpPr>
          <p:cNvPr id="16" name="Text 8"/>
          <p:cNvSpPr/>
          <p:nvPr/>
        </p:nvSpPr>
        <p:spPr>
          <a:xfrm>
            <a:off x="5815013" y="1691283"/>
            <a:ext cx="1664494" cy="173236"/>
          </a:xfrm>
          <a:prstGeom prst="rect">
            <a:avLst/>
          </a:prstGeom>
          <a:noFill/>
          <a:ln/>
        </p:spPr>
        <p:txBody>
          <a:bodyPr wrap="square" lIns="0" tIns="0" rIns="0" bIns="0" rtlCol="0" anchor="t">
            <a:spAutoFit/>
          </a:bodyPr>
          <a:lstStyle/>
          <a:p>
            <a:pPr marL="0" indent="0" algn="l">
              <a:buNone/>
            </a:pPr>
            <a:r>
              <a:rPr lang="en-US" sz="1050" dirty="0">
                <a:solidFill>
                  <a:srgbClr val="8D99AE"/>
                </a:solidFill>
                <a:latin typeface="Inter Light" pitchFamily="34" charset="0"/>
                <a:ea typeface="Inter Light" pitchFamily="34" charset="-122"/>
                <a:cs typeface="Inter Light" pitchFamily="34" charset="-120"/>
              </a:rPr>
              <a:t>Configuration industrielle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714375" y="734662"/>
            <a:ext cx="4086225" cy="754335"/>
          </a:xfrm>
          <a:prstGeom prst="rect">
            <a:avLst/>
          </a:prstGeom>
          <a:noFill/>
          <a:ln/>
        </p:spPr>
        <p:txBody>
          <a:bodyPr wrap="square" lIns="0" tIns="0" rIns="0" bIns="0" rtlCol="0" anchor="t">
            <a:spAutoFit/>
          </a:bodyPr>
          <a:lstStyle/>
          <a:p>
            <a:pPr marL="0" indent="0" algn="l">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QU'EST-CE QUE MIN-CONFLICTS ?</a:t>
            </a:r>
            <a:endParaRPr lang="en-US" sz="2450" dirty="0"/>
          </a:p>
        </p:txBody>
      </p:sp>
      <p:sp>
        <p:nvSpPr>
          <p:cNvPr id="5" name="Text 1"/>
          <p:cNvSpPr/>
          <p:nvPr/>
        </p:nvSpPr>
        <p:spPr>
          <a:xfrm>
            <a:off x="714375" y="1746172"/>
            <a:ext cx="4086225" cy="1005818"/>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8D99AE"/>
                </a:solidFill>
                <a:latin typeface="Inter Light" pitchFamily="34" charset="0"/>
                <a:ea typeface="Inter Light" pitchFamily="34" charset="-122"/>
                <a:cs typeface="Inter Light" pitchFamily="34" charset="-120"/>
              </a:rPr>
              <a:t>C'est une </a:t>
            </a:r>
            <a:r>
              <a:rPr lang="en-US" sz="1100" b="1" dirty="0">
                <a:solidFill>
                  <a:srgbClr val="0A192F"/>
                </a:solidFill>
                <a:latin typeface="Inter Light" pitchFamily="34" charset="0"/>
                <a:ea typeface="Inter Light" pitchFamily="34" charset="-122"/>
                <a:cs typeface="Inter Light" pitchFamily="34" charset="-120"/>
              </a:rPr>
              <a:t>méta-heuristique de recherche locale</a:t>
            </a:r>
            <a:r>
              <a:rPr lang="en-US" sz="1150" dirty="0">
                <a:solidFill>
                  <a:srgbClr val="8D99AE"/>
                </a:solidFill>
                <a:latin typeface="Inter Light" pitchFamily="34" charset="0"/>
                <a:ea typeface="Inter Light" pitchFamily="34" charset="-122"/>
                <a:cs typeface="Inter Light" pitchFamily="34" charset="-120"/>
              </a:rPr>
              <a:t> pour les CSP. Contrairement aux approches systématiques, elle privilégie la rapidité et l'efficacité sur des problèmes de grande taille.</a:t>
            </a:r>
            <a:endParaRPr lang="en-US" sz="1150" dirty="0"/>
          </a:p>
        </p:txBody>
      </p:sp>
      <p:sp>
        <p:nvSpPr>
          <p:cNvPr id="6" name="Shape 2"/>
          <p:cNvSpPr/>
          <p:nvPr/>
        </p:nvSpPr>
        <p:spPr>
          <a:xfrm>
            <a:off x="714375" y="2894865"/>
            <a:ext cx="4086225" cy="414338"/>
          </a:xfrm>
          <a:prstGeom prst="rect">
            <a:avLst/>
          </a:prstGeom>
          <a:solidFill>
            <a:srgbClr val="0A192F"/>
          </a:solidFill>
          <a:ln/>
        </p:spPr>
      </p:sp>
      <p:sp>
        <p:nvSpPr>
          <p:cNvPr id="7" name="Text 3"/>
          <p:cNvSpPr/>
          <p:nvPr/>
        </p:nvSpPr>
        <p:spPr>
          <a:xfrm>
            <a:off x="714375" y="2894865"/>
            <a:ext cx="4086225" cy="414338"/>
          </a:xfrm>
          <a:prstGeom prst="rect">
            <a:avLst/>
          </a:prstGeom>
          <a:noFill/>
          <a:ln/>
        </p:spPr>
        <p:txBody>
          <a:bodyPr wrap="square" lIns="153035" tIns="153035" rIns="153035" bIns="153035" rtlCol="0" anchor="t">
            <a:spAutoFit/>
          </a:bodyPr>
          <a:lstStyle/>
          <a:p>
            <a:pPr marL="0" indent="0" algn="ctr">
              <a:buNone/>
            </a:pPr>
            <a:r>
              <a:rPr lang="en-US" sz="900" b="1" dirty="0">
                <a:solidFill>
                  <a:srgbClr val="FFFFFF"/>
                </a:solidFill>
                <a:latin typeface="Montserrat ExtraBold" pitchFamily="34" charset="0"/>
                <a:ea typeface="Montserrat ExtraBold" pitchFamily="34" charset="-122"/>
                <a:cs typeface="Montserrat ExtraBold" pitchFamily="34" charset="-120"/>
              </a:rPr>
              <a:t>NE PAS CONFONDRE AVEC LE BACKTRACKING</a:t>
            </a:r>
            <a:endParaRPr lang="en-US" sz="900" dirty="0"/>
          </a:p>
        </p:txBody>
      </p:sp>
      <p:sp>
        <p:nvSpPr>
          <p:cNvPr id="8" name="Text 4"/>
          <p:cNvSpPr/>
          <p:nvPr/>
        </p:nvSpPr>
        <p:spPr>
          <a:xfrm>
            <a:off x="5086350" y="514350"/>
            <a:ext cx="3343275" cy="173236"/>
          </a:xfrm>
          <a:prstGeom prst="rect">
            <a:avLst/>
          </a:prstGeom>
          <a:noFill/>
          <a:ln/>
        </p:spPr>
        <p:txBody>
          <a:bodyPr wrap="square" lIns="0" tIns="0" rIns="0" bIns="0" rtlCol="0" anchor="t">
            <a:spAutoFit/>
          </a:bodyPr>
          <a:lstStyle/>
          <a:p>
            <a:pPr marL="0" indent="0" algn="l">
              <a:buNone/>
            </a:pPr>
            <a:r>
              <a:rPr lang="en-US" sz="1000" b="1" dirty="0">
                <a:solidFill>
                  <a:srgbClr val="D90429"/>
                </a:solidFill>
                <a:latin typeface="Montserrat ExtraBold" pitchFamily="34" charset="0"/>
                <a:ea typeface="Montserrat ExtraBold" pitchFamily="34" charset="-122"/>
                <a:cs typeface="Montserrat ExtraBold" pitchFamily="34" charset="-120"/>
              </a:rPr>
              <a:t>AFFECTATION COMPLÈTE</a:t>
            </a:r>
            <a:endParaRPr lang="en-US" sz="1000" dirty="0"/>
          </a:p>
        </p:txBody>
      </p:sp>
      <p:sp>
        <p:nvSpPr>
          <p:cNvPr id="9" name="Text 5"/>
          <p:cNvSpPr/>
          <p:nvPr/>
        </p:nvSpPr>
        <p:spPr>
          <a:xfrm>
            <a:off x="5086350" y="744736"/>
            <a:ext cx="3343275" cy="310753"/>
          </a:xfrm>
          <a:prstGeom prst="rect">
            <a:avLst/>
          </a:prstGeom>
          <a:noFill/>
          <a:ln/>
        </p:spPr>
        <p:txBody>
          <a:bodyPr wrap="square" lIns="0" tIns="0" rIns="0" bIns="0" rtlCol="0" anchor="t">
            <a:spAutoFit/>
          </a:bodyPr>
          <a:lstStyle/>
          <a:p>
            <a:pPr marL="0" indent="0" algn="l">
              <a:buNone/>
            </a:pPr>
            <a:r>
              <a:rPr lang="en-US" sz="950" dirty="0">
                <a:solidFill>
                  <a:srgbClr val="8D99AE"/>
                </a:solidFill>
                <a:latin typeface="Inter Light" pitchFamily="34" charset="0"/>
                <a:ea typeface="Inter Light" pitchFamily="34" charset="-122"/>
                <a:cs typeface="Inter Light" pitchFamily="34" charset="-120"/>
              </a:rPr>
              <a:t>On part d'un état où toutes les variables ont une valeur (souvent aléatoire ou gloutonne).</a:t>
            </a:r>
            <a:endParaRPr lang="en-US" sz="950" dirty="0"/>
          </a:p>
        </p:txBody>
      </p:sp>
      <p:sp>
        <p:nvSpPr>
          <p:cNvPr id="10" name="Text 6"/>
          <p:cNvSpPr/>
          <p:nvPr/>
        </p:nvSpPr>
        <p:spPr>
          <a:xfrm>
            <a:off x="5086350" y="1291233"/>
            <a:ext cx="3343275" cy="173236"/>
          </a:xfrm>
          <a:prstGeom prst="rect">
            <a:avLst/>
          </a:prstGeom>
          <a:noFill/>
          <a:ln/>
        </p:spPr>
        <p:txBody>
          <a:bodyPr wrap="square" lIns="0" tIns="0" rIns="0" bIns="0" rtlCol="0" anchor="t">
            <a:spAutoFit/>
          </a:bodyPr>
          <a:lstStyle/>
          <a:p>
            <a:pPr marL="0" indent="0" algn="l">
              <a:buNone/>
            </a:pPr>
            <a:r>
              <a:rPr lang="en-US" sz="1000" b="1" dirty="0">
                <a:solidFill>
                  <a:srgbClr val="D90429"/>
                </a:solidFill>
                <a:latin typeface="Montserrat ExtraBold" pitchFamily="34" charset="0"/>
                <a:ea typeface="Montserrat ExtraBold" pitchFamily="34" charset="-122"/>
                <a:cs typeface="Montserrat ExtraBold" pitchFamily="34" charset="-120"/>
              </a:rPr>
              <a:t>RÉPARATION ITÉRATIVE</a:t>
            </a:r>
            <a:endParaRPr lang="en-US" sz="1000" dirty="0"/>
          </a:p>
        </p:txBody>
      </p:sp>
      <p:sp>
        <p:nvSpPr>
          <p:cNvPr id="11" name="Text 7"/>
          <p:cNvSpPr/>
          <p:nvPr/>
        </p:nvSpPr>
        <p:spPr>
          <a:xfrm>
            <a:off x="5086350" y="1521619"/>
            <a:ext cx="3343275" cy="310753"/>
          </a:xfrm>
          <a:prstGeom prst="rect">
            <a:avLst/>
          </a:prstGeom>
          <a:noFill/>
          <a:ln/>
        </p:spPr>
        <p:txBody>
          <a:bodyPr wrap="square" lIns="0" tIns="0" rIns="0" bIns="0" rtlCol="0" anchor="t">
            <a:spAutoFit/>
          </a:bodyPr>
          <a:lstStyle/>
          <a:p>
            <a:pPr marL="0" indent="0" algn="l">
              <a:buNone/>
            </a:pPr>
            <a:r>
              <a:rPr lang="en-US" sz="950" dirty="0">
                <a:solidFill>
                  <a:srgbClr val="8D99AE"/>
                </a:solidFill>
                <a:latin typeface="Inter Light" pitchFamily="34" charset="0"/>
                <a:ea typeface="Inter Light" pitchFamily="34" charset="-122"/>
                <a:cs typeface="Inter Light" pitchFamily="34" charset="-120"/>
              </a:rPr>
              <a:t>L'algorithme modifie les valeurs pour réduire progressivement le nombre de conflits.</a:t>
            </a:r>
            <a:endParaRPr lang="en-US" sz="950" dirty="0"/>
          </a:p>
        </p:txBody>
      </p:sp>
      <p:sp>
        <p:nvSpPr>
          <p:cNvPr id="12" name="Text 8"/>
          <p:cNvSpPr/>
          <p:nvPr/>
        </p:nvSpPr>
        <p:spPr>
          <a:xfrm>
            <a:off x="5086350" y="2068116"/>
            <a:ext cx="3343275" cy="173236"/>
          </a:xfrm>
          <a:prstGeom prst="rect">
            <a:avLst/>
          </a:prstGeom>
          <a:noFill/>
          <a:ln/>
        </p:spPr>
        <p:txBody>
          <a:bodyPr wrap="square" lIns="0" tIns="0" rIns="0" bIns="0" rtlCol="0" anchor="t">
            <a:spAutoFit/>
          </a:bodyPr>
          <a:lstStyle/>
          <a:p>
            <a:pPr marL="0" indent="0" algn="l">
              <a:buNone/>
            </a:pPr>
            <a:r>
              <a:rPr lang="en-US" sz="1000" b="1" dirty="0">
                <a:solidFill>
                  <a:srgbClr val="D90429"/>
                </a:solidFill>
                <a:latin typeface="Montserrat ExtraBold" pitchFamily="34" charset="0"/>
                <a:ea typeface="Montserrat ExtraBold" pitchFamily="34" charset="-122"/>
                <a:cs typeface="Montserrat ExtraBold" pitchFamily="34" charset="-120"/>
              </a:rPr>
              <a:t>OPTIMISATION LOCALE</a:t>
            </a:r>
            <a:endParaRPr lang="en-US" sz="1000" dirty="0"/>
          </a:p>
        </p:txBody>
      </p:sp>
      <p:sp>
        <p:nvSpPr>
          <p:cNvPr id="13" name="Text 9"/>
          <p:cNvSpPr/>
          <p:nvPr/>
        </p:nvSpPr>
        <p:spPr>
          <a:xfrm>
            <a:off x="5086350" y="2298502"/>
            <a:ext cx="3343275" cy="310753"/>
          </a:xfrm>
          <a:prstGeom prst="rect">
            <a:avLst/>
          </a:prstGeom>
          <a:noFill/>
          <a:ln/>
        </p:spPr>
        <p:txBody>
          <a:bodyPr wrap="square" lIns="0" tIns="0" rIns="0" bIns="0" rtlCol="0" anchor="t">
            <a:spAutoFit/>
          </a:bodyPr>
          <a:lstStyle/>
          <a:p>
            <a:pPr marL="0" indent="0" algn="l">
              <a:buNone/>
            </a:pPr>
            <a:r>
              <a:rPr lang="en-US" sz="950" dirty="0">
                <a:solidFill>
                  <a:srgbClr val="8D99AE"/>
                </a:solidFill>
                <a:latin typeface="Inter Light" pitchFamily="34" charset="0"/>
                <a:ea typeface="Inter Light" pitchFamily="34" charset="-122"/>
                <a:cs typeface="Inter Light" pitchFamily="34" charset="-120"/>
              </a:rPr>
              <a:t>Chaque étape vise à améliorer localement l'état actuel sans explorer tout l'arbre de recherche.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4923"/>
          </a:xfrm>
          <a:prstGeom prst="rect">
            <a:avLst/>
          </a:prstGeom>
        </p:spPr>
      </p:pic>
      <p:sp>
        <p:nvSpPr>
          <p:cNvPr id="4" name="Text 0"/>
          <p:cNvSpPr/>
          <p:nvPr/>
        </p:nvSpPr>
        <p:spPr>
          <a:xfrm>
            <a:off x="285750" y="594354"/>
            <a:ext cx="5057775" cy="314325"/>
          </a:xfrm>
          <a:prstGeom prst="rect">
            <a:avLst/>
          </a:prstGeom>
          <a:noFill/>
          <a:ln/>
        </p:spPr>
        <p:txBody>
          <a:bodyPr wrap="none" lIns="0" tIns="0" rIns="0" bIns="0" rtlCol="0" anchor="t">
            <a:spAutoFit/>
          </a:bodyPr>
          <a:lstStyle/>
          <a:p>
            <a:pPr marL="0" indent="0" algn="l">
              <a:lnSpc>
                <a:spcPct val="88000"/>
              </a:lnSpc>
              <a:buNone/>
            </a:pPr>
            <a:r>
              <a:rPr lang="en-US" sz="2000" b="1" dirty="0">
                <a:solidFill>
                  <a:srgbClr val="0A192F"/>
                </a:solidFill>
                <a:latin typeface="Montserrat ExtraBold" pitchFamily="34" charset="0"/>
                <a:ea typeface="Montserrat ExtraBold" pitchFamily="34" charset="-122"/>
                <a:cs typeface="Montserrat ExtraBold" pitchFamily="34" charset="-120"/>
              </a:rPr>
              <a:t>IMPLÉMENTATION PYTHON</a:t>
            </a:r>
            <a:endParaRPr lang="en-US" sz="2000" dirty="0"/>
          </a:p>
        </p:txBody>
      </p:sp>
      <p:sp>
        <p:nvSpPr>
          <p:cNvPr id="5" name="Shape 1"/>
          <p:cNvSpPr/>
          <p:nvPr/>
        </p:nvSpPr>
        <p:spPr>
          <a:xfrm>
            <a:off x="285750" y="972973"/>
            <a:ext cx="5057775" cy="4171950"/>
          </a:xfrm>
          <a:prstGeom prst="rect">
            <a:avLst/>
          </a:prstGeom>
          <a:solidFill>
            <a:srgbClr val="0A192F"/>
          </a:solidFill>
          <a:ln/>
        </p:spPr>
      </p:sp>
      <p:sp>
        <p:nvSpPr>
          <p:cNvPr id="6" name="Text 2"/>
          <p:cNvSpPr/>
          <p:nvPr/>
        </p:nvSpPr>
        <p:spPr>
          <a:xfrm>
            <a:off x="285750" y="972973"/>
            <a:ext cx="5057775" cy="4171950"/>
          </a:xfrm>
          <a:prstGeom prst="rect">
            <a:avLst/>
          </a:prstGeom>
          <a:noFill/>
          <a:ln/>
        </p:spPr>
        <p:txBody>
          <a:bodyPr wrap="square" lIns="102108" tIns="102108" rIns="102108" bIns="102108" rtlCol="0" anchor="t">
            <a:spAutoFit/>
          </a:bodyPr>
          <a:lstStyle/>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import random</a:t>
            </a:r>
            <a:endParaRPr lang="en-US" sz="650" dirty="0"/>
          </a:p>
          <a:p>
            <a:pPr marL="0" indent="0" algn="l">
              <a:lnSpc>
                <a:spcPct val="100000"/>
              </a:lnSpc>
              <a:buNone/>
            </a:pP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class NReines:</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def __init__(self, n):</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self.n = n</a:t>
            </a:r>
            <a:endParaRPr lang="en-US" sz="650" dirty="0"/>
          </a:p>
          <a:p>
            <a:pPr marL="0" indent="0" algn="l">
              <a:lnSpc>
                <a:spcPct val="100000"/>
              </a:lnSpc>
              <a:buNone/>
            </a:pP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def conflits(self, var, val, assign):</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cnt = 0</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for ligne, col in assign.items():</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ligne == var: continue</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col == val or abs(ligne - var) == abs(col - val):</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cnt += 1</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return cnt</a:t>
            </a:r>
            <a:endParaRPr lang="en-US" sz="650" dirty="0"/>
          </a:p>
          <a:p>
            <a:pPr marL="0" indent="0" algn="l">
              <a:lnSpc>
                <a:spcPct val="100000"/>
              </a:lnSpc>
              <a:buNone/>
            </a:pP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def total_conflits(self, assign):</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return sum(self.conflits(v, assign[v], assign) for v in assign)</a:t>
            </a:r>
            <a:endParaRPr lang="en-US" sz="650" dirty="0"/>
          </a:p>
          <a:p>
            <a:pPr marL="0" indent="0" algn="l">
              <a:lnSpc>
                <a:spcPct val="100000"/>
              </a:lnSpc>
              <a:buNone/>
            </a:pP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def min_conflit_steps(n, max_steps=500):</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csp = NReines(n)</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assign = {v: random.randrange(n) for v in range(n)}</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tc = csp.total_conflits(assign)</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angry = [v for v in assign if csp.conflits(v, assign[v], assign) &gt; 0]</a:t>
            </a:r>
            <a:endParaRPr lang="en-US" sz="650" dirty="0"/>
          </a:p>
          <a:p>
            <a:pPr marL="0" indent="0" algn="l">
              <a:lnSpc>
                <a:spcPct val="100000"/>
              </a:lnSpc>
              <a:buNone/>
            </a:pP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for step in range(1, max_steps + 1):</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tc == 0: break</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var = random.choice(angry)</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 = float('inf')</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best_vals = []</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for col in range(n):</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c = csp.conflits(var, col, assign)</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if c &lt; best:</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 = c</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best_vals = [col]</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elif c == best:</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best_vals.append(col)</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assign[var] = random.choice(best_vals)</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tc = csp.total_conflits(assign)</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angry = [v for v in assign if csp.conflits(v, assign[v], assign) &gt; 0]</a:t>
            </a:r>
            <a:endParaRPr lang="en-US" sz="650" dirty="0"/>
          </a:p>
          <a:p>
            <a:pPr marL="0" indent="0" algn="l">
              <a:lnSpc>
                <a:spcPct val="100000"/>
              </a:lnSpc>
              <a:buNone/>
            </a:pPr>
            <a:r>
              <a:rPr lang="en-US" sz="650" dirty="0">
                <a:solidFill>
                  <a:srgbClr val="FFFFFF"/>
                </a:solidFill>
                <a:latin typeface="JetBrains Mono" pitchFamily="34" charset="0"/>
                <a:ea typeface="JetBrains Mono" pitchFamily="34" charset="-122"/>
                <a:cs typeface="JetBrains Mono" pitchFamily="34" charset="-120"/>
              </a:rPr>
              <a:t>    return assign</a:t>
            </a:r>
            <a:endParaRPr lang="en-US" sz="650" dirty="0"/>
          </a:p>
        </p:txBody>
      </p:sp>
      <p:sp>
        <p:nvSpPr>
          <p:cNvPr id="7" name="Text 3"/>
          <p:cNvSpPr/>
          <p:nvPr/>
        </p:nvSpPr>
        <p:spPr>
          <a:xfrm>
            <a:off x="5486400" y="407194"/>
            <a:ext cx="3371850" cy="130373"/>
          </a:xfrm>
          <a:prstGeom prst="rect">
            <a:avLst/>
          </a:prstGeom>
          <a:noFill/>
          <a:ln/>
        </p:spPr>
        <p:txBody>
          <a:bodyPr wrap="square" lIns="0" tIns="0" rIns="0" bIns="0" rtlCol="0" anchor="t">
            <a:spAutoFit/>
          </a:bodyPr>
          <a:lstStyle/>
          <a:p>
            <a:pPr marL="0" indent="0" algn="l">
              <a:buNone/>
            </a:pPr>
            <a:r>
              <a:rPr lang="en-US" sz="750" b="1" dirty="0">
                <a:solidFill>
                  <a:srgbClr val="D90429"/>
                </a:solidFill>
                <a:latin typeface="Montserrat ExtraBold" pitchFamily="34" charset="0"/>
                <a:ea typeface="Montserrat ExtraBold" pitchFamily="34" charset="-122"/>
                <a:cs typeface="Montserrat ExtraBold" pitchFamily="34" charset="-120"/>
              </a:rPr>
              <a:t>CLASSE NREINES</a:t>
            </a:r>
            <a:endParaRPr lang="en-US" sz="750" dirty="0"/>
          </a:p>
        </p:txBody>
      </p:sp>
      <p:sp>
        <p:nvSpPr>
          <p:cNvPr id="8" name="Text 4"/>
          <p:cNvSpPr/>
          <p:nvPr/>
        </p:nvSpPr>
        <p:spPr>
          <a:xfrm>
            <a:off x="5486400" y="558998"/>
            <a:ext cx="3371850" cy="250031"/>
          </a:xfrm>
          <a:prstGeom prst="rect">
            <a:avLst/>
          </a:prstGeom>
          <a:noFill/>
          <a:ln/>
        </p:spPr>
        <p:txBody>
          <a:bodyPr wrap="square" lIns="0" tIns="0" rIns="0" bIns="0" rtlCol="0" anchor="t">
            <a:spAutoFit/>
          </a:bodyPr>
          <a:lstStyle/>
          <a:p>
            <a:pPr marL="0" indent="0" algn="l">
              <a:lnSpc>
                <a:spcPct val="100000"/>
              </a:lnSpc>
              <a:buNone/>
            </a:pPr>
            <a:r>
              <a:rPr lang="en-US" sz="750" dirty="0">
                <a:solidFill>
                  <a:srgbClr val="8D99AE"/>
                </a:solidFill>
                <a:latin typeface="Inter Light" pitchFamily="34" charset="0"/>
                <a:ea typeface="Inter Light" pitchFamily="34" charset="-122"/>
                <a:cs typeface="Inter Light" pitchFamily="34" charset="-120"/>
              </a:rPr>
              <a:t>Définit la logique des conflits (colonnes et diagonales) pour le problème des </a:t>
            </a:r>
            <a:r>
              <a:rPr lang="en-US" sz="700" b="1" dirty="0">
                <a:solidFill>
                  <a:srgbClr val="0A192F"/>
                </a:solidFill>
                <a:latin typeface="Inter Light" pitchFamily="34" charset="0"/>
                <a:ea typeface="Inter Light" pitchFamily="34" charset="-122"/>
                <a:cs typeface="Inter Light" pitchFamily="34" charset="-120"/>
              </a:rPr>
              <a:t>N-Reines</a:t>
            </a:r>
            <a:r>
              <a:rPr lang="en-US" sz="750" dirty="0">
                <a:solidFill>
                  <a:srgbClr val="8D99AE"/>
                </a:solidFill>
                <a:latin typeface="Inter Light" pitchFamily="34" charset="0"/>
                <a:ea typeface="Inter Light" pitchFamily="34" charset="-122"/>
                <a:cs typeface="Inter Light" pitchFamily="34" charset="-120"/>
              </a:rPr>
              <a:t>.</a:t>
            </a:r>
            <a:endParaRPr lang="en-US" sz="750" dirty="0"/>
          </a:p>
        </p:txBody>
      </p:sp>
      <p:sp>
        <p:nvSpPr>
          <p:cNvPr id="9" name="Text 5"/>
          <p:cNvSpPr/>
          <p:nvPr/>
        </p:nvSpPr>
        <p:spPr>
          <a:xfrm>
            <a:off x="5486400" y="916186"/>
            <a:ext cx="3371850" cy="130373"/>
          </a:xfrm>
          <a:prstGeom prst="rect">
            <a:avLst/>
          </a:prstGeom>
          <a:noFill/>
          <a:ln/>
        </p:spPr>
        <p:txBody>
          <a:bodyPr wrap="square" lIns="0" tIns="0" rIns="0" bIns="0" rtlCol="0" anchor="t">
            <a:spAutoFit/>
          </a:bodyPr>
          <a:lstStyle/>
          <a:p>
            <a:pPr marL="0" indent="0" algn="l">
              <a:buNone/>
            </a:pPr>
            <a:r>
              <a:rPr lang="en-US" sz="750" b="1" dirty="0">
                <a:solidFill>
                  <a:srgbClr val="D90429"/>
                </a:solidFill>
                <a:latin typeface="Montserrat ExtraBold" pitchFamily="34" charset="0"/>
                <a:ea typeface="Montserrat ExtraBold" pitchFamily="34" charset="-122"/>
                <a:cs typeface="Montserrat ExtraBold" pitchFamily="34" charset="-120"/>
              </a:rPr>
              <a:t>INITIALISATION</a:t>
            </a:r>
            <a:endParaRPr lang="en-US" sz="750" dirty="0"/>
          </a:p>
        </p:txBody>
      </p:sp>
      <p:sp>
        <p:nvSpPr>
          <p:cNvPr id="10" name="Text 6"/>
          <p:cNvSpPr/>
          <p:nvPr/>
        </p:nvSpPr>
        <p:spPr>
          <a:xfrm>
            <a:off x="5486400" y="1067991"/>
            <a:ext cx="3371850" cy="250031"/>
          </a:xfrm>
          <a:prstGeom prst="rect">
            <a:avLst/>
          </a:prstGeom>
          <a:noFill/>
          <a:ln/>
        </p:spPr>
        <p:txBody>
          <a:bodyPr wrap="square" lIns="0" tIns="0" rIns="0" bIns="0" rtlCol="0" anchor="t">
            <a:spAutoFit/>
          </a:bodyPr>
          <a:lstStyle/>
          <a:p>
            <a:pPr marL="0" indent="0" algn="l">
              <a:lnSpc>
                <a:spcPct val="100000"/>
              </a:lnSpc>
              <a:buNone/>
            </a:pPr>
            <a:r>
              <a:rPr lang="en-US" sz="750" dirty="0">
                <a:solidFill>
                  <a:srgbClr val="8D99AE"/>
                </a:solidFill>
                <a:latin typeface="Inter Light" pitchFamily="34" charset="0"/>
                <a:ea typeface="Inter Light" pitchFamily="34" charset="-122"/>
                <a:cs typeface="Inter Light" pitchFamily="34" charset="-120"/>
              </a:rPr>
              <a:t>L'état initial est généré aléatoirement (`randrange`). On identifie les variables "angry" (en conflit).</a:t>
            </a:r>
            <a:endParaRPr lang="en-US" sz="750" dirty="0"/>
          </a:p>
        </p:txBody>
      </p:sp>
      <p:sp>
        <p:nvSpPr>
          <p:cNvPr id="11" name="Text 7"/>
          <p:cNvSpPr/>
          <p:nvPr/>
        </p:nvSpPr>
        <p:spPr>
          <a:xfrm>
            <a:off x="5486400" y="1425178"/>
            <a:ext cx="3371850" cy="130373"/>
          </a:xfrm>
          <a:prstGeom prst="rect">
            <a:avLst/>
          </a:prstGeom>
          <a:noFill/>
          <a:ln/>
        </p:spPr>
        <p:txBody>
          <a:bodyPr wrap="square" lIns="0" tIns="0" rIns="0" bIns="0" rtlCol="0" anchor="t">
            <a:spAutoFit/>
          </a:bodyPr>
          <a:lstStyle/>
          <a:p>
            <a:pPr marL="0" indent="0" algn="l">
              <a:buNone/>
            </a:pPr>
            <a:r>
              <a:rPr lang="en-US" sz="750" b="1" dirty="0">
                <a:solidFill>
                  <a:srgbClr val="D90429"/>
                </a:solidFill>
                <a:latin typeface="Montserrat ExtraBold" pitchFamily="34" charset="0"/>
                <a:ea typeface="Montserrat ExtraBold" pitchFamily="34" charset="-122"/>
                <a:cs typeface="Montserrat ExtraBold" pitchFamily="34" charset="-120"/>
              </a:rPr>
              <a:t>BOUCLE PRINCIPALE</a:t>
            </a:r>
            <a:endParaRPr lang="en-US" sz="750" dirty="0"/>
          </a:p>
        </p:txBody>
      </p:sp>
      <p:sp>
        <p:nvSpPr>
          <p:cNvPr id="12" name="Text 8"/>
          <p:cNvSpPr/>
          <p:nvPr/>
        </p:nvSpPr>
        <p:spPr>
          <a:xfrm>
            <a:off x="5486400" y="1576983"/>
            <a:ext cx="3371850"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8D99AE"/>
                </a:solidFill>
                <a:latin typeface="Inter Light" pitchFamily="34" charset="0"/>
                <a:ea typeface="Inter Light" pitchFamily="34" charset="-122"/>
                <a:cs typeface="Inter Light" pitchFamily="34" charset="-120"/>
              </a:rPr>
              <a:t>L'algorithme itère jusqu'à la solution (`tc == 0`) ou la limite `max_steps`.</a:t>
            </a:r>
            <a:endParaRPr lang="en-US" sz="750" dirty="0"/>
          </a:p>
        </p:txBody>
      </p:sp>
      <p:sp>
        <p:nvSpPr>
          <p:cNvPr id="13" name="Text 9"/>
          <p:cNvSpPr/>
          <p:nvPr/>
        </p:nvSpPr>
        <p:spPr>
          <a:xfrm>
            <a:off x="5486400" y="1809155"/>
            <a:ext cx="3371850" cy="130373"/>
          </a:xfrm>
          <a:prstGeom prst="rect">
            <a:avLst/>
          </a:prstGeom>
          <a:noFill/>
          <a:ln/>
        </p:spPr>
        <p:txBody>
          <a:bodyPr wrap="square" lIns="0" tIns="0" rIns="0" bIns="0" rtlCol="0" anchor="t">
            <a:spAutoFit/>
          </a:bodyPr>
          <a:lstStyle/>
          <a:p>
            <a:pPr marL="0" indent="0" algn="l">
              <a:buNone/>
            </a:pPr>
            <a:r>
              <a:rPr lang="en-US" sz="750" b="1" dirty="0">
                <a:solidFill>
                  <a:srgbClr val="D90429"/>
                </a:solidFill>
                <a:latin typeface="Montserrat ExtraBold" pitchFamily="34" charset="0"/>
                <a:ea typeface="Montserrat ExtraBold" pitchFamily="34" charset="-122"/>
                <a:cs typeface="Montserrat ExtraBold" pitchFamily="34" charset="-120"/>
              </a:rPr>
              <a:t>CHOIX OPTIMAL</a:t>
            </a:r>
            <a:endParaRPr lang="en-US" sz="750" dirty="0"/>
          </a:p>
        </p:txBody>
      </p:sp>
      <p:sp>
        <p:nvSpPr>
          <p:cNvPr id="14" name="Text 10"/>
          <p:cNvSpPr/>
          <p:nvPr/>
        </p:nvSpPr>
        <p:spPr>
          <a:xfrm>
            <a:off x="5486400" y="1960959"/>
            <a:ext cx="3371850" cy="250031"/>
          </a:xfrm>
          <a:prstGeom prst="rect">
            <a:avLst/>
          </a:prstGeom>
          <a:noFill/>
          <a:ln/>
        </p:spPr>
        <p:txBody>
          <a:bodyPr wrap="square" lIns="0" tIns="0" rIns="0" bIns="0" rtlCol="0" anchor="t">
            <a:spAutoFit/>
          </a:bodyPr>
          <a:lstStyle/>
          <a:p>
            <a:pPr marL="0" indent="0" algn="l">
              <a:lnSpc>
                <a:spcPct val="100000"/>
              </a:lnSpc>
              <a:buNone/>
            </a:pPr>
            <a:r>
              <a:rPr lang="en-US" sz="750" dirty="0">
                <a:solidFill>
                  <a:srgbClr val="8D99AE"/>
                </a:solidFill>
                <a:latin typeface="Inter Light" pitchFamily="34" charset="0"/>
                <a:ea typeface="Inter Light" pitchFamily="34" charset="-122"/>
                <a:cs typeface="Inter Light" pitchFamily="34" charset="-120"/>
              </a:rPr>
              <a:t>Pour une variable en conflit, on teste toutes les colonnes et on choisit celle minimisant les </a:t>
            </a:r>
            <a:r>
              <a:rPr lang="en-US" sz="700" b="1" dirty="0">
                <a:solidFill>
                  <a:srgbClr val="0A192F"/>
                </a:solidFill>
                <a:latin typeface="Inter Light" pitchFamily="34" charset="0"/>
                <a:ea typeface="Inter Light" pitchFamily="34" charset="-122"/>
                <a:cs typeface="Inter Light" pitchFamily="34" charset="-120"/>
              </a:rPr>
              <a:t>conflits locaux</a:t>
            </a:r>
            <a:r>
              <a:rPr lang="en-US" sz="750" dirty="0">
                <a:solidFill>
                  <a:srgbClr val="8D99AE"/>
                </a:solidFill>
                <a:latin typeface="Inter Light" pitchFamily="34" charset="0"/>
                <a:ea typeface="Inter Light" pitchFamily="34" charset="-122"/>
                <a:cs typeface="Inter Light" pitchFamily="34" charset="-120"/>
              </a:rPr>
              <a:t>.</a:t>
            </a:r>
            <a:endParaRPr lang="en-US" sz="750" dirty="0"/>
          </a:p>
        </p:txBody>
      </p:sp>
      <p:sp>
        <p:nvSpPr>
          <p:cNvPr id="15" name="Text 11"/>
          <p:cNvSpPr/>
          <p:nvPr/>
        </p:nvSpPr>
        <p:spPr>
          <a:xfrm>
            <a:off x="5486400" y="2318147"/>
            <a:ext cx="3371850" cy="130373"/>
          </a:xfrm>
          <a:prstGeom prst="rect">
            <a:avLst/>
          </a:prstGeom>
          <a:noFill/>
          <a:ln/>
        </p:spPr>
        <p:txBody>
          <a:bodyPr wrap="square" lIns="0" tIns="0" rIns="0" bIns="0" rtlCol="0" anchor="t">
            <a:spAutoFit/>
          </a:bodyPr>
          <a:lstStyle/>
          <a:p>
            <a:pPr marL="0" indent="0" algn="l">
              <a:buNone/>
            </a:pPr>
            <a:r>
              <a:rPr lang="en-US" sz="750" b="1" dirty="0">
                <a:solidFill>
                  <a:srgbClr val="D90429"/>
                </a:solidFill>
                <a:latin typeface="Montserrat ExtraBold" pitchFamily="34" charset="0"/>
                <a:ea typeface="Montserrat ExtraBold" pitchFamily="34" charset="-122"/>
                <a:cs typeface="Montserrat ExtraBold" pitchFamily="34" charset="-120"/>
              </a:rPr>
              <a:t>ALÉATOIRE</a:t>
            </a:r>
            <a:endParaRPr lang="en-US" sz="750" dirty="0"/>
          </a:p>
        </p:txBody>
      </p:sp>
      <p:sp>
        <p:nvSpPr>
          <p:cNvPr id="16" name="Text 12"/>
          <p:cNvSpPr/>
          <p:nvPr/>
        </p:nvSpPr>
        <p:spPr>
          <a:xfrm>
            <a:off x="5486400" y="2469952"/>
            <a:ext cx="3371850" cy="250031"/>
          </a:xfrm>
          <a:prstGeom prst="rect">
            <a:avLst/>
          </a:prstGeom>
          <a:noFill/>
          <a:ln/>
        </p:spPr>
        <p:txBody>
          <a:bodyPr wrap="square" lIns="0" tIns="0" rIns="0" bIns="0" rtlCol="0" anchor="t">
            <a:spAutoFit/>
          </a:bodyPr>
          <a:lstStyle/>
          <a:p>
            <a:pPr marL="0" indent="0" algn="l">
              <a:lnSpc>
                <a:spcPct val="100000"/>
              </a:lnSpc>
              <a:buNone/>
            </a:pPr>
            <a:r>
              <a:rPr lang="en-US" sz="750" dirty="0">
                <a:solidFill>
                  <a:srgbClr val="8D99AE"/>
                </a:solidFill>
                <a:latin typeface="Inter Light" pitchFamily="34" charset="0"/>
                <a:ea typeface="Inter Light" pitchFamily="34" charset="-122"/>
                <a:cs typeface="Inter Light" pitchFamily="34" charset="-120"/>
              </a:rPr>
              <a:t>En cas d'égalité de conflits (`best_vals`), un choix aléatoire est fait pour éviter les minima locaux.</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57200" y="713231"/>
            <a:ext cx="8229600" cy="377168"/>
          </a:xfrm>
          <a:prstGeom prst="rect">
            <a:avLst/>
          </a:prstGeom>
          <a:noFill/>
          <a:ln/>
        </p:spPr>
        <p:txBody>
          <a:bodyPr wrap="none" lIns="0" tIns="0" rIns="0" bIns="0" rtlCol="0" anchor="t">
            <a:spAutoFit/>
          </a:bodyPr>
          <a:lstStyle/>
          <a:p>
            <a:pPr marL="0" indent="0" algn="l">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LES 3 POINTS CLÉS</a:t>
            </a:r>
            <a:endParaRPr lang="en-US" sz="2450" dirty="0"/>
          </a:p>
        </p:txBody>
      </p:sp>
      <p:sp>
        <p:nvSpPr>
          <p:cNvPr id="5" name="Text 1"/>
          <p:cNvSpPr/>
          <p:nvPr/>
        </p:nvSpPr>
        <p:spPr>
          <a:xfrm>
            <a:off x="457200" y="1404724"/>
            <a:ext cx="2628900" cy="571500"/>
          </a:xfrm>
          <a:prstGeom prst="rect">
            <a:avLst/>
          </a:prstGeom>
          <a:noFill/>
          <a:ln/>
        </p:spPr>
        <p:txBody>
          <a:bodyPr wrap="none" lIns="0" tIns="0" rIns="0" bIns="0" rtlCol="0" anchor="t">
            <a:spAutoFit/>
          </a:bodyPr>
          <a:lstStyle/>
          <a:p>
            <a:pPr marL="0" indent="0" algn="l">
              <a:lnSpc>
                <a:spcPct val="80000"/>
              </a:lnSpc>
              <a:buNone/>
            </a:pPr>
            <a:r>
              <a:rPr lang="en-US" sz="4150" b="1" dirty="0">
                <a:solidFill>
                  <a:srgbClr val="D90429">
                    <a:alpha val="20000"/>
                  </a:srgbClr>
                </a:solidFill>
                <a:latin typeface="Montserrat ExtraBold" pitchFamily="34" charset="0"/>
                <a:ea typeface="Montserrat ExtraBold" pitchFamily="34" charset="-122"/>
                <a:cs typeface="Montserrat ExtraBold" pitchFamily="34" charset="-120"/>
              </a:rPr>
              <a:t>01</a:t>
            </a:r>
            <a:endParaRPr lang="en-US" sz="4150" dirty="0"/>
          </a:p>
        </p:txBody>
      </p:sp>
      <p:sp>
        <p:nvSpPr>
          <p:cNvPr id="6" name="Text 2"/>
          <p:cNvSpPr/>
          <p:nvPr/>
        </p:nvSpPr>
        <p:spPr>
          <a:xfrm>
            <a:off x="457200" y="2019086"/>
            <a:ext cx="2628900" cy="285750"/>
          </a:xfrm>
          <a:prstGeom prst="rect">
            <a:avLst/>
          </a:prstGeom>
          <a:noFill/>
          <a:ln/>
        </p:spPr>
        <p:txBody>
          <a:bodyPr wrap="square" lIns="0" tIns="0" rIns="0" bIns="0" rtlCol="0" anchor="t">
            <a:spAutoFit/>
          </a:bodyPr>
          <a:lstStyle/>
          <a:p>
            <a:pPr marL="0" indent="0" algn="l">
              <a:buNone/>
            </a:pPr>
            <a:r>
              <a:rPr lang="en-US" sz="1200" b="1" dirty="0">
                <a:solidFill>
                  <a:srgbClr val="0A192F"/>
                </a:solidFill>
                <a:latin typeface="Montserrat ExtraBold" pitchFamily="34" charset="0"/>
                <a:ea typeface="Montserrat ExtraBold" pitchFamily="34" charset="-122"/>
                <a:cs typeface="Montserrat ExtraBold" pitchFamily="34" charset="-120"/>
              </a:rPr>
              <a:t>VARIABLES EN CONFLIT</a:t>
            </a:r>
            <a:endParaRPr lang="en-US" sz="1200" dirty="0"/>
          </a:p>
        </p:txBody>
      </p:sp>
      <p:sp>
        <p:nvSpPr>
          <p:cNvPr id="7" name="Text 3"/>
          <p:cNvSpPr/>
          <p:nvPr/>
        </p:nvSpPr>
        <p:spPr>
          <a:xfrm>
            <a:off x="457200" y="2512005"/>
            <a:ext cx="2628900" cy="578644"/>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8D99AE"/>
                </a:solidFill>
                <a:latin typeface="Inter Light" pitchFamily="34" charset="0"/>
                <a:ea typeface="Inter Light" pitchFamily="34" charset="-122"/>
                <a:cs typeface="Inter Light" pitchFamily="34" charset="-120"/>
              </a:rPr>
              <a:t>L'algorithme cible uniquement les variables qui </a:t>
            </a:r>
            <a:r>
              <a:rPr lang="en-US" sz="900" b="1" dirty="0">
                <a:solidFill>
                  <a:srgbClr val="0A192F"/>
                </a:solidFill>
                <a:latin typeface="Inter Light" pitchFamily="34" charset="0"/>
                <a:ea typeface="Inter Light" pitchFamily="34" charset="-122"/>
                <a:cs typeface="Inter Light" pitchFamily="34" charset="-120"/>
              </a:rPr>
              <a:t>violent au moins une contrainte</a:t>
            </a:r>
            <a:r>
              <a:rPr lang="en-US" sz="950" dirty="0">
                <a:solidFill>
                  <a:srgbClr val="8D99AE"/>
                </a:solidFill>
                <a:latin typeface="Inter Light" pitchFamily="34" charset="0"/>
                <a:ea typeface="Inter Light" pitchFamily="34" charset="-122"/>
                <a:cs typeface="Inter Light" pitchFamily="34" charset="-120"/>
              </a:rPr>
              <a:t>, réduisant l'espace de recherche.</a:t>
            </a:r>
            <a:endParaRPr lang="en-US" sz="950" dirty="0"/>
          </a:p>
        </p:txBody>
      </p:sp>
      <p:sp>
        <p:nvSpPr>
          <p:cNvPr id="8" name="Text 4"/>
          <p:cNvSpPr/>
          <p:nvPr/>
        </p:nvSpPr>
        <p:spPr>
          <a:xfrm>
            <a:off x="3257550" y="1404724"/>
            <a:ext cx="2628900" cy="571500"/>
          </a:xfrm>
          <a:prstGeom prst="rect">
            <a:avLst/>
          </a:prstGeom>
          <a:noFill/>
          <a:ln/>
        </p:spPr>
        <p:txBody>
          <a:bodyPr wrap="none" lIns="0" tIns="0" rIns="0" bIns="0" rtlCol="0" anchor="t">
            <a:spAutoFit/>
          </a:bodyPr>
          <a:lstStyle/>
          <a:p>
            <a:pPr marL="0" indent="0" algn="l">
              <a:lnSpc>
                <a:spcPct val="80000"/>
              </a:lnSpc>
              <a:buNone/>
            </a:pPr>
            <a:r>
              <a:rPr lang="en-US" sz="4150" b="1" dirty="0">
                <a:solidFill>
                  <a:srgbClr val="D90429">
                    <a:alpha val="20000"/>
                  </a:srgbClr>
                </a:solidFill>
                <a:latin typeface="Montserrat ExtraBold" pitchFamily="34" charset="0"/>
                <a:ea typeface="Montserrat ExtraBold" pitchFamily="34" charset="-122"/>
                <a:cs typeface="Montserrat ExtraBold" pitchFamily="34" charset="-120"/>
              </a:rPr>
              <a:t>02</a:t>
            </a:r>
            <a:endParaRPr lang="en-US" sz="4150" dirty="0"/>
          </a:p>
        </p:txBody>
      </p:sp>
      <p:sp>
        <p:nvSpPr>
          <p:cNvPr id="9" name="Text 5"/>
          <p:cNvSpPr/>
          <p:nvPr/>
        </p:nvSpPr>
        <p:spPr>
          <a:xfrm>
            <a:off x="3257550" y="2019086"/>
            <a:ext cx="2628900" cy="285750"/>
          </a:xfrm>
          <a:prstGeom prst="rect">
            <a:avLst/>
          </a:prstGeom>
          <a:noFill/>
          <a:ln/>
        </p:spPr>
        <p:txBody>
          <a:bodyPr wrap="square" lIns="0" tIns="0" rIns="0" bIns="0" rtlCol="0" anchor="t">
            <a:spAutoFit/>
          </a:bodyPr>
          <a:lstStyle/>
          <a:p>
            <a:pPr marL="0" indent="0" algn="l">
              <a:buNone/>
            </a:pPr>
            <a:r>
              <a:rPr lang="en-US" sz="1200" b="1" dirty="0">
                <a:solidFill>
                  <a:srgbClr val="0A192F"/>
                </a:solidFill>
                <a:latin typeface="Montserrat ExtraBold" pitchFamily="34" charset="0"/>
                <a:ea typeface="Montserrat ExtraBold" pitchFamily="34" charset="-122"/>
                <a:cs typeface="Montserrat ExtraBold" pitchFamily="34" charset="-120"/>
              </a:rPr>
              <a:t>MINIMISATION LOCALE</a:t>
            </a:r>
            <a:endParaRPr lang="en-US" sz="1200" dirty="0"/>
          </a:p>
        </p:txBody>
      </p:sp>
      <p:sp>
        <p:nvSpPr>
          <p:cNvPr id="10" name="Text 6"/>
          <p:cNvSpPr/>
          <p:nvPr/>
        </p:nvSpPr>
        <p:spPr>
          <a:xfrm>
            <a:off x="3257550" y="2512005"/>
            <a:ext cx="2628900" cy="578644"/>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8D99AE"/>
                </a:solidFill>
                <a:latin typeface="Inter Light" pitchFamily="34" charset="0"/>
                <a:ea typeface="Inter Light" pitchFamily="34" charset="-122"/>
                <a:cs typeface="Inter Light" pitchFamily="34" charset="-120"/>
              </a:rPr>
              <a:t>On choisit la valeur qui </a:t>
            </a:r>
            <a:r>
              <a:rPr lang="en-US" sz="900" b="1" dirty="0">
                <a:solidFill>
                  <a:srgbClr val="0A192F"/>
                </a:solidFill>
                <a:latin typeface="Inter Light" pitchFamily="34" charset="0"/>
                <a:ea typeface="Inter Light" pitchFamily="34" charset="-122"/>
                <a:cs typeface="Inter Light" pitchFamily="34" charset="-120"/>
              </a:rPr>
              <a:t>minimise les conflits</a:t>
            </a:r>
            <a:r>
              <a:rPr lang="en-US" sz="950" dirty="0">
                <a:solidFill>
                  <a:srgbClr val="8D99AE"/>
                </a:solidFill>
                <a:latin typeface="Inter Light" pitchFamily="34" charset="0"/>
                <a:ea typeface="Inter Light" pitchFamily="34" charset="-122"/>
                <a:cs typeface="Inter Light" pitchFamily="34" charset="-120"/>
              </a:rPr>
              <a:t>, en adoptant une réparation itérative.</a:t>
            </a:r>
            <a:endParaRPr lang="en-US" sz="950" dirty="0"/>
          </a:p>
        </p:txBody>
      </p:sp>
      <p:sp>
        <p:nvSpPr>
          <p:cNvPr id="11" name="Text 7"/>
          <p:cNvSpPr/>
          <p:nvPr/>
        </p:nvSpPr>
        <p:spPr>
          <a:xfrm>
            <a:off x="6057900" y="1404724"/>
            <a:ext cx="2628900" cy="571500"/>
          </a:xfrm>
          <a:prstGeom prst="rect">
            <a:avLst/>
          </a:prstGeom>
          <a:noFill/>
          <a:ln/>
        </p:spPr>
        <p:txBody>
          <a:bodyPr wrap="none" lIns="0" tIns="0" rIns="0" bIns="0" rtlCol="0" anchor="t">
            <a:spAutoFit/>
          </a:bodyPr>
          <a:lstStyle/>
          <a:p>
            <a:pPr marL="0" indent="0" algn="l">
              <a:lnSpc>
                <a:spcPct val="80000"/>
              </a:lnSpc>
              <a:buNone/>
            </a:pPr>
            <a:r>
              <a:rPr lang="en-US" sz="4150" b="1" dirty="0">
                <a:solidFill>
                  <a:srgbClr val="D90429">
                    <a:alpha val="20000"/>
                  </a:srgbClr>
                </a:solidFill>
                <a:latin typeface="Montserrat ExtraBold" pitchFamily="34" charset="0"/>
                <a:ea typeface="Montserrat ExtraBold" pitchFamily="34" charset="-122"/>
                <a:cs typeface="Montserrat ExtraBold" pitchFamily="34" charset="-120"/>
              </a:rPr>
              <a:t>03</a:t>
            </a:r>
            <a:endParaRPr lang="en-US" sz="4150" dirty="0"/>
          </a:p>
        </p:txBody>
      </p:sp>
      <p:sp>
        <p:nvSpPr>
          <p:cNvPr id="12" name="Text 8"/>
          <p:cNvSpPr/>
          <p:nvPr/>
        </p:nvSpPr>
        <p:spPr>
          <a:xfrm>
            <a:off x="6057900" y="2019086"/>
            <a:ext cx="2628900" cy="285750"/>
          </a:xfrm>
          <a:prstGeom prst="rect">
            <a:avLst/>
          </a:prstGeom>
          <a:noFill/>
          <a:ln/>
        </p:spPr>
        <p:txBody>
          <a:bodyPr wrap="square" lIns="0" tIns="0" rIns="0" bIns="0" rtlCol="0" anchor="t">
            <a:spAutoFit/>
          </a:bodyPr>
          <a:lstStyle/>
          <a:p>
            <a:pPr marL="0" indent="0" algn="l">
              <a:buNone/>
            </a:pPr>
            <a:r>
              <a:rPr lang="en-US" sz="1200" b="1" dirty="0">
                <a:solidFill>
                  <a:srgbClr val="0A192F"/>
                </a:solidFill>
                <a:latin typeface="Montserrat ExtraBold" pitchFamily="34" charset="0"/>
                <a:ea typeface="Montserrat ExtraBold" pitchFamily="34" charset="-122"/>
                <a:cs typeface="Montserrat ExtraBold" pitchFamily="34" charset="-120"/>
              </a:rPr>
              <a:t>ASPECT STOCHASTIQUE</a:t>
            </a:r>
            <a:endParaRPr lang="en-US" sz="1200" dirty="0"/>
          </a:p>
        </p:txBody>
      </p:sp>
      <p:sp>
        <p:nvSpPr>
          <p:cNvPr id="13" name="Text 9"/>
          <p:cNvSpPr/>
          <p:nvPr/>
        </p:nvSpPr>
        <p:spPr>
          <a:xfrm>
            <a:off x="6057900" y="2512005"/>
            <a:ext cx="2628900" cy="578644"/>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8D99AE"/>
                </a:solidFill>
                <a:latin typeface="Inter Light" pitchFamily="34" charset="0"/>
                <a:ea typeface="Inter Light" pitchFamily="34" charset="-122"/>
                <a:cs typeface="Inter Light" pitchFamily="34" charset="-120"/>
              </a:rPr>
              <a:t>Le </a:t>
            </a:r>
            <a:r>
              <a:rPr lang="en-US" sz="900" b="1" dirty="0">
                <a:solidFill>
                  <a:srgbClr val="0A192F"/>
                </a:solidFill>
                <a:latin typeface="Inter Light" pitchFamily="34" charset="0"/>
                <a:ea typeface="Inter Light" pitchFamily="34" charset="-122"/>
                <a:cs typeface="Inter Light" pitchFamily="34" charset="-120"/>
              </a:rPr>
              <a:t>tirage aléatoire</a:t>
            </a:r>
            <a:r>
              <a:rPr lang="en-US" sz="950" dirty="0">
                <a:solidFill>
                  <a:srgbClr val="8D99AE"/>
                </a:solidFill>
                <a:latin typeface="Inter Light" pitchFamily="34" charset="0"/>
                <a:ea typeface="Inter Light" pitchFamily="34" charset="-122"/>
                <a:cs typeface="Inter Light" pitchFamily="34" charset="-120"/>
              </a:rPr>
              <a:t> prévient le blocage dans des minima locaux et améliore la robustesse.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998981"/>
            <a:ext cx="3857625" cy="1131503"/>
          </a:xfrm>
          <a:prstGeom prst="rect">
            <a:avLst/>
          </a:prstGeom>
          <a:noFill/>
          <a:ln/>
        </p:spPr>
        <p:txBody>
          <a:bodyPr wrap="square" lIns="0" tIns="0" rIns="0" bIns="0" rtlCol="0" anchor="t">
            <a:spAutoFit/>
          </a:bodyPr>
          <a:lstStyle/>
          <a:p>
            <a:pPr marL="0" indent="0" algn="l">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EFFICACITÉ : L'EXEMPLE DES N-REINES</a:t>
            </a:r>
            <a:endParaRPr lang="en-US" sz="2450" dirty="0"/>
          </a:p>
        </p:txBody>
      </p:sp>
      <p:sp>
        <p:nvSpPr>
          <p:cNvPr id="5" name="Text 1"/>
          <p:cNvSpPr/>
          <p:nvPr/>
        </p:nvSpPr>
        <p:spPr>
          <a:xfrm>
            <a:off x="571500" y="2216209"/>
            <a:ext cx="3857625" cy="173236"/>
          </a:xfrm>
          <a:prstGeom prst="rect">
            <a:avLst/>
          </a:prstGeom>
          <a:noFill/>
          <a:ln/>
        </p:spPr>
        <p:txBody>
          <a:bodyPr wrap="square" lIns="0" tIns="0" rIns="0" bIns="0" rtlCol="0" anchor="t">
            <a:spAutoFit/>
          </a:bodyPr>
          <a:lstStyle/>
          <a:p>
            <a:pPr marL="0" indent="0" algn="l">
              <a:buNone/>
            </a:pPr>
            <a:r>
              <a:rPr lang="en-US" sz="1000" b="1" dirty="0">
                <a:solidFill>
                  <a:srgbClr val="0A192F"/>
                </a:solidFill>
                <a:latin typeface="Montserrat ExtraBold" pitchFamily="34" charset="0"/>
                <a:ea typeface="Montserrat ExtraBold" pitchFamily="34" charset="-122"/>
                <a:cs typeface="Montserrat ExtraBold" pitchFamily="34" charset="-120"/>
              </a:rPr>
              <a:t>ORIGINE HISTORIQUE</a:t>
            </a:r>
            <a:endParaRPr lang="en-US" sz="1000" dirty="0"/>
          </a:p>
        </p:txBody>
      </p:sp>
      <p:sp>
        <p:nvSpPr>
          <p:cNvPr id="6" name="Text 2"/>
          <p:cNvSpPr/>
          <p:nvPr/>
        </p:nvSpPr>
        <p:spPr>
          <a:xfrm>
            <a:off x="571500" y="2518032"/>
            <a:ext cx="3857625"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8D99AE"/>
                </a:solidFill>
                <a:latin typeface="Inter Light" pitchFamily="34" charset="0"/>
                <a:ea typeface="Inter Light" pitchFamily="34" charset="-122"/>
                <a:cs typeface="Inter Light" pitchFamily="34" charset="-120"/>
              </a:rPr>
              <a:t>Découvert en 1990 par Minton et al. pour l'ordonnancement complexe du </a:t>
            </a:r>
            <a:r>
              <a:rPr lang="en-US" sz="900" b="1" dirty="0">
                <a:solidFill>
                  <a:srgbClr val="D90429"/>
                </a:solidFill>
                <a:latin typeface="Inter Light" pitchFamily="34" charset="0"/>
                <a:ea typeface="Inter Light" pitchFamily="34" charset="-122"/>
                <a:cs typeface="Inter Light" pitchFamily="34" charset="-120"/>
              </a:rPr>
              <a:t>télescope Hubble</a:t>
            </a:r>
            <a:r>
              <a:rPr lang="en-US" sz="950" dirty="0">
                <a:solidFill>
                  <a:srgbClr val="8D99AE"/>
                </a:solidFill>
                <a:latin typeface="Inter Light" pitchFamily="34" charset="0"/>
                <a:ea typeface="Inter Light" pitchFamily="34" charset="-122"/>
                <a:cs typeface="Inter Light" pitchFamily="34" charset="-120"/>
              </a:rPr>
              <a:t>.</a:t>
            </a:r>
            <a:endParaRPr lang="en-US" sz="950" dirty="0"/>
          </a:p>
        </p:txBody>
      </p:sp>
      <p:sp>
        <p:nvSpPr>
          <p:cNvPr id="7" name="Text 3"/>
          <p:cNvSpPr/>
          <p:nvPr/>
        </p:nvSpPr>
        <p:spPr>
          <a:xfrm>
            <a:off x="571500" y="3046670"/>
            <a:ext cx="3857625" cy="173236"/>
          </a:xfrm>
          <a:prstGeom prst="rect">
            <a:avLst/>
          </a:prstGeom>
          <a:noFill/>
          <a:ln/>
        </p:spPr>
        <p:txBody>
          <a:bodyPr wrap="square" lIns="0" tIns="0" rIns="0" bIns="0" rtlCol="0" anchor="t">
            <a:spAutoFit/>
          </a:bodyPr>
          <a:lstStyle/>
          <a:p>
            <a:pPr marL="0" indent="0" algn="l">
              <a:buNone/>
            </a:pPr>
            <a:r>
              <a:rPr lang="en-US" sz="1000" b="1" dirty="0">
                <a:solidFill>
                  <a:srgbClr val="0A192F"/>
                </a:solidFill>
                <a:latin typeface="Montserrat ExtraBold" pitchFamily="34" charset="0"/>
                <a:ea typeface="Montserrat ExtraBold" pitchFamily="34" charset="-122"/>
                <a:cs typeface="Montserrat ExtraBold" pitchFamily="34" charset="-120"/>
              </a:rPr>
              <a:t>PERFORMANCE N-REINES</a:t>
            </a:r>
            <a:endParaRPr lang="en-US" sz="1000" dirty="0"/>
          </a:p>
        </p:txBody>
      </p:sp>
      <p:sp>
        <p:nvSpPr>
          <p:cNvPr id="8" name="Text 4"/>
          <p:cNvSpPr/>
          <p:nvPr/>
        </p:nvSpPr>
        <p:spPr>
          <a:xfrm>
            <a:off x="571500" y="3348493"/>
            <a:ext cx="3857625"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8D99AE"/>
                </a:solidFill>
                <a:latin typeface="Inter Light" pitchFamily="34" charset="0"/>
                <a:ea typeface="Inter Light" pitchFamily="34" charset="-122"/>
                <a:cs typeface="Inter Light" pitchFamily="34" charset="-120"/>
              </a:rPr>
              <a:t>Pour </a:t>
            </a:r>
            <a:r>
              <a:rPr lang="en-US" sz="900" b="1" dirty="0">
                <a:solidFill>
                  <a:srgbClr val="D90429"/>
                </a:solidFill>
                <a:latin typeface="Inter Light" pitchFamily="34" charset="0"/>
                <a:ea typeface="Inter Light" pitchFamily="34" charset="-122"/>
                <a:cs typeface="Inter Light" pitchFamily="34" charset="-120"/>
              </a:rPr>
              <a:t>1 000 000 de reines</a:t>
            </a:r>
            <a:r>
              <a:rPr lang="en-US" sz="950" dirty="0">
                <a:solidFill>
                  <a:srgbClr val="8D99AE"/>
                </a:solidFill>
                <a:latin typeface="Inter Light" pitchFamily="34" charset="0"/>
                <a:ea typeface="Inter Light" pitchFamily="34" charset="-122"/>
                <a:cs typeface="Inter Light" pitchFamily="34" charset="-120"/>
              </a:rPr>
              <a:t>, environ 50 réaffectations suffisent. Le temps de résolution est quasi-linéaire.</a:t>
            </a:r>
            <a:endParaRPr lang="en-US" sz="950" dirty="0"/>
          </a:p>
        </p:txBody>
      </p:sp>
      <p:sp>
        <p:nvSpPr>
          <p:cNvPr id="9" name="Shape 5"/>
          <p:cNvSpPr/>
          <p:nvPr/>
        </p:nvSpPr>
        <p:spPr>
          <a:xfrm>
            <a:off x="4714875" y="800100"/>
            <a:ext cx="1106332" cy="328613"/>
          </a:xfrm>
          <a:prstGeom prst="rect">
            <a:avLst/>
          </a:prstGeom>
          <a:solidFill>
            <a:srgbClr val="0A192F"/>
          </a:solidFill>
          <a:ln/>
        </p:spPr>
      </p:sp>
      <p:sp>
        <p:nvSpPr>
          <p:cNvPr id="10" name="Text 6"/>
          <p:cNvSpPr/>
          <p:nvPr/>
        </p:nvSpPr>
        <p:spPr>
          <a:xfrm>
            <a:off x="4714875" y="800100"/>
            <a:ext cx="1106332" cy="328613"/>
          </a:xfrm>
          <a:prstGeom prst="rect">
            <a:avLst/>
          </a:prstGeom>
          <a:noFill/>
          <a:ln/>
        </p:spPr>
        <p:txBody>
          <a:bodyPr wrap="none" lIns="102108" tIns="102108" rIns="102108" bIns="102108" rtlCol="0" anchor="ctr">
            <a:spAutoFit/>
          </a:bodyPr>
          <a:lstStyle/>
          <a:p>
            <a:pPr marL="0" indent="0" algn="l">
              <a:buNone/>
            </a:pPr>
            <a:r>
              <a:rPr lang="en-US" sz="900" b="1" dirty="0">
                <a:solidFill>
                  <a:srgbClr val="FFFFFF"/>
                </a:solidFill>
                <a:latin typeface="Montserrat ExtraBold" pitchFamily="34" charset="0"/>
                <a:ea typeface="Montserrat ExtraBold" pitchFamily="34" charset="-122"/>
                <a:cs typeface="Montserrat ExtraBold" pitchFamily="34" charset="-120"/>
              </a:rPr>
              <a:t>TAILLE</a:t>
            </a:r>
            <a:endParaRPr lang="en-US" sz="900" dirty="0"/>
          </a:p>
        </p:txBody>
      </p:sp>
      <p:sp>
        <p:nvSpPr>
          <p:cNvPr id="11" name="Shape 7"/>
          <p:cNvSpPr/>
          <p:nvPr/>
        </p:nvSpPr>
        <p:spPr>
          <a:xfrm>
            <a:off x="5821207" y="800100"/>
            <a:ext cx="1382427" cy="328613"/>
          </a:xfrm>
          <a:prstGeom prst="rect">
            <a:avLst/>
          </a:prstGeom>
          <a:solidFill>
            <a:srgbClr val="0A192F"/>
          </a:solidFill>
          <a:ln/>
        </p:spPr>
      </p:sp>
      <p:sp>
        <p:nvSpPr>
          <p:cNvPr id="12" name="Text 8"/>
          <p:cNvSpPr/>
          <p:nvPr/>
        </p:nvSpPr>
        <p:spPr>
          <a:xfrm>
            <a:off x="5821207" y="800100"/>
            <a:ext cx="1382427" cy="328613"/>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Montserrat ExtraBold" pitchFamily="34" charset="0"/>
                <a:ea typeface="Montserrat ExtraBold" pitchFamily="34" charset="-122"/>
                <a:cs typeface="Montserrat ExtraBold" pitchFamily="34" charset="-120"/>
              </a:rPr>
              <a:t>BACKTRACKING</a:t>
            </a:r>
            <a:endParaRPr lang="en-US" sz="900" dirty="0"/>
          </a:p>
        </p:txBody>
      </p:sp>
      <p:sp>
        <p:nvSpPr>
          <p:cNvPr id="13" name="Shape 9"/>
          <p:cNvSpPr/>
          <p:nvPr/>
        </p:nvSpPr>
        <p:spPr>
          <a:xfrm>
            <a:off x="7203635" y="800100"/>
            <a:ext cx="1368865" cy="328613"/>
          </a:xfrm>
          <a:prstGeom prst="rect">
            <a:avLst/>
          </a:prstGeom>
          <a:solidFill>
            <a:srgbClr val="0A192F"/>
          </a:solidFill>
          <a:ln/>
        </p:spPr>
      </p:sp>
      <p:sp>
        <p:nvSpPr>
          <p:cNvPr id="14" name="Text 10"/>
          <p:cNvSpPr/>
          <p:nvPr/>
        </p:nvSpPr>
        <p:spPr>
          <a:xfrm>
            <a:off x="7203635" y="800100"/>
            <a:ext cx="1368865" cy="328613"/>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Montserrat ExtraBold" pitchFamily="34" charset="0"/>
                <a:ea typeface="Montserrat ExtraBold" pitchFamily="34" charset="-122"/>
                <a:cs typeface="Montserrat ExtraBold" pitchFamily="34" charset="-120"/>
              </a:rPr>
              <a:t>MIN-CONFLICTS</a:t>
            </a:r>
            <a:endParaRPr lang="en-US" sz="900" dirty="0"/>
          </a:p>
        </p:txBody>
      </p:sp>
      <p:sp>
        <p:nvSpPr>
          <p:cNvPr id="15" name="Text 11"/>
          <p:cNvSpPr/>
          <p:nvPr/>
        </p:nvSpPr>
        <p:spPr>
          <a:xfrm>
            <a:off x="4714875" y="1128713"/>
            <a:ext cx="1106332" cy="344686"/>
          </a:xfrm>
          <a:prstGeom prst="rect">
            <a:avLst/>
          </a:prstGeom>
          <a:noFill/>
          <a:ln/>
        </p:spPr>
        <p:txBody>
          <a:bodyPr wrap="none" lIns="102108" tIns="102108" rIns="102108" bIns="102108" rtlCol="0" anchor="ctr">
            <a:spAutoFit/>
          </a:bodyPr>
          <a:lstStyle/>
          <a:p>
            <a:pPr marL="0" indent="0" algn="l">
              <a:buNone/>
            </a:pPr>
            <a:r>
              <a:rPr lang="en-US" sz="950" dirty="0">
                <a:solidFill>
                  <a:srgbClr val="0A192F"/>
                </a:solidFill>
                <a:latin typeface="JetBrains Mono" pitchFamily="34" charset="0"/>
                <a:ea typeface="JetBrains Mono" pitchFamily="34" charset="-122"/>
                <a:cs typeface="JetBrains Mono" pitchFamily="34" charset="-120"/>
              </a:rPr>
              <a:t>100 reines</a:t>
            </a:r>
            <a:endParaRPr lang="en-US" sz="950" dirty="0"/>
          </a:p>
        </p:txBody>
      </p:sp>
      <p:sp>
        <p:nvSpPr>
          <p:cNvPr id="16" name="Text 12"/>
          <p:cNvSpPr/>
          <p:nvPr/>
        </p:nvSpPr>
        <p:spPr>
          <a:xfrm>
            <a:off x="5821207" y="1128713"/>
            <a:ext cx="1382427" cy="344686"/>
          </a:xfrm>
          <a:prstGeom prst="rect">
            <a:avLst/>
          </a:prstGeom>
          <a:noFill/>
          <a:ln/>
        </p:spPr>
        <p:txBody>
          <a:bodyPr wrap="square" lIns="102108" tIns="102108" rIns="102108" bIns="102108" rtlCol="0" anchor="ctr">
            <a:spAutoFit/>
          </a:bodyPr>
          <a:lstStyle/>
          <a:p>
            <a:pPr marL="0" indent="0" algn="l">
              <a:buNone/>
            </a:pPr>
            <a:r>
              <a:rPr lang="en-US" sz="950" dirty="0">
                <a:solidFill>
                  <a:srgbClr val="0A192F"/>
                </a:solidFill>
                <a:latin typeface="JetBrains Mono" pitchFamily="34" charset="0"/>
                <a:ea typeface="JetBrains Mono" pitchFamily="34" charset="-122"/>
                <a:cs typeface="JetBrains Mono" pitchFamily="34" charset="-120"/>
              </a:rPr>
              <a:t>~ 1 min</a:t>
            </a:r>
            <a:endParaRPr lang="en-US" sz="950" dirty="0"/>
          </a:p>
        </p:txBody>
      </p:sp>
      <p:sp>
        <p:nvSpPr>
          <p:cNvPr id="17" name="Text 13"/>
          <p:cNvSpPr/>
          <p:nvPr/>
        </p:nvSpPr>
        <p:spPr>
          <a:xfrm>
            <a:off x="7203635" y="1128713"/>
            <a:ext cx="1368865" cy="344686"/>
          </a:xfrm>
          <a:prstGeom prst="rect">
            <a:avLst/>
          </a:prstGeom>
          <a:noFill/>
          <a:ln/>
        </p:spPr>
        <p:txBody>
          <a:bodyPr wrap="square" lIns="102108" tIns="102108" rIns="102108" bIns="102108" rtlCol="0" anchor="ctr">
            <a:spAutoFit/>
          </a:bodyPr>
          <a:lstStyle/>
          <a:p>
            <a:pPr marL="0" indent="0" algn="l">
              <a:buNone/>
            </a:pPr>
            <a:r>
              <a:rPr lang="en-US" sz="950" dirty="0">
                <a:solidFill>
                  <a:srgbClr val="0A192F"/>
                </a:solidFill>
                <a:latin typeface="JetBrains Mono" pitchFamily="34" charset="0"/>
                <a:ea typeface="JetBrains Mono" pitchFamily="34" charset="-122"/>
                <a:cs typeface="JetBrains Mono" pitchFamily="34" charset="-120"/>
              </a:rPr>
              <a:t>&lt; 0.1 sec</a:t>
            </a:r>
            <a:endParaRPr lang="en-US" sz="950" dirty="0"/>
          </a:p>
        </p:txBody>
      </p:sp>
      <p:sp>
        <p:nvSpPr>
          <p:cNvPr id="18" name="Text 14"/>
          <p:cNvSpPr/>
          <p:nvPr/>
        </p:nvSpPr>
        <p:spPr>
          <a:xfrm>
            <a:off x="4714875" y="1473398"/>
            <a:ext cx="1106332" cy="348258"/>
          </a:xfrm>
          <a:prstGeom prst="rect">
            <a:avLst/>
          </a:prstGeom>
          <a:noFill/>
          <a:ln/>
        </p:spPr>
        <p:txBody>
          <a:bodyPr wrap="none" lIns="102108" tIns="102108" rIns="102108" bIns="102108" rtlCol="0" anchor="ctr">
            <a:spAutoFit/>
          </a:bodyPr>
          <a:lstStyle/>
          <a:p>
            <a:pPr marL="0" indent="0" algn="l">
              <a:buNone/>
            </a:pPr>
            <a:r>
              <a:rPr lang="en-US" sz="950" dirty="0">
                <a:solidFill>
                  <a:srgbClr val="0A192F"/>
                </a:solidFill>
                <a:latin typeface="JetBrains Mono" pitchFamily="34" charset="0"/>
                <a:ea typeface="JetBrains Mono" pitchFamily="34" charset="-122"/>
                <a:cs typeface="JetBrains Mono" pitchFamily="34" charset="-120"/>
              </a:rPr>
              <a:t>1000 reines</a:t>
            </a:r>
            <a:endParaRPr lang="en-US" sz="950" dirty="0"/>
          </a:p>
        </p:txBody>
      </p:sp>
      <p:sp>
        <p:nvSpPr>
          <p:cNvPr id="19" name="Text 15"/>
          <p:cNvSpPr/>
          <p:nvPr/>
        </p:nvSpPr>
        <p:spPr>
          <a:xfrm>
            <a:off x="5821207" y="1473398"/>
            <a:ext cx="1382427" cy="348258"/>
          </a:xfrm>
          <a:prstGeom prst="rect">
            <a:avLst/>
          </a:prstGeom>
          <a:noFill/>
          <a:ln/>
        </p:spPr>
        <p:txBody>
          <a:bodyPr wrap="square" lIns="102108" tIns="102108" rIns="102108" bIns="102108" rtlCol="0" anchor="ctr">
            <a:spAutoFit/>
          </a:bodyPr>
          <a:lstStyle/>
          <a:p>
            <a:pPr marL="0" indent="0" algn="l">
              <a:buNone/>
            </a:pPr>
            <a:r>
              <a:rPr lang="en-US" sz="950" dirty="0">
                <a:solidFill>
                  <a:srgbClr val="0A192F"/>
                </a:solidFill>
                <a:latin typeface="JetBrains Mono" pitchFamily="34" charset="0"/>
                <a:ea typeface="JetBrains Mono" pitchFamily="34" charset="-122"/>
                <a:cs typeface="JetBrains Mono" pitchFamily="34" charset="-120"/>
              </a:rPr>
              <a:t>Impossible</a:t>
            </a:r>
            <a:endParaRPr lang="en-US" sz="950" dirty="0"/>
          </a:p>
        </p:txBody>
      </p:sp>
      <p:sp>
        <p:nvSpPr>
          <p:cNvPr id="20" name="Text 16"/>
          <p:cNvSpPr/>
          <p:nvPr/>
        </p:nvSpPr>
        <p:spPr>
          <a:xfrm>
            <a:off x="7203635" y="1473398"/>
            <a:ext cx="1368865" cy="348258"/>
          </a:xfrm>
          <a:prstGeom prst="rect">
            <a:avLst/>
          </a:prstGeom>
          <a:noFill/>
          <a:ln/>
        </p:spPr>
        <p:txBody>
          <a:bodyPr wrap="square" lIns="102108" tIns="102108" rIns="102108" bIns="102108" rtlCol="0" anchor="ctr">
            <a:spAutoFit/>
          </a:bodyPr>
          <a:lstStyle/>
          <a:p>
            <a:pPr marL="0" indent="0" algn="l">
              <a:buNone/>
            </a:pPr>
            <a:r>
              <a:rPr lang="en-US" sz="950" dirty="0">
                <a:solidFill>
                  <a:srgbClr val="0A192F"/>
                </a:solidFill>
                <a:latin typeface="JetBrains Mono" pitchFamily="34" charset="0"/>
                <a:ea typeface="JetBrains Mono" pitchFamily="34" charset="-122"/>
                <a:cs typeface="JetBrains Mono" pitchFamily="34" charset="-120"/>
              </a:rPr>
              <a:t>&lt; 1 sec</a:t>
            </a:r>
            <a:endParaRPr lang="en-US" sz="950" dirty="0"/>
          </a:p>
        </p:txBody>
      </p:sp>
      <p:sp>
        <p:nvSpPr>
          <p:cNvPr id="21" name="Text 17"/>
          <p:cNvSpPr/>
          <p:nvPr/>
        </p:nvSpPr>
        <p:spPr>
          <a:xfrm>
            <a:off x="4714875" y="1821656"/>
            <a:ext cx="1106332" cy="348258"/>
          </a:xfrm>
          <a:prstGeom prst="rect">
            <a:avLst/>
          </a:prstGeom>
          <a:noFill/>
          <a:ln/>
        </p:spPr>
        <p:txBody>
          <a:bodyPr wrap="none" lIns="102108" tIns="102108" rIns="102108" bIns="102108" rtlCol="0" anchor="ctr">
            <a:spAutoFit/>
          </a:bodyPr>
          <a:lstStyle/>
          <a:p>
            <a:pPr marL="0" indent="0" algn="l">
              <a:buNone/>
            </a:pPr>
            <a:r>
              <a:rPr lang="en-US" sz="950" dirty="0">
                <a:solidFill>
                  <a:srgbClr val="0A192F"/>
                </a:solidFill>
                <a:latin typeface="JetBrains Mono" pitchFamily="34" charset="0"/>
                <a:ea typeface="JetBrains Mono" pitchFamily="34" charset="-122"/>
                <a:cs typeface="JetBrains Mono" pitchFamily="34" charset="-120"/>
              </a:rPr>
              <a:t>1M reines</a:t>
            </a:r>
            <a:endParaRPr lang="en-US" sz="950" dirty="0"/>
          </a:p>
        </p:txBody>
      </p:sp>
      <p:sp>
        <p:nvSpPr>
          <p:cNvPr id="22" name="Text 18"/>
          <p:cNvSpPr/>
          <p:nvPr/>
        </p:nvSpPr>
        <p:spPr>
          <a:xfrm>
            <a:off x="5821207" y="1821656"/>
            <a:ext cx="1382427" cy="348258"/>
          </a:xfrm>
          <a:prstGeom prst="rect">
            <a:avLst/>
          </a:prstGeom>
          <a:noFill/>
          <a:ln/>
        </p:spPr>
        <p:txBody>
          <a:bodyPr wrap="square" lIns="102108" tIns="102108" rIns="102108" bIns="102108" rtlCol="0" anchor="ctr">
            <a:spAutoFit/>
          </a:bodyPr>
          <a:lstStyle/>
          <a:p>
            <a:pPr marL="0" indent="0" algn="l">
              <a:buNone/>
            </a:pPr>
            <a:r>
              <a:rPr lang="en-US" sz="950" dirty="0">
                <a:solidFill>
                  <a:srgbClr val="0A192F"/>
                </a:solidFill>
                <a:latin typeface="JetBrains Mono" pitchFamily="34" charset="0"/>
                <a:ea typeface="JetBrains Mono" pitchFamily="34" charset="-122"/>
                <a:cs typeface="JetBrains Mono" pitchFamily="34" charset="-120"/>
              </a:rPr>
              <a:t>Impossible</a:t>
            </a:r>
            <a:endParaRPr lang="en-US" sz="950" dirty="0"/>
          </a:p>
        </p:txBody>
      </p:sp>
      <p:sp>
        <p:nvSpPr>
          <p:cNvPr id="23" name="Text 19"/>
          <p:cNvSpPr/>
          <p:nvPr/>
        </p:nvSpPr>
        <p:spPr>
          <a:xfrm>
            <a:off x="7203635" y="1821656"/>
            <a:ext cx="1368865" cy="348258"/>
          </a:xfrm>
          <a:prstGeom prst="rect">
            <a:avLst/>
          </a:prstGeom>
          <a:noFill/>
          <a:ln/>
        </p:spPr>
        <p:txBody>
          <a:bodyPr wrap="square" lIns="102108" tIns="102108" rIns="102108" bIns="102108" rtlCol="0" anchor="ctr">
            <a:spAutoFit/>
          </a:bodyPr>
          <a:lstStyle/>
          <a:p>
            <a:pPr marL="0" indent="0" algn="l">
              <a:buNone/>
            </a:pPr>
            <a:r>
              <a:rPr lang="en-US" sz="950" dirty="0">
                <a:solidFill>
                  <a:srgbClr val="0A192F"/>
                </a:solidFill>
                <a:latin typeface="JetBrains Mono" pitchFamily="34" charset="0"/>
                <a:ea typeface="JetBrains Mono" pitchFamily="34" charset="-122"/>
                <a:cs typeface="JetBrains Mono" pitchFamily="34" charset="-120"/>
              </a:rPr>
              <a:t>~ 10 sec</a:t>
            </a:r>
            <a:endParaRPr lang="en-US" sz="950" dirty="0"/>
          </a:p>
        </p:txBody>
      </p:sp>
      <p:sp>
        <p:nvSpPr>
          <p:cNvPr id="24" name="Text 20"/>
          <p:cNvSpPr/>
          <p:nvPr/>
        </p:nvSpPr>
        <p:spPr>
          <a:xfrm>
            <a:off x="4714875" y="2259211"/>
            <a:ext cx="3857625" cy="139303"/>
          </a:xfrm>
          <a:prstGeom prst="rect">
            <a:avLst/>
          </a:prstGeom>
          <a:noFill/>
          <a:ln/>
        </p:spPr>
        <p:txBody>
          <a:bodyPr wrap="square" lIns="0" tIns="0" rIns="0" bIns="0" rtlCol="0" anchor="t">
            <a:spAutoFit/>
          </a:bodyPr>
          <a:lstStyle/>
          <a:p>
            <a:pPr marL="0" indent="0" algn="l">
              <a:buNone/>
            </a:pPr>
            <a:r>
              <a:rPr lang="en-US" sz="800" b="1" dirty="0">
                <a:solidFill>
                  <a:srgbClr val="D90429"/>
                </a:solidFill>
                <a:latin typeface="Montserrat ExtraBold" pitchFamily="34" charset="0"/>
                <a:ea typeface="Montserrat ExtraBold" pitchFamily="34" charset="-122"/>
                <a:cs typeface="Montserrat ExtraBold" pitchFamily="34" charset="-120"/>
              </a:rPr>
              <a:t>COMPARAISON DES TEMPS DE RÉSOLUTION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370331"/>
            <a:ext cx="3857625" cy="377168"/>
          </a:xfrm>
          <a:prstGeom prst="rect">
            <a:avLst/>
          </a:prstGeom>
          <a:noFill/>
          <a:ln/>
        </p:spPr>
        <p:txBody>
          <a:bodyPr wrap="none" lIns="0" tIns="0" rIns="0" bIns="0" rtlCol="0" anchor="t">
            <a:spAutoFit/>
          </a:bodyPr>
          <a:lstStyle/>
          <a:p>
            <a:pPr marL="0" indent="0" algn="l">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FORCES</a:t>
            </a:r>
            <a:endParaRPr lang="en-US" sz="2450" dirty="0"/>
          </a:p>
        </p:txBody>
      </p:sp>
      <p:pic>
        <p:nvPicPr>
          <p:cNvPr id="5" name="Image 1" descr="preencoded.png"/>
          <p:cNvPicPr>
            <a:picLocks noChangeAspect="1"/>
          </p:cNvPicPr>
          <p:nvPr/>
        </p:nvPicPr>
        <p:blipFill>
          <a:blip r:embed="rId4"/>
          <a:stretch>
            <a:fillRect/>
          </a:stretch>
        </p:blipFill>
        <p:spPr>
          <a:xfrm>
            <a:off x="571500" y="1123438"/>
            <a:ext cx="200025" cy="200025"/>
          </a:xfrm>
          <a:prstGeom prst="rect">
            <a:avLst/>
          </a:prstGeom>
        </p:spPr>
      </p:pic>
      <p:sp>
        <p:nvSpPr>
          <p:cNvPr id="6" name="Text 1"/>
          <p:cNvSpPr/>
          <p:nvPr/>
        </p:nvSpPr>
        <p:spPr>
          <a:xfrm>
            <a:off x="857250" y="1118974"/>
            <a:ext cx="1625203" cy="208955"/>
          </a:xfrm>
          <a:prstGeom prst="rect">
            <a:avLst/>
          </a:prstGeom>
          <a:noFill/>
          <a:ln/>
        </p:spPr>
        <p:txBody>
          <a:bodyPr wrap="square" lIns="0" tIns="0" rIns="0" bIns="0" rtlCol="0" anchor="t">
            <a:spAutoFit/>
          </a:bodyPr>
          <a:lstStyle/>
          <a:p>
            <a:pPr marL="0" indent="0" algn="l">
              <a:buNone/>
            </a:pPr>
            <a:r>
              <a:rPr lang="en-US" sz="1200" b="1" dirty="0">
                <a:solidFill>
                  <a:srgbClr val="0A192F"/>
                </a:solidFill>
                <a:latin typeface="Montserrat ExtraBold" pitchFamily="34" charset="0"/>
                <a:ea typeface="Montserrat ExtraBold" pitchFamily="34" charset="-122"/>
                <a:cs typeface="Montserrat ExtraBold" pitchFamily="34" charset="-120"/>
              </a:rPr>
              <a:t>AVANTAGES CLÉS</a:t>
            </a:r>
            <a:endParaRPr lang="en-US" sz="1200" dirty="0"/>
          </a:p>
        </p:txBody>
      </p:sp>
      <p:pic>
        <p:nvPicPr>
          <p:cNvPr id="7" name="Image 2" descr="preencoded.png"/>
          <p:cNvPicPr>
            <a:picLocks noChangeAspect="1"/>
          </p:cNvPicPr>
          <p:nvPr/>
        </p:nvPicPr>
        <p:blipFill>
          <a:blip r:embed="rId5"/>
          <a:stretch>
            <a:fillRect/>
          </a:stretch>
        </p:blipFill>
        <p:spPr>
          <a:xfrm>
            <a:off x="571500" y="1447586"/>
            <a:ext cx="96441" cy="128588"/>
          </a:xfrm>
          <a:prstGeom prst="rect">
            <a:avLst/>
          </a:prstGeom>
        </p:spPr>
      </p:pic>
      <p:sp>
        <p:nvSpPr>
          <p:cNvPr id="8" name="Text 2"/>
          <p:cNvSpPr/>
          <p:nvPr/>
        </p:nvSpPr>
        <p:spPr>
          <a:xfrm>
            <a:off x="767953" y="1413653"/>
            <a:ext cx="3661172" cy="157163"/>
          </a:xfrm>
          <a:prstGeom prst="rect">
            <a:avLst/>
          </a:prstGeom>
          <a:noFill/>
          <a:ln/>
        </p:spPr>
        <p:txBody>
          <a:bodyPr wrap="squar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ULTRA-RAPIDE</a:t>
            </a:r>
            <a:endParaRPr lang="en-US" sz="900" dirty="0"/>
          </a:p>
        </p:txBody>
      </p:sp>
      <p:sp>
        <p:nvSpPr>
          <p:cNvPr id="9" name="Text 3"/>
          <p:cNvSpPr/>
          <p:nvPr/>
        </p:nvSpPr>
        <p:spPr>
          <a:xfrm>
            <a:off x="767953" y="1599391"/>
            <a:ext cx="3661172"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8D99AE"/>
                </a:solidFill>
                <a:latin typeface="Inter Light" pitchFamily="34" charset="0"/>
                <a:ea typeface="Inter Light" pitchFamily="34" charset="-122"/>
                <a:cs typeface="Inter Light" pitchFamily="34" charset="-120"/>
              </a:rPr>
              <a:t>Très performant sur problèmes denses.</a:t>
            </a:r>
            <a:endParaRPr lang="en-US" sz="850" dirty="0"/>
          </a:p>
        </p:txBody>
      </p:sp>
      <p:pic>
        <p:nvPicPr>
          <p:cNvPr id="10" name="Image 3" descr="preencoded.png"/>
          <p:cNvPicPr>
            <a:picLocks noChangeAspect="1"/>
          </p:cNvPicPr>
          <p:nvPr/>
        </p:nvPicPr>
        <p:blipFill>
          <a:blip r:embed="rId6"/>
          <a:stretch>
            <a:fillRect/>
          </a:stretch>
        </p:blipFill>
        <p:spPr>
          <a:xfrm>
            <a:off x="571500" y="1890499"/>
            <a:ext cx="112514" cy="128588"/>
          </a:xfrm>
          <a:prstGeom prst="rect">
            <a:avLst/>
          </a:prstGeom>
        </p:spPr>
      </p:pic>
      <p:sp>
        <p:nvSpPr>
          <p:cNvPr id="11" name="Text 4"/>
          <p:cNvSpPr/>
          <p:nvPr/>
        </p:nvSpPr>
        <p:spPr>
          <a:xfrm>
            <a:off x="784027" y="1856566"/>
            <a:ext cx="3645098" cy="157163"/>
          </a:xfrm>
          <a:prstGeom prst="rect">
            <a:avLst/>
          </a:prstGeom>
          <a:noFill/>
          <a:ln/>
        </p:spPr>
        <p:txBody>
          <a:bodyPr wrap="squar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PASSAGE À L'ÉCHELLE</a:t>
            </a:r>
            <a:endParaRPr lang="en-US" sz="900" dirty="0"/>
          </a:p>
        </p:txBody>
      </p:sp>
      <p:sp>
        <p:nvSpPr>
          <p:cNvPr id="12" name="Text 5"/>
          <p:cNvSpPr/>
          <p:nvPr/>
        </p:nvSpPr>
        <p:spPr>
          <a:xfrm>
            <a:off x="784027" y="2042303"/>
            <a:ext cx="3645098"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8D99AE"/>
                </a:solidFill>
                <a:latin typeface="Inter Light" pitchFamily="34" charset="0"/>
                <a:ea typeface="Inter Light" pitchFamily="34" charset="-122"/>
                <a:cs typeface="Inter Light" pitchFamily="34" charset="-120"/>
              </a:rPr>
              <a:t>Gère des millions de variables efficacement.</a:t>
            </a:r>
            <a:endParaRPr lang="en-US" sz="850" dirty="0"/>
          </a:p>
        </p:txBody>
      </p:sp>
      <p:pic>
        <p:nvPicPr>
          <p:cNvPr id="13" name="Image 4" descr="preencoded.png"/>
          <p:cNvPicPr>
            <a:picLocks noChangeAspect="1"/>
          </p:cNvPicPr>
          <p:nvPr/>
        </p:nvPicPr>
        <p:blipFill>
          <a:blip r:embed="rId7"/>
          <a:stretch>
            <a:fillRect/>
          </a:stretch>
        </p:blipFill>
        <p:spPr>
          <a:xfrm>
            <a:off x="571500" y="2333411"/>
            <a:ext cx="160734" cy="128588"/>
          </a:xfrm>
          <a:prstGeom prst="rect">
            <a:avLst/>
          </a:prstGeom>
        </p:spPr>
      </p:pic>
      <p:sp>
        <p:nvSpPr>
          <p:cNvPr id="14" name="Text 6"/>
          <p:cNvSpPr/>
          <p:nvPr/>
        </p:nvSpPr>
        <p:spPr>
          <a:xfrm>
            <a:off x="832247" y="2299478"/>
            <a:ext cx="3596878" cy="157163"/>
          </a:xfrm>
          <a:prstGeom prst="rect">
            <a:avLst/>
          </a:prstGeom>
          <a:noFill/>
          <a:ln/>
        </p:spPr>
        <p:txBody>
          <a:bodyPr wrap="squar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SIMPLICITÉ</a:t>
            </a:r>
            <a:endParaRPr lang="en-US" sz="900" dirty="0"/>
          </a:p>
        </p:txBody>
      </p:sp>
      <p:sp>
        <p:nvSpPr>
          <p:cNvPr id="15" name="Text 7"/>
          <p:cNvSpPr/>
          <p:nvPr/>
        </p:nvSpPr>
        <p:spPr>
          <a:xfrm>
            <a:off x="832247" y="2485216"/>
            <a:ext cx="3596878"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8D99AE"/>
                </a:solidFill>
                <a:latin typeface="Inter Light" pitchFamily="34" charset="0"/>
                <a:ea typeface="Inter Light" pitchFamily="34" charset="-122"/>
                <a:cs typeface="Inter Light" pitchFamily="34" charset="-120"/>
              </a:rPr>
              <a:t>Algorithme léger, facile à implémenter.</a:t>
            </a:r>
            <a:endParaRPr lang="en-US" sz="850" dirty="0"/>
          </a:p>
        </p:txBody>
      </p:sp>
      <p:sp>
        <p:nvSpPr>
          <p:cNvPr id="16" name="Text 8"/>
          <p:cNvSpPr/>
          <p:nvPr/>
        </p:nvSpPr>
        <p:spPr>
          <a:xfrm>
            <a:off x="4714875" y="370331"/>
            <a:ext cx="3857625" cy="377168"/>
          </a:xfrm>
          <a:prstGeom prst="rect">
            <a:avLst/>
          </a:prstGeom>
          <a:noFill/>
          <a:ln/>
        </p:spPr>
        <p:txBody>
          <a:bodyPr wrap="none" lIns="0" tIns="0" rIns="0" bIns="0" rtlCol="0" anchor="t">
            <a:spAutoFit/>
          </a:bodyPr>
          <a:lstStyle/>
          <a:p>
            <a:pPr marL="0" indent="0" algn="l">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FAIBLESSES</a:t>
            </a:r>
            <a:endParaRPr lang="en-US" sz="2450" dirty="0"/>
          </a:p>
        </p:txBody>
      </p:sp>
      <p:pic>
        <p:nvPicPr>
          <p:cNvPr id="17" name="Image 5" descr="preencoded.png"/>
          <p:cNvPicPr>
            <a:picLocks noChangeAspect="1"/>
          </p:cNvPicPr>
          <p:nvPr/>
        </p:nvPicPr>
        <p:blipFill>
          <a:blip r:embed="rId8"/>
          <a:stretch>
            <a:fillRect/>
          </a:stretch>
        </p:blipFill>
        <p:spPr>
          <a:xfrm>
            <a:off x="4714875" y="1123438"/>
            <a:ext cx="200025" cy="200025"/>
          </a:xfrm>
          <a:prstGeom prst="rect">
            <a:avLst/>
          </a:prstGeom>
        </p:spPr>
      </p:pic>
      <p:sp>
        <p:nvSpPr>
          <p:cNvPr id="18" name="Text 9"/>
          <p:cNvSpPr/>
          <p:nvPr/>
        </p:nvSpPr>
        <p:spPr>
          <a:xfrm>
            <a:off x="5000625" y="1118974"/>
            <a:ext cx="723305" cy="208955"/>
          </a:xfrm>
          <a:prstGeom prst="rect">
            <a:avLst/>
          </a:prstGeom>
          <a:noFill/>
          <a:ln/>
        </p:spPr>
        <p:txBody>
          <a:bodyPr wrap="none" lIns="0" tIns="0" rIns="0" bIns="0" rtlCol="0" anchor="t">
            <a:spAutoFit/>
          </a:bodyPr>
          <a:lstStyle/>
          <a:p>
            <a:pPr marL="0" indent="0" algn="l">
              <a:buNone/>
            </a:pPr>
            <a:r>
              <a:rPr lang="en-US" sz="1200" b="1" dirty="0">
                <a:solidFill>
                  <a:srgbClr val="0A192F"/>
                </a:solidFill>
                <a:latin typeface="Montserrat ExtraBold" pitchFamily="34" charset="0"/>
                <a:ea typeface="Montserrat ExtraBold" pitchFamily="34" charset="-122"/>
                <a:cs typeface="Montserrat ExtraBold" pitchFamily="34" charset="-120"/>
              </a:rPr>
              <a:t>LIMITES</a:t>
            </a:r>
            <a:endParaRPr lang="en-US" sz="1200" dirty="0"/>
          </a:p>
        </p:txBody>
      </p:sp>
      <p:pic>
        <p:nvPicPr>
          <p:cNvPr id="19" name="Image 6" descr="preencoded.png"/>
          <p:cNvPicPr>
            <a:picLocks noChangeAspect="1"/>
          </p:cNvPicPr>
          <p:nvPr/>
        </p:nvPicPr>
        <p:blipFill>
          <a:blip r:embed="rId9"/>
          <a:stretch>
            <a:fillRect/>
          </a:stretch>
        </p:blipFill>
        <p:spPr>
          <a:xfrm>
            <a:off x="4714875" y="1447586"/>
            <a:ext cx="128588" cy="128588"/>
          </a:xfrm>
          <a:prstGeom prst="rect">
            <a:avLst/>
          </a:prstGeom>
        </p:spPr>
      </p:pic>
      <p:sp>
        <p:nvSpPr>
          <p:cNvPr id="20" name="Text 10"/>
          <p:cNvSpPr/>
          <p:nvPr/>
        </p:nvSpPr>
        <p:spPr>
          <a:xfrm>
            <a:off x="4943475" y="1413653"/>
            <a:ext cx="3629025" cy="157163"/>
          </a:xfrm>
          <a:prstGeom prst="rect">
            <a:avLst/>
          </a:prstGeom>
          <a:noFill/>
          <a:ln/>
        </p:spPr>
        <p:txBody>
          <a:bodyPr wrap="squar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INCOMPLÉTUDE</a:t>
            </a:r>
            <a:endParaRPr lang="en-US" sz="900" dirty="0"/>
          </a:p>
        </p:txBody>
      </p:sp>
      <p:sp>
        <p:nvSpPr>
          <p:cNvPr id="21" name="Text 11"/>
          <p:cNvSpPr/>
          <p:nvPr/>
        </p:nvSpPr>
        <p:spPr>
          <a:xfrm>
            <a:off x="4943475" y="1599391"/>
            <a:ext cx="3629025"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8D99AE"/>
                </a:solidFill>
                <a:latin typeface="Inter Light" pitchFamily="34" charset="0"/>
                <a:ea typeface="Inter Light" pitchFamily="34" charset="-122"/>
                <a:cs typeface="Inter Light" pitchFamily="34" charset="-120"/>
              </a:rPr>
              <a:t>Ne garantit pas de trouver une solution.</a:t>
            </a:r>
            <a:endParaRPr lang="en-US" sz="850" dirty="0"/>
          </a:p>
        </p:txBody>
      </p:sp>
      <p:pic>
        <p:nvPicPr>
          <p:cNvPr id="22" name="Image 7" descr="preencoded.png"/>
          <p:cNvPicPr>
            <a:picLocks noChangeAspect="1"/>
          </p:cNvPicPr>
          <p:nvPr/>
        </p:nvPicPr>
        <p:blipFill>
          <a:blip r:embed="rId10"/>
          <a:stretch>
            <a:fillRect/>
          </a:stretch>
        </p:blipFill>
        <p:spPr>
          <a:xfrm>
            <a:off x="4714875" y="1890499"/>
            <a:ext cx="128588" cy="128588"/>
          </a:xfrm>
          <a:prstGeom prst="rect">
            <a:avLst/>
          </a:prstGeom>
        </p:spPr>
      </p:pic>
      <p:sp>
        <p:nvSpPr>
          <p:cNvPr id="23" name="Text 12"/>
          <p:cNvSpPr/>
          <p:nvPr/>
        </p:nvSpPr>
        <p:spPr>
          <a:xfrm>
            <a:off x="4943475" y="1856566"/>
            <a:ext cx="3629025" cy="157163"/>
          </a:xfrm>
          <a:prstGeom prst="rect">
            <a:avLst/>
          </a:prstGeom>
          <a:noFill/>
          <a:ln/>
        </p:spPr>
        <p:txBody>
          <a:bodyPr wrap="squar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SENSIBILITÉ</a:t>
            </a:r>
            <a:endParaRPr lang="en-US" sz="900" dirty="0"/>
          </a:p>
        </p:txBody>
      </p:sp>
      <p:sp>
        <p:nvSpPr>
          <p:cNvPr id="24" name="Text 13"/>
          <p:cNvSpPr/>
          <p:nvPr/>
        </p:nvSpPr>
        <p:spPr>
          <a:xfrm>
            <a:off x="4943475" y="2042303"/>
            <a:ext cx="3629025"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8D99AE"/>
                </a:solidFill>
                <a:latin typeface="Inter Light" pitchFamily="34" charset="0"/>
                <a:ea typeface="Inter Light" pitchFamily="34" charset="-122"/>
                <a:cs typeface="Inter Light" pitchFamily="34" charset="-120"/>
              </a:rPr>
              <a:t>Dépend fortement de l'état initial.</a:t>
            </a:r>
            <a:endParaRPr lang="en-US" sz="850" dirty="0"/>
          </a:p>
        </p:txBody>
      </p:sp>
      <p:pic>
        <p:nvPicPr>
          <p:cNvPr id="25" name="Image 8" descr="preencoded.png"/>
          <p:cNvPicPr>
            <a:picLocks noChangeAspect="1"/>
          </p:cNvPicPr>
          <p:nvPr/>
        </p:nvPicPr>
        <p:blipFill>
          <a:blip r:embed="rId11"/>
          <a:stretch>
            <a:fillRect/>
          </a:stretch>
        </p:blipFill>
        <p:spPr>
          <a:xfrm>
            <a:off x="4714875" y="2333411"/>
            <a:ext cx="144661" cy="128588"/>
          </a:xfrm>
          <a:prstGeom prst="rect">
            <a:avLst/>
          </a:prstGeom>
        </p:spPr>
      </p:pic>
      <p:sp>
        <p:nvSpPr>
          <p:cNvPr id="26" name="Text 14"/>
          <p:cNvSpPr/>
          <p:nvPr/>
        </p:nvSpPr>
        <p:spPr>
          <a:xfrm>
            <a:off x="4959548" y="2299478"/>
            <a:ext cx="3612952" cy="157163"/>
          </a:xfrm>
          <a:prstGeom prst="rect">
            <a:avLst/>
          </a:prstGeom>
          <a:noFill/>
          <a:ln/>
        </p:spPr>
        <p:txBody>
          <a:bodyPr wrap="squar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STRUCTURES COMPLEXES</a:t>
            </a:r>
            <a:endParaRPr lang="en-US" sz="900" dirty="0"/>
          </a:p>
        </p:txBody>
      </p:sp>
      <p:sp>
        <p:nvSpPr>
          <p:cNvPr id="27" name="Text 15"/>
          <p:cNvSpPr/>
          <p:nvPr/>
        </p:nvSpPr>
        <p:spPr>
          <a:xfrm>
            <a:off x="4959548" y="2485216"/>
            <a:ext cx="3612952"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8D99AE"/>
                </a:solidFill>
                <a:latin typeface="Inter Light" pitchFamily="34" charset="0"/>
                <a:ea typeface="Inter Light" pitchFamily="34" charset="-122"/>
                <a:cs typeface="Inter Light" pitchFamily="34" charset="-120"/>
              </a:rPr>
              <a:t>Échec sur problèmes mal structurés.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14375" y="998981"/>
            <a:ext cx="4371975" cy="754335"/>
          </a:xfrm>
          <a:prstGeom prst="rect">
            <a:avLst/>
          </a:prstGeom>
          <a:noFill/>
          <a:ln/>
        </p:spPr>
        <p:txBody>
          <a:bodyPr wrap="square" lIns="0" tIns="0" rIns="0" bIns="0" rtlCol="0" anchor="t">
            <a:spAutoFit/>
          </a:bodyPr>
          <a:lstStyle/>
          <a:p>
            <a:pPr marL="0" indent="0" algn="l">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PROJET ADOMC : VISUALISATION</a:t>
            </a:r>
            <a:endParaRPr lang="en-US" sz="2450" dirty="0"/>
          </a:p>
        </p:txBody>
      </p:sp>
      <p:sp>
        <p:nvSpPr>
          <p:cNvPr id="5" name="Text 1"/>
          <p:cNvSpPr/>
          <p:nvPr/>
        </p:nvSpPr>
        <p:spPr>
          <a:xfrm>
            <a:off x="714375" y="2024779"/>
            <a:ext cx="4371975" cy="822927"/>
          </a:xfrm>
          <a:prstGeom prst="rect">
            <a:avLst/>
          </a:prstGeom>
          <a:noFill/>
          <a:ln/>
        </p:spPr>
        <p:txBody>
          <a:bodyPr wrap="square" lIns="0" tIns="0" rIns="0" bIns="0" rtlCol="0" anchor="t">
            <a:spAutoFit/>
          </a:bodyPr>
          <a:lstStyle/>
          <a:p>
            <a:pPr marL="0" indent="0" algn="l">
              <a:lnSpc>
                <a:spcPct val="128000"/>
              </a:lnSpc>
              <a:buNone/>
            </a:pPr>
            <a:r>
              <a:rPr lang="en-US" sz="1250" dirty="0">
                <a:solidFill>
                  <a:srgbClr val="8D99AE"/>
                </a:solidFill>
                <a:latin typeface="Inter Light" pitchFamily="34" charset="0"/>
                <a:ea typeface="Inter Light" pitchFamily="34" charset="-122"/>
                <a:cs typeface="Inter Light" pitchFamily="34" charset="-120"/>
              </a:rPr>
              <a:t>Notre application rend l'algorithme </a:t>
            </a:r>
            <a:r>
              <a:rPr lang="en-US" sz="1200" b="1" dirty="0">
                <a:solidFill>
                  <a:srgbClr val="0A192F"/>
                </a:solidFill>
                <a:latin typeface="Inter Light" pitchFamily="34" charset="0"/>
                <a:ea typeface="Inter Light" pitchFamily="34" charset="-122"/>
                <a:cs typeface="Inter Light" pitchFamily="34" charset="-120"/>
              </a:rPr>
              <a:t>Min-Conflicts</a:t>
            </a:r>
            <a:r>
              <a:rPr lang="en-US" sz="1250" dirty="0">
                <a:solidFill>
                  <a:srgbClr val="8D99AE"/>
                </a:solidFill>
                <a:latin typeface="Inter Light" pitchFamily="34" charset="0"/>
                <a:ea typeface="Inter Light" pitchFamily="34" charset="-122"/>
                <a:cs typeface="Inter Light" pitchFamily="34" charset="-120"/>
              </a:rPr>
              <a:t> visible et compréhensible à travers une interface moderne et interactive.</a:t>
            </a:r>
            <a:endParaRPr lang="en-US" sz="1250" dirty="0"/>
          </a:p>
        </p:txBody>
      </p:sp>
      <p:sp>
        <p:nvSpPr>
          <p:cNvPr id="6" name="Text 2"/>
          <p:cNvSpPr/>
          <p:nvPr/>
        </p:nvSpPr>
        <p:spPr>
          <a:xfrm>
            <a:off x="714375" y="3062018"/>
            <a:ext cx="4371975" cy="822927"/>
          </a:xfrm>
          <a:prstGeom prst="rect">
            <a:avLst/>
          </a:prstGeom>
          <a:noFill/>
          <a:ln/>
        </p:spPr>
        <p:txBody>
          <a:bodyPr wrap="square" lIns="0" tIns="0" rIns="0" bIns="0" rtlCol="0" anchor="t">
            <a:spAutoFit/>
          </a:bodyPr>
          <a:lstStyle/>
          <a:p>
            <a:pPr marL="0" indent="0" algn="l">
              <a:lnSpc>
                <a:spcPct val="128000"/>
              </a:lnSpc>
              <a:buNone/>
            </a:pPr>
            <a:r>
              <a:rPr lang="en-US" sz="1250" dirty="0">
                <a:solidFill>
                  <a:srgbClr val="8D99AE"/>
                </a:solidFill>
                <a:latin typeface="Inter Light" pitchFamily="34" charset="0"/>
                <a:ea typeface="Inter Light" pitchFamily="34" charset="-122"/>
                <a:cs typeface="Inter Light" pitchFamily="34" charset="-120"/>
              </a:rPr>
              <a:t>Elle permet d'observer en temps réel comment l'algorithme "répare" le problème des </a:t>
            </a:r>
            <a:r>
              <a:rPr lang="en-US" sz="1200" b="1" dirty="0">
                <a:solidFill>
                  <a:srgbClr val="0A192F"/>
                </a:solidFill>
                <a:latin typeface="Inter Light" pitchFamily="34" charset="0"/>
                <a:ea typeface="Inter Light" pitchFamily="34" charset="-122"/>
                <a:cs typeface="Inter Light" pitchFamily="34" charset="-120"/>
              </a:rPr>
              <a:t>N-Reines</a:t>
            </a:r>
            <a:r>
              <a:rPr lang="en-US" sz="1250" dirty="0">
                <a:solidFill>
                  <a:srgbClr val="8D99AE"/>
                </a:solidFill>
                <a:latin typeface="Inter Light" pitchFamily="34" charset="0"/>
                <a:ea typeface="Inter Light" pitchFamily="34" charset="-122"/>
                <a:cs typeface="Inter Light" pitchFamily="34" charset="-120"/>
              </a:rPr>
              <a:t>, passant d'un chaos initial à une solution parfaite.</a:t>
            </a:r>
            <a:endParaRPr lang="en-US" sz="1250" dirty="0"/>
          </a:p>
        </p:txBody>
      </p:sp>
      <p:pic>
        <p:nvPicPr>
          <p:cNvPr id="7" name="Image 1" descr="preencoded.png"/>
          <p:cNvPicPr>
            <a:picLocks noChangeAspect="1"/>
          </p:cNvPicPr>
          <p:nvPr/>
        </p:nvPicPr>
        <p:blipFill>
          <a:blip r:embed="rId4"/>
          <a:stretch>
            <a:fillRect/>
          </a:stretch>
        </p:blipFill>
        <p:spPr>
          <a:xfrm>
            <a:off x="5536406" y="880467"/>
            <a:ext cx="171450" cy="171450"/>
          </a:xfrm>
          <a:prstGeom prst="rect">
            <a:avLst/>
          </a:prstGeom>
        </p:spPr>
      </p:pic>
      <p:sp>
        <p:nvSpPr>
          <p:cNvPr id="8" name="Text 3"/>
          <p:cNvSpPr/>
          <p:nvPr/>
        </p:nvSpPr>
        <p:spPr>
          <a:xfrm>
            <a:off x="5872163" y="864394"/>
            <a:ext cx="2557463" cy="157163"/>
          </a:xfrm>
          <a:prstGeom prst="rect">
            <a:avLst/>
          </a:prstGeom>
          <a:noFill/>
          <a:ln/>
        </p:spPr>
        <p:txBody>
          <a:bodyPr wrap="squar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GRILLE DYNAMIQUE</a:t>
            </a:r>
            <a:endParaRPr lang="en-US" sz="900" dirty="0"/>
          </a:p>
        </p:txBody>
      </p:sp>
      <p:sp>
        <p:nvSpPr>
          <p:cNvPr id="9" name="Text 4"/>
          <p:cNvSpPr/>
          <p:nvPr/>
        </p:nvSpPr>
        <p:spPr>
          <a:xfrm>
            <a:off x="5872163" y="1057275"/>
            <a:ext cx="2557463"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8D99AE"/>
                </a:solidFill>
                <a:latin typeface="Inter Light" pitchFamily="34" charset="0"/>
                <a:ea typeface="Inter Light" pitchFamily="34" charset="-122"/>
                <a:cs typeface="Inter Light" pitchFamily="34" charset="-120"/>
              </a:rPr>
              <a:t>Configuration personnalisée (ex: 20x20) pour tester différentes échelles.</a:t>
            </a:r>
            <a:endParaRPr lang="en-US" sz="850" dirty="0"/>
          </a:p>
        </p:txBody>
      </p:sp>
      <p:pic>
        <p:nvPicPr>
          <p:cNvPr id="10" name="Image 2" descr="preencoded.png"/>
          <p:cNvPicPr>
            <a:picLocks noChangeAspect="1"/>
          </p:cNvPicPr>
          <p:nvPr/>
        </p:nvPicPr>
        <p:blipFill>
          <a:blip r:embed="rId5"/>
          <a:stretch>
            <a:fillRect/>
          </a:stretch>
        </p:blipFill>
        <p:spPr>
          <a:xfrm>
            <a:off x="5536406" y="1757697"/>
            <a:ext cx="171450" cy="171450"/>
          </a:xfrm>
          <a:prstGeom prst="rect">
            <a:avLst/>
          </a:prstGeom>
        </p:spPr>
      </p:pic>
      <p:sp>
        <p:nvSpPr>
          <p:cNvPr id="11" name="Text 5"/>
          <p:cNvSpPr/>
          <p:nvPr/>
        </p:nvSpPr>
        <p:spPr>
          <a:xfrm>
            <a:off x="5872163" y="1741624"/>
            <a:ext cx="2557463" cy="157163"/>
          </a:xfrm>
          <a:prstGeom prst="rect">
            <a:avLst/>
          </a:prstGeom>
          <a:noFill/>
          <a:ln/>
        </p:spPr>
        <p:txBody>
          <a:bodyPr wrap="squar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TIMELINE INTERACTIVE</a:t>
            </a:r>
            <a:endParaRPr lang="en-US" sz="900" dirty="0"/>
          </a:p>
        </p:txBody>
      </p:sp>
      <p:sp>
        <p:nvSpPr>
          <p:cNvPr id="12" name="Text 6"/>
          <p:cNvSpPr/>
          <p:nvPr/>
        </p:nvSpPr>
        <p:spPr>
          <a:xfrm>
            <a:off x="5872163" y="1934505"/>
            <a:ext cx="2557463"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8D99AE"/>
                </a:solidFill>
                <a:latin typeface="Inter Light" pitchFamily="34" charset="0"/>
                <a:ea typeface="Inter Light" pitchFamily="34" charset="-122"/>
                <a:cs typeface="Inter Light" pitchFamily="34" charset="-120"/>
              </a:rPr>
              <a:t>Navigation pas à pas dans les itérations de l'algorithme.</a:t>
            </a:r>
            <a:endParaRPr lang="en-US" sz="850" dirty="0"/>
          </a:p>
        </p:txBody>
      </p:sp>
      <p:pic>
        <p:nvPicPr>
          <p:cNvPr id="13" name="Image 3" descr="preencoded.png"/>
          <p:cNvPicPr>
            <a:picLocks noChangeAspect="1"/>
          </p:cNvPicPr>
          <p:nvPr/>
        </p:nvPicPr>
        <p:blipFill>
          <a:blip r:embed="rId6"/>
          <a:stretch>
            <a:fillRect/>
          </a:stretch>
        </p:blipFill>
        <p:spPr>
          <a:xfrm>
            <a:off x="5536406" y="2634928"/>
            <a:ext cx="171450" cy="171450"/>
          </a:xfrm>
          <a:prstGeom prst="rect">
            <a:avLst/>
          </a:prstGeom>
        </p:spPr>
      </p:pic>
      <p:sp>
        <p:nvSpPr>
          <p:cNvPr id="14" name="Text 7"/>
          <p:cNvSpPr/>
          <p:nvPr/>
        </p:nvSpPr>
        <p:spPr>
          <a:xfrm>
            <a:off x="5872163" y="2618854"/>
            <a:ext cx="2557463" cy="157163"/>
          </a:xfrm>
          <a:prstGeom prst="rect">
            <a:avLst/>
          </a:prstGeom>
          <a:noFill/>
          <a:ln/>
        </p:spPr>
        <p:txBody>
          <a:bodyPr wrap="squar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STATS EN DIRECT</a:t>
            </a:r>
            <a:endParaRPr lang="en-US" sz="900" dirty="0"/>
          </a:p>
        </p:txBody>
      </p:sp>
      <p:sp>
        <p:nvSpPr>
          <p:cNvPr id="15" name="Text 8"/>
          <p:cNvSpPr/>
          <p:nvPr/>
        </p:nvSpPr>
        <p:spPr>
          <a:xfrm>
            <a:off x="5872163" y="2811735"/>
            <a:ext cx="2557463"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8D99AE"/>
                </a:solidFill>
                <a:latin typeface="Inter Light" pitchFamily="34" charset="0"/>
                <a:ea typeface="Inter Light" pitchFamily="34" charset="-122"/>
                <a:cs typeface="Inter Light" pitchFamily="34" charset="-120"/>
              </a:rPr>
              <a:t>Suivi visuel de la diminution des conflits à chaque étape.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963402"/>
            <a:ext cx="3086100" cy="330036"/>
          </a:xfrm>
          <a:prstGeom prst="rect">
            <a:avLst/>
          </a:prstGeom>
          <a:noFill/>
          <a:ln/>
        </p:spPr>
        <p:txBody>
          <a:bodyPr wrap="none" lIns="0" tIns="0" rIns="0" bIns="0" rtlCol="0" anchor="t">
            <a:spAutoFit/>
          </a:bodyPr>
          <a:lstStyle/>
          <a:p>
            <a:pPr marL="0" indent="0" algn="l">
              <a:lnSpc>
                <a:spcPct val="88000"/>
              </a:lnSpc>
              <a:buNone/>
            </a:pPr>
            <a:r>
              <a:rPr lang="en-US" sz="2100" b="1" dirty="0">
                <a:solidFill>
                  <a:srgbClr val="0A192F"/>
                </a:solidFill>
                <a:latin typeface="Montserrat ExtraBold" pitchFamily="34" charset="0"/>
                <a:ea typeface="Montserrat ExtraBold" pitchFamily="34" charset="-122"/>
                <a:cs typeface="Montserrat ExtraBold" pitchFamily="34" charset="-120"/>
              </a:rPr>
              <a:t>STACK &amp; OUTILS</a:t>
            </a:r>
            <a:endParaRPr lang="en-US" sz="2100" dirty="0"/>
          </a:p>
        </p:txBody>
      </p:sp>
      <p:pic>
        <p:nvPicPr>
          <p:cNvPr id="5" name="Image 1" descr="preencoded.png"/>
          <p:cNvPicPr>
            <a:picLocks noChangeAspect="1"/>
          </p:cNvPicPr>
          <p:nvPr/>
        </p:nvPicPr>
        <p:blipFill>
          <a:blip r:embed="rId4"/>
          <a:stretch>
            <a:fillRect/>
          </a:stretch>
        </p:blipFill>
        <p:spPr>
          <a:xfrm>
            <a:off x="571500" y="1507750"/>
            <a:ext cx="178594" cy="157163"/>
          </a:xfrm>
          <a:prstGeom prst="rect">
            <a:avLst/>
          </a:prstGeom>
        </p:spPr>
      </p:pic>
      <p:sp>
        <p:nvSpPr>
          <p:cNvPr id="6" name="Text 1"/>
          <p:cNvSpPr/>
          <p:nvPr/>
        </p:nvSpPr>
        <p:spPr>
          <a:xfrm>
            <a:off x="857250" y="1507750"/>
            <a:ext cx="1193006" cy="157163"/>
          </a:xfrm>
          <a:prstGeom prst="rect">
            <a:avLst/>
          </a:prstGeom>
          <a:noFill/>
          <a:ln/>
        </p:spPr>
        <p:txBody>
          <a:bodyPr wrap="non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PYTHON &amp; FLASK</a:t>
            </a:r>
            <a:endParaRPr lang="en-US" sz="900" dirty="0"/>
          </a:p>
        </p:txBody>
      </p:sp>
      <p:sp>
        <p:nvSpPr>
          <p:cNvPr id="7" name="Text 2"/>
          <p:cNvSpPr/>
          <p:nvPr/>
        </p:nvSpPr>
        <p:spPr>
          <a:xfrm>
            <a:off x="571500" y="1722062"/>
            <a:ext cx="3086100" cy="150019"/>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8D99AE"/>
                </a:solidFill>
                <a:latin typeface="Inter Light" pitchFamily="34" charset="0"/>
                <a:ea typeface="Inter Light" pitchFamily="34" charset="-122"/>
                <a:cs typeface="Inter Light" pitchFamily="34" charset="-120"/>
              </a:rPr>
              <a:t>Logique CSP robuste et API REST performante.</a:t>
            </a:r>
            <a:endParaRPr lang="en-US" sz="800" dirty="0"/>
          </a:p>
        </p:txBody>
      </p:sp>
      <p:pic>
        <p:nvPicPr>
          <p:cNvPr id="8" name="Image 2" descr="preencoded.png"/>
          <p:cNvPicPr>
            <a:picLocks noChangeAspect="1"/>
          </p:cNvPicPr>
          <p:nvPr/>
        </p:nvPicPr>
        <p:blipFill>
          <a:blip r:embed="rId5"/>
          <a:stretch>
            <a:fillRect/>
          </a:stretch>
        </p:blipFill>
        <p:spPr>
          <a:xfrm>
            <a:off x="571500" y="2164975"/>
            <a:ext cx="178594" cy="157163"/>
          </a:xfrm>
          <a:prstGeom prst="rect">
            <a:avLst/>
          </a:prstGeom>
        </p:spPr>
      </p:pic>
      <p:sp>
        <p:nvSpPr>
          <p:cNvPr id="9" name="Text 3"/>
          <p:cNvSpPr/>
          <p:nvPr/>
        </p:nvSpPr>
        <p:spPr>
          <a:xfrm>
            <a:off x="857250" y="2164975"/>
            <a:ext cx="1278731" cy="157163"/>
          </a:xfrm>
          <a:prstGeom prst="rect">
            <a:avLst/>
          </a:prstGeom>
          <a:noFill/>
          <a:ln/>
        </p:spPr>
        <p:txBody>
          <a:bodyPr wrap="non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JS &amp; PARTICLES.JS</a:t>
            </a:r>
            <a:endParaRPr lang="en-US" sz="900" dirty="0"/>
          </a:p>
        </p:txBody>
      </p:sp>
      <p:sp>
        <p:nvSpPr>
          <p:cNvPr id="10" name="Text 4"/>
          <p:cNvSpPr/>
          <p:nvPr/>
        </p:nvSpPr>
        <p:spPr>
          <a:xfrm>
            <a:off x="571500" y="2379287"/>
            <a:ext cx="3086100" cy="150019"/>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8D99AE"/>
                </a:solidFill>
                <a:latin typeface="Inter Light" pitchFamily="34" charset="0"/>
                <a:ea typeface="Inter Light" pitchFamily="34" charset="-122"/>
                <a:cs typeface="Inter Light" pitchFamily="34" charset="-120"/>
              </a:rPr>
              <a:t>Interface dynamique et visualisation fluide.</a:t>
            </a:r>
            <a:endParaRPr lang="en-US" sz="800" dirty="0"/>
          </a:p>
        </p:txBody>
      </p:sp>
      <p:pic>
        <p:nvPicPr>
          <p:cNvPr id="11" name="Image 3" descr="preencoded.png"/>
          <p:cNvPicPr>
            <a:picLocks noChangeAspect="1"/>
          </p:cNvPicPr>
          <p:nvPr/>
        </p:nvPicPr>
        <p:blipFill>
          <a:blip r:embed="rId6"/>
          <a:stretch>
            <a:fillRect/>
          </a:stretch>
        </p:blipFill>
        <p:spPr>
          <a:xfrm>
            <a:off x="571500" y="2822200"/>
            <a:ext cx="178594" cy="157163"/>
          </a:xfrm>
          <a:prstGeom prst="rect">
            <a:avLst/>
          </a:prstGeom>
        </p:spPr>
      </p:pic>
      <p:sp>
        <p:nvSpPr>
          <p:cNvPr id="12" name="Text 5"/>
          <p:cNvSpPr/>
          <p:nvPr/>
        </p:nvSpPr>
        <p:spPr>
          <a:xfrm>
            <a:off x="857250" y="2822200"/>
            <a:ext cx="1310878" cy="157163"/>
          </a:xfrm>
          <a:prstGeom prst="rect">
            <a:avLst/>
          </a:prstGeom>
          <a:noFill/>
          <a:ln/>
        </p:spPr>
        <p:txBody>
          <a:bodyPr wrap="square" lIns="0" tIns="0" rIns="0" bIns="0" rtlCol="0" anchor="t">
            <a:spAutoFit/>
          </a:bodyPr>
          <a:lstStyle/>
          <a:p>
            <a:pPr marL="0" indent="0" algn="l">
              <a:buNone/>
            </a:pPr>
            <a:r>
              <a:rPr lang="en-US" sz="900" b="1" dirty="0">
                <a:solidFill>
                  <a:srgbClr val="0A192F"/>
                </a:solidFill>
                <a:latin typeface="Montserrat ExtraBold" pitchFamily="34" charset="0"/>
                <a:ea typeface="Montserrat ExtraBold" pitchFamily="34" charset="-122"/>
                <a:cs typeface="Montserrat ExtraBold" pitchFamily="34" charset="-120"/>
              </a:rPr>
              <a:t>STATS TEMPS RÉEL</a:t>
            </a:r>
            <a:endParaRPr lang="en-US" sz="900" dirty="0"/>
          </a:p>
        </p:txBody>
      </p:sp>
      <p:sp>
        <p:nvSpPr>
          <p:cNvPr id="13" name="Text 6"/>
          <p:cNvSpPr/>
          <p:nvPr/>
        </p:nvSpPr>
        <p:spPr>
          <a:xfrm>
            <a:off x="571500" y="3036512"/>
            <a:ext cx="3086100" cy="150019"/>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8D99AE"/>
                </a:solidFill>
                <a:latin typeface="Inter Light" pitchFamily="34" charset="0"/>
                <a:ea typeface="Inter Light" pitchFamily="34" charset="-122"/>
                <a:cs typeface="Inter Light" pitchFamily="34" charset="-120"/>
              </a:rPr>
              <a:t>Analyse itérative et timeline de résolution.</a:t>
            </a:r>
            <a:endParaRPr lang="en-US" sz="800" dirty="0"/>
          </a:p>
        </p:txBody>
      </p:sp>
      <p:sp>
        <p:nvSpPr>
          <p:cNvPr id="14" name="Shape 7"/>
          <p:cNvSpPr/>
          <p:nvPr/>
        </p:nvSpPr>
        <p:spPr>
          <a:xfrm>
            <a:off x="3943350" y="714375"/>
            <a:ext cx="4629150" cy="3230761"/>
          </a:xfrm>
          <a:prstGeom prst="rect">
            <a:avLst/>
          </a:prstGeom>
          <a:solidFill>
            <a:srgbClr val="0A192F"/>
          </a:solidFill>
          <a:ln/>
        </p:spPr>
      </p:sp>
      <p:sp>
        <p:nvSpPr>
          <p:cNvPr id="15" name="Text 8"/>
          <p:cNvSpPr/>
          <p:nvPr/>
        </p:nvSpPr>
        <p:spPr>
          <a:xfrm>
            <a:off x="4157663" y="1100138"/>
            <a:ext cx="4200525" cy="208955"/>
          </a:xfrm>
          <a:prstGeom prst="rect">
            <a:avLst/>
          </a:prstGeom>
          <a:noFill/>
          <a:ln/>
        </p:spPr>
        <p:txBody>
          <a:bodyPr wrap="square" lIns="0" tIns="0" rIns="0" bIns="0" rtlCol="0" anchor="t">
            <a:spAutoFit/>
          </a:bodyPr>
          <a:lstStyle/>
          <a:p>
            <a:pPr marL="0" indent="0" algn="ctr">
              <a:buNone/>
            </a:pPr>
            <a:r>
              <a:rPr lang="en-US" sz="1200" b="1" dirty="0">
                <a:solidFill>
                  <a:srgbClr val="D90429"/>
                </a:solidFill>
                <a:latin typeface="Montserrat ExtraBold" pitchFamily="34" charset="0"/>
                <a:ea typeface="Montserrat ExtraBold" pitchFamily="34" charset="-122"/>
                <a:cs typeface="Montserrat ExtraBold" pitchFamily="34" charset="-120"/>
              </a:rPr>
              <a:t>BENCHMARK N-REINES</a:t>
            </a:r>
            <a:endParaRPr lang="en-US" sz="1200" dirty="0"/>
          </a:p>
        </p:txBody>
      </p:sp>
      <p:sp>
        <p:nvSpPr>
          <p:cNvPr id="16" name="Text 9"/>
          <p:cNvSpPr/>
          <p:nvPr/>
        </p:nvSpPr>
        <p:spPr>
          <a:xfrm>
            <a:off x="4157663" y="1451967"/>
            <a:ext cx="625664" cy="300038"/>
          </a:xfrm>
          <a:prstGeom prst="rect">
            <a:avLst/>
          </a:prstGeom>
          <a:noFill/>
          <a:ln/>
        </p:spPr>
        <p:txBody>
          <a:bodyPr wrap="none" lIns="68072" tIns="102108" rIns="68072" bIns="102108" rtlCol="0" anchor="ctr">
            <a:spAutoFit/>
          </a:bodyPr>
          <a:lstStyle/>
          <a:p>
            <a:pPr marL="0" indent="0" algn="l">
              <a:buNone/>
            </a:pPr>
            <a:r>
              <a:rPr lang="en-US" sz="700" b="1" dirty="0">
                <a:solidFill>
                  <a:srgbClr val="D90429"/>
                </a:solidFill>
                <a:latin typeface="Montserrat ExtraBold" pitchFamily="34" charset="0"/>
                <a:ea typeface="Montserrat ExtraBold" pitchFamily="34" charset="-122"/>
                <a:cs typeface="Montserrat ExtraBold" pitchFamily="34" charset="-120"/>
              </a:rPr>
              <a:t>N</a:t>
            </a:r>
            <a:endParaRPr lang="en-US" sz="700" dirty="0"/>
          </a:p>
        </p:txBody>
      </p:sp>
      <p:sp>
        <p:nvSpPr>
          <p:cNvPr id="17" name="Text 10"/>
          <p:cNvSpPr/>
          <p:nvPr/>
        </p:nvSpPr>
        <p:spPr>
          <a:xfrm>
            <a:off x="4783327" y="1451967"/>
            <a:ext cx="1195127" cy="300038"/>
          </a:xfrm>
          <a:prstGeom prst="rect">
            <a:avLst/>
          </a:prstGeom>
          <a:noFill/>
          <a:ln/>
        </p:spPr>
        <p:txBody>
          <a:bodyPr wrap="none" lIns="68072" tIns="102108" rIns="68072" bIns="102108" rtlCol="0" anchor="ctr">
            <a:spAutoFit/>
          </a:bodyPr>
          <a:lstStyle/>
          <a:p>
            <a:pPr marL="0" indent="0" algn="l">
              <a:buNone/>
            </a:pPr>
            <a:r>
              <a:rPr lang="en-US" sz="700" b="1" dirty="0">
                <a:solidFill>
                  <a:srgbClr val="D90429"/>
                </a:solidFill>
                <a:latin typeface="Montserrat ExtraBold" pitchFamily="34" charset="0"/>
                <a:ea typeface="Montserrat ExtraBold" pitchFamily="34" charset="-122"/>
                <a:cs typeface="Montserrat ExtraBold" pitchFamily="34" charset="-120"/>
              </a:rPr>
              <a:t>Succès %</a:t>
            </a:r>
            <a:endParaRPr lang="en-US" sz="700" dirty="0"/>
          </a:p>
        </p:txBody>
      </p:sp>
      <p:sp>
        <p:nvSpPr>
          <p:cNvPr id="18" name="Text 11"/>
          <p:cNvSpPr/>
          <p:nvPr/>
        </p:nvSpPr>
        <p:spPr>
          <a:xfrm>
            <a:off x="5978454" y="1451967"/>
            <a:ext cx="1441168" cy="300038"/>
          </a:xfrm>
          <a:prstGeom prst="rect">
            <a:avLst/>
          </a:prstGeom>
          <a:noFill/>
          <a:ln/>
        </p:spPr>
        <p:txBody>
          <a:bodyPr wrap="square" lIns="68072" tIns="102108" rIns="68072" bIns="102108" rtlCol="0" anchor="ctr">
            <a:spAutoFit/>
          </a:bodyPr>
          <a:lstStyle/>
          <a:p>
            <a:pPr marL="0" indent="0" algn="l">
              <a:buNone/>
            </a:pPr>
            <a:r>
              <a:rPr lang="en-US" sz="700" b="1" dirty="0">
                <a:solidFill>
                  <a:srgbClr val="D90429"/>
                </a:solidFill>
                <a:latin typeface="Montserrat ExtraBold" pitchFamily="34" charset="0"/>
                <a:ea typeface="Montserrat ExtraBold" pitchFamily="34" charset="-122"/>
                <a:cs typeface="Montserrat ExtraBold" pitchFamily="34" charset="-120"/>
              </a:rPr>
              <a:t>Temps (ms)</a:t>
            </a:r>
            <a:endParaRPr lang="en-US" sz="700" dirty="0"/>
          </a:p>
        </p:txBody>
      </p:sp>
      <p:sp>
        <p:nvSpPr>
          <p:cNvPr id="19" name="Text 12"/>
          <p:cNvSpPr/>
          <p:nvPr/>
        </p:nvSpPr>
        <p:spPr>
          <a:xfrm>
            <a:off x="7419622" y="1451967"/>
            <a:ext cx="938566" cy="300038"/>
          </a:xfrm>
          <a:prstGeom prst="rect">
            <a:avLst/>
          </a:prstGeom>
          <a:noFill/>
          <a:ln/>
        </p:spPr>
        <p:txBody>
          <a:bodyPr wrap="none" lIns="68072" tIns="102108" rIns="68072" bIns="102108" rtlCol="0" anchor="ctr">
            <a:spAutoFit/>
          </a:bodyPr>
          <a:lstStyle/>
          <a:p>
            <a:pPr marL="0" indent="0" algn="l">
              <a:buNone/>
            </a:pPr>
            <a:r>
              <a:rPr lang="en-US" sz="700" b="1" dirty="0">
                <a:solidFill>
                  <a:srgbClr val="D90429"/>
                </a:solidFill>
                <a:latin typeface="Montserrat ExtraBold" pitchFamily="34" charset="0"/>
                <a:ea typeface="Montserrat ExtraBold" pitchFamily="34" charset="-122"/>
                <a:cs typeface="Montserrat ExtraBold" pitchFamily="34" charset="-120"/>
              </a:rPr>
              <a:t>Étapes</a:t>
            </a:r>
            <a:endParaRPr lang="en-US" sz="700" dirty="0"/>
          </a:p>
        </p:txBody>
      </p:sp>
      <p:sp>
        <p:nvSpPr>
          <p:cNvPr id="20" name="Text 13"/>
          <p:cNvSpPr/>
          <p:nvPr/>
        </p:nvSpPr>
        <p:spPr>
          <a:xfrm>
            <a:off x="4157663" y="1752005"/>
            <a:ext cx="625664" cy="332184"/>
          </a:xfrm>
          <a:prstGeom prst="rect">
            <a:avLst/>
          </a:prstGeom>
          <a:noFill/>
          <a:ln/>
        </p:spPr>
        <p:txBody>
          <a:bodyPr wrap="none" lIns="68072" tIns="102108" rIns="68072" bIns="102108" rtlCol="0" anchor="ctr">
            <a:spAutoFit/>
          </a:bodyPr>
          <a:lstStyle/>
          <a:p>
            <a:pPr marL="0" indent="0" algn="l">
              <a:buNone/>
            </a:pPr>
            <a:r>
              <a:rPr lang="en-US" sz="800" b="1" dirty="0">
                <a:solidFill>
                  <a:srgbClr val="FFFFFF"/>
                </a:solidFill>
                <a:latin typeface="JetBrains Mono" pitchFamily="34" charset="0"/>
                <a:ea typeface="JetBrains Mono" pitchFamily="34" charset="-122"/>
                <a:cs typeface="JetBrains Mono" pitchFamily="34" charset="-120"/>
              </a:rPr>
              <a:t>8</a:t>
            </a:r>
            <a:endParaRPr lang="en-US" sz="800" dirty="0"/>
          </a:p>
        </p:txBody>
      </p:sp>
      <p:sp>
        <p:nvSpPr>
          <p:cNvPr id="21" name="Text 14"/>
          <p:cNvSpPr/>
          <p:nvPr/>
        </p:nvSpPr>
        <p:spPr>
          <a:xfrm>
            <a:off x="4783327" y="1752005"/>
            <a:ext cx="1195127" cy="332184"/>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80.0</a:t>
            </a:r>
            <a:endParaRPr lang="en-US" sz="850" dirty="0"/>
          </a:p>
        </p:txBody>
      </p:sp>
      <p:sp>
        <p:nvSpPr>
          <p:cNvPr id="22" name="Text 15"/>
          <p:cNvSpPr/>
          <p:nvPr/>
        </p:nvSpPr>
        <p:spPr>
          <a:xfrm>
            <a:off x="5978454" y="1752005"/>
            <a:ext cx="1441168" cy="332184"/>
          </a:xfrm>
          <a:prstGeom prst="rect">
            <a:avLst/>
          </a:prstGeom>
          <a:noFill/>
          <a:ln/>
        </p:spPr>
        <p:txBody>
          <a:bodyPr wrap="squar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1.33</a:t>
            </a:r>
            <a:endParaRPr lang="en-US" sz="850" dirty="0"/>
          </a:p>
        </p:txBody>
      </p:sp>
      <p:sp>
        <p:nvSpPr>
          <p:cNvPr id="23" name="Text 16"/>
          <p:cNvSpPr/>
          <p:nvPr/>
        </p:nvSpPr>
        <p:spPr>
          <a:xfrm>
            <a:off x="7419622" y="1752005"/>
            <a:ext cx="938566" cy="332184"/>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34.5</a:t>
            </a:r>
            <a:endParaRPr lang="en-US" sz="850" dirty="0"/>
          </a:p>
        </p:txBody>
      </p:sp>
      <p:sp>
        <p:nvSpPr>
          <p:cNvPr id="24" name="Text 17"/>
          <p:cNvSpPr/>
          <p:nvPr/>
        </p:nvSpPr>
        <p:spPr>
          <a:xfrm>
            <a:off x="4157663" y="2084189"/>
            <a:ext cx="625664" cy="328613"/>
          </a:xfrm>
          <a:prstGeom prst="rect">
            <a:avLst/>
          </a:prstGeom>
          <a:noFill/>
          <a:ln/>
        </p:spPr>
        <p:txBody>
          <a:bodyPr wrap="none" lIns="68072" tIns="102108" rIns="68072" bIns="102108" rtlCol="0" anchor="ctr">
            <a:spAutoFit/>
          </a:bodyPr>
          <a:lstStyle/>
          <a:p>
            <a:pPr marL="0" indent="0" algn="l">
              <a:buNone/>
            </a:pPr>
            <a:r>
              <a:rPr lang="en-US" sz="800" b="1" dirty="0">
                <a:solidFill>
                  <a:srgbClr val="FFFFFF"/>
                </a:solidFill>
                <a:latin typeface="JetBrains Mono" pitchFamily="34" charset="0"/>
                <a:ea typeface="JetBrains Mono" pitchFamily="34" charset="-122"/>
                <a:cs typeface="JetBrains Mono" pitchFamily="34" charset="-120"/>
              </a:rPr>
              <a:t>16</a:t>
            </a:r>
            <a:endParaRPr lang="en-US" sz="800" dirty="0"/>
          </a:p>
        </p:txBody>
      </p:sp>
      <p:sp>
        <p:nvSpPr>
          <p:cNvPr id="25" name="Text 18"/>
          <p:cNvSpPr/>
          <p:nvPr/>
        </p:nvSpPr>
        <p:spPr>
          <a:xfrm>
            <a:off x="4783327" y="2084189"/>
            <a:ext cx="1195127" cy="328613"/>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80.0</a:t>
            </a:r>
            <a:endParaRPr lang="en-US" sz="850" dirty="0"/>
          </a:p>
        </p:txBody>
      </p:sp>
      <p:sp>
        <p:nvSpPr>
          <p:cNvPr id="26" name="Text 19"/>
          <p:cNvSpPr/>
          <p:nvPr/>
        </p:nvSpPr>
        <p:spPr>
          <a:xfrm>
            <a:off x="5978454" y="2084189"/>
            <a:ext cx="1441168" cy="328613"/>
          </a:xfrm>
          <a:prstGeom prst="rect">
            <a:avLst/>
          </a:prstGeom>
          <a:noFill/>
          <a:ln/>
        </p:spPr>
        <p:txBody>
          <a:bodyPr wrap="squar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6.79</a:t>
            </a:r>
            <a:endParaRPr lang="en-US" sz="850" dirty="0"/>
          </a:p>
        </p:txBody>
      </p:sp>
      <p:sp>
        <p:nvSpPr>
          <p:cNvPr id="27" name="Text 20"/>
          <p:cNvSpPr/>
          <p:nvPr/>
        </p:nvSpPr>
        <p:spPr>
          <a:xfrm>
            <a:off x="7419622" y="2084189"/>
            <a:ext cx="938566" cy="328613"/>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88.6</a:t>
            </a:r>
            <a:endParaRPr lang="en-US" sz="850" dirty="0"/>
          </a:p>
        </p:txBody>
      </p:sp>
      <p:sp>
        <p:nvSpPr>
          <p:cNvPr id="28" name="Text 21"/>
          <p:cNvSpPr/>
          <p:nvPr/>
        </p:nvSpPr>
        <p:spPr>
          <a:xfrm>
            <a:off x="4157663" y="2412802"/>
            <a:ext cx="625664" cy="328613"/>
          </a:xfrm>
          <a:prstGeom prst="rect">
            <a:avLst/>
          </a:prstGeom>
          <a:noFill/>
          <a:ln/>
        </p:spPr>
        <p:txBody>
          <a:bodyPr wrap="none" lIns="68072" tIns="102108" rIns="68072" bIns="102108" rtlCol="0" anchor="ctr">
            <a:spAutoFit/>
          </a:bodyPr>
          <a:lstStyle/>
          <a:p>
            <a:pPr marL="0" indent="0" algn="l">
              <a:buNone/>
            </a:pPr>
            <a:r>
              <a:rPr lang="en-US" sz="800" b="1" dirty="0">
                <a:solidFill>
                  <a:srgbClr val="FFFFFF"/>
                </a:solidFill>
                <a:latin typeface="JetBrains Mono" pitchFamily="34" charset="0"/>
                <a:ea typeface="JetBrains Mono" pitchFamily="34" charset="-122"/>
                <a:cs typeface="JetBrains Mono" pitchFamily="34" charset="-120"/>
              </a:rPr>
              <a:t>32</a:t>
            </a:r>
            <a:endParaRPr lang="en-US" sz="800" dirty="0"/>
          </a:p>
        </p:txBody>
      </p:sp>
      <p:sp>
        <p:nvSpPr>
          <p:cNvPr id="29" name="Text 22"/>
          <p:cNvSpPr/>
          <p:nvPr/>
        </p:nvSpPr>
        <p:spPr>
          <a:xfrm>
            <a:off x="4783327" y="2412802"/>
            <a:ext cx="1195127" cy="328613"/>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100.0</a:t>
            </a:r>
            <a:endParaRPr lang="en-US" sz="850" dirty="0"/>
          </a:p>
        </p:txBody>
      </p:sp>
      <p:sp>
        <p:nvSpPr>
          <p:cNvPr id="30" name="Text 23"/>
          <p:cNvSpPr/>
          <p:nvPr/>
        </p:nvSpPr>
        <p:spPr>
          <a:xfrm>
            <a:off x="5978454" y="2412802"/>
            <a:ext cx="1441168" cy="328613"/>
          </a:xfrm>
          <a:prstGeom prst="rect">
            <a:avLst/>
          </a:prstGeom>
          <a:noFill/>
          <a:ln/>
        </p:spPr>
        <p:txBody>
          <a:bodyPr wrap="squar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22.21</a:t>
            </a:r>
            <a:endParaRPr lang="en-US" sz="850" dirty="0"/>
          </a:p>
        </p:txBody>
      </p:sp>
      <p:sp>
        <p:nvSpPr>
          <p:cNvPr id="31" name="Text 24"/>
          <p:cNvSpPr/>
          <p:nvPr/>
        </p:nvSpPr>
        <p:spPr>
          <a:xfrm>
            <a:off x="7419622" y="2412802"/>
            <a:ext cx="938566" cy="328613"/>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100.2</a:t>
            </a:r>
            <a:endParaRPr lang="en-US" sz="850" dirty="0"/>
          </a:p>
        </p:txBody>
      </p:sp>
      <p:sp>
        <p:nvSpPr>
          <p:cNvPr id="32" name="Text 25"/>
          <p:cNvSpPr/>
          <p:nvPr/>
        </p:nvSpPr>
        <p:spPr>
          <a:xfrm>
            <a:off x="4157663" y="2741414"/>
            <a:ext cx="625664" cy="328613"/>
          </a:xfrm>
          <a:prstGeom prst="rect">
            <a:avLst/>
          </a:prstGeom>
          <a:noFill/>
          <a:ln/>
        </p:spPr>
        <p:txBody>
          <a:bodyPr wrap="none" lIns="68072" tIns="102108" rIns="68072" bIns="102108" rtlCol="0" anchor="ctr">
            <a:spAutoFit/>
          </a:bodyPr>
          <a:lstStyle/>
          <a:p>
            <a:pPr marL="0" indent="0" algn="l">
              <a:buNone/>
            </a:pPr>
            <a:r>
              <a:rPr lang="en-US" sz="800" b="1" dirty="0">
                <a:solidFill>
                  <a:srgbClr val="FFFFFF"/>
                </a:solidFill>
                <a:latin typeface="JetBrains Mono" pitchFamily="34" charset="0"/>
                <a:ea typeface="JetBrains Mono" pitchFamily="34" charset="-122"/>
                <a:cs typeface="JetBrains Mono" pitchFamily="34" charset="-120"/>
              </a:rPr>
              <a:t>64</a:t>
            </a:r>
            <a:endParaRPr lang="en-US" sz="800" dirty="0"/>
          </a:p>
        </p:txBody>
      </p:sp>
      <p:sp>
        <p:nvSpPr>
          <p:cNvPr id="33" name="Text 26"/>
          <p:cNvSpPr/>
          <p:nvPr/>
        </p:nvSpPr>
        <p:spPr>
          <a:xfrm>
            <a:off x="4783327" y="2741414"/>
            <a:ext cx="1195127" cy="328613"/>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100.0</a:t>
            </a:r>
            <a:endParaRPr lang="en-US" sz="850" dirty="0"/>
          </a:p>
        </p:txBody>
      </p:sp>
      <p:sp>
        <p:nvSpPr>
          <p:cNvPr id="34" name="Text 27"/>
          <p:cNvSpPr/>
          <p:nvPr/>
        </p:nvSpPr>
        <p:spPr>
          <a:xfrm>
            <a:off x="5978454" y="2741414"/>
            <a:ext cx="1441168" cy="328613"/>
          </a:xfrm>
          <a:prstGeom prst="rect">
            <a:avLst/>
          </a:prstGeom>
          <a:noFill/>
          <a:ln/>
        </p:spPr>
        <p:txBody>
          <a:bodyPr wrap="squar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82.07</a:t>
            </a:r>
            <a:endParaRPr lang="en-US" sz="850" dirty="0"/>
          </a:p>
        </p:txBody>
      </p:sp>
      <p:sp>
        <p:nvSpPr>
          <p:cNvPr id="35" name="Text 28"/>
          <p:cNvSpPr/>
          <p:nvPr/>
        </p:nvSpPr>
        <p:spPr>
          <a:xfrm>
            <a:off x="7419622" y="2741414"/>
            <a:ext cx="938566" cy="328613"/>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96.5</a:t>
            </a:r>
            <a:endParaRPr lang="en-US" sz="850" dirty="0"/>
          </a:p>
        </p:txBody>
      </p:sp>
      <p:sp>
        <p:nvSpPr>
          <p:cNvPr id="36" name="Text 29"/>
          <p:cNvSpPr/>
          <p:nvPr/>
        </p:nvSpPr>
        <p:spPr>
          <a:xfrm>
            <a:off x="4157663" y="3070027"/>
            <a:ext cx="625664" cy="328613"/>
          </a:xfrm>
          <a:prstGeom prst="rect">
            <a:avLst/>
          </a:prstGeom>
          <a:noFill/>
          <a:ln/>
        </p:spPr>
        <p:txBody>
          <a:bodyPr wrap="none" lIns="68072" tIns="102108" rIns="68072" bIns="102108" rtlCol="0" anchor="ctr">
            <a:spAutoFit/>
          </a:bodyPr>
          <a:lstStyle/>
          <a:p>
            <a:pPr marL="0" indent="0" algn="l">
              <a:buNone/>
            </a:pPr>
            <a:r>
              <a:rPr lang="en-US" sz="800" b="1" dirty="0">
                <a:solidFill>
                  <a:srgbClr val="FFFFFF"/>
                </a:solidFill>
                <a:latin typeface="JetBrains Mono" pitchFamily="34" charset="0"/>
                <a:ea typeface="JetBrains Mono" pitchFamily="34" charset="-122"/>
                <a:cs typeface="JetBrains Mono" pitchFamily="34" charset="-120"/>
              </a:rPr>
              <a:t>128</a:t>
            </a:r>
            <a:endParaRPr lang="en-US" sz="800" dirty="0"/>
          </a:p>
        </p:txBody>
      </p:sp>
      <p:sp>
        <p:nvSpPr>
          <p:cNvPr id="37" name="Text 30"/>
          <p:cNvSpPr/>
          <p:nvPr/>
        </p:nvSpPr>
        <p:spPr>
          <a:xfrm>
            <a:off x="4783327" y="3070027"/>
            <a:ext cx="1195127" cy="328613"/>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100.0</a:t>
            </a:r>
            <a:endParaRPr lang="en-US" sz="850" dirty="0"/>
          </a:p>
        </p:txBody>
      </p:sp>
      <p:sp>
        <p:nvSpPr>
          <p:cNvPr id="38" name="Text 31"/>
          <p:cNvSpPr/>
          <p:nvPr/>
        </p:nvSpPr>
        <p:spPr>
          <a:xfrm>
            <a:off x="5978454" y="3070027"/>
            <a:ext cx="1441168" cy="328613"/>
          </a:xfrm>
          <a:prstGeom prst="rect">
            <a:avLst/>
          </a:prstGeom>
          <a:noFill/>
          <a:ln/>
        </p:spPr>
        <p:txBody>
          <a:bodyPr wrap="squar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491.34</a:t>
            </a:r>
            <a:endParaRPr lang="en-US" sz="850" dirty="0"/>
          </a:p>
        </p:txBody>
      </p:sp>
      <p:sp>
        <p:nvSpPr>
          <p:cNvPr id="39" name="Text 32"/>
          <p:cNvSpPr/>
          <p:nvPr/>
        </p:nvSpPr>
        <p:spPr>
          <a:xfrm>
            <a:off x="7419622" y="3070027"/>
            <a:ext cx="938566" cy="328613"/>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145.5</a:t>
            </a:r>
            <a:endParaRPr lang="en-US" sz="850" dirty="0"/>
          </a:p>
        </p:txBody>
      </p:sp>
      <p:sp>
        <p:nvSpPr>
          <p:cNvPr id="40" name="Text 33"/>
          <p:cNvSpPr/>
          <p:nvPr/>
        </p:nvSpPr>
        <p:spPr>
          <a:xfrm>
            <a:off x="4157663" y="3398639"/>
            <a:ext cx="625664" cy="328613"/>
          </a:xfrm>
          <a:prstGeom prst="rect">
            <a:avLst/>
          </a:prstGeom>
          <a:noFill/>
          <a:ln/>
        </p:spPr>
        <p:txBody>
          <a:bodyPr wrap="none" lIns="68072" tIns="102108" rIns="68072" bIns="102108" rtlCol="0" anchor="ctr">
            <a:spAutoFit/>
          </a:bodyPr>
          <a:lstStyle/>
          <a:p>
            <a:pPr marL="0" indent="0" algn="l">
              <a:buNone/>
            </a:pPr>
            <a:r>
              <a:rPr lang="en-US" sz="800" b="1" dirty="0">
                <a:solidFill>
                  <a:srgbClr val="FFFFFF"/>
                </a:solidFill>
                <a:latin typeface="JetBrains Mono" pitchFamily="34" charset="0"/>
                <a:ea typeface="JetBrains Mono" pitchFamily="34" charset="-122"/>
                <a:cs typeface="JetBrains Mono" pitchFamily="34" charset="-120"/>
              </a:rPr>
              <a:t>256</a:t>
            </a:r>
            <a:endParaRPr lang="en-US" sz="800" dirty="0"/>
          </a:p>
        </p:txBody>
      </p:sp>
      <p:sp>
        <p:nvSpPr>
          <p:cNvPr id="41" name="Text 34"/>
          <p:cNvSpPr/>
          <p:nvPr/>
        </p:nvSpPr>
        <p:spPr>
          <a:xfrm>
            <a:off x="4783327" y="3398639"/>
            <a:ext cx="1195127" cy="328613"/>
          </a:xfrm>
          <a:prstGeom prst="rect">
            <a:avLst/>
          </a:prstGeom>
          <a:noFill/>
          <a:ln/>
        </p:spPr>
        <p:txBody>
          <a:bodyPr wrap="none" lIns="68072" tIns="102108" rIns="68072" bIns="102108" rtlCol="0" anchor="ctr">
            <a:spAutoFit/>
          </a:bodyPr>
          <a:lstStyle/>
          <a:p>
            <a:pPr marL="0" indent="0" algn="l">
              <a:buNone/>
            </a:pPr>
            <a:r>
              <a:rPr lang="en-US" sz="850" dirty="0">
                <a:solidFill>
                  <a:srgbClr val="D90429"/>
                </a:solidFill>
                <a:latin typeface="JetBrains Mono" pitchFamily="34" charset="0"/>
                <a:ea typeface="JetBrains Mono" pitchFamily="34" charset="-122"/>
                <a:cs typeface="JetBrains Mono" pitchFamily="34" charset="-120"/>
              </a:rPr>
              <a:t>10.0</a:t>
            </a:r>
            <a:endParaRPr lang="en-US" sz="850" dirty="0"/>
          </a:p>
        </p:txBody>
      </p:sp>
      <p:sp>
        <p:nvSpPr>
          <p:cNvPr id="42" name="Text 35"/>
          <p:cNvSpPr/>
          <p:nvPr/>
        </p:nvSpPr>
        <p:spPr>
          <a:xfrm>
            <a:off x="5978454" y="3398639"/>
            <a:ext cx="1441168" cy="328613"/>
          </a:xfrm>
          <a:prstGeom prst="rect">
            <a:avLst/>
          </a:prstGeom>
          <a:noFill/>
          <a:ln/>
        </p:spPr>
        <p:txBody>
          <a:bodyPr wrap="squar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2664.31</a:t>
            </a:r>
            <a:endParaRPr lang="en-US" sz="850" dirty="0"/>
          </a:p>
        </p:txBody>
      </p:sp>
      <p:sp>
        <p:nvSpPr>
          <p:cNvPr id="43" name="Text 36"/>
          <p:cNvSpPr/>
          <p:nvPr/>
        </p:nvSpPr>
        <p:spPr>
          <a:xfrm>
            <a:off x="7419622" y="3398639"/>
            <a:ext cx="938566" cy="328613"/>
          </a:xfrm>
          <a:prstGeom prst="rect">
            <a:avLst/>
          </a:prstGeom>
          <a:noFill/>
          <a:ln/>
        </p:spPr>
        <p:txBody>
          <a:bodyPr wrap="none" lIns="68072" tIns="102108" rIns="68072" bIns="102108" rtlCol="0" anchor="ctr">
            <a:spAutoFit/>
          </a:bodyPr>
          <a:lstStyle/>
          <a:p>
            <a:pPr marL="0" indent="0" algn="l">
              <a:buNone/>
            </a:pPr>
            <a:r>
              <a:rPr lang="en-US" sz="850" dirty="0">
                <a:solidFill>
                  <a:srgbClr val="FFFFFF"/>
                </a:solidFill>
                <a:latin typeface="JetBrains Mono" pitchFamily="34" charset="0"/>
                <a:ea typeface="JetBrains Mono" pitchFamily="34" charset="-122"/>
                <a:cs typeface="JetBrains Mono" pitchFamily="34" charset="-120"/>
              </a:rPr>
              <a:t>183.0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14375" y="713231"/>
            <a:ext cx="7715250" cy="377168"/>
          </a:xfrm>
          <a:prstGeom prst="rect">
            <a:avLst/>
          </a:prstGeom>
          <a:noFill/>
          <a:ln/>
        </p:spPr>
        <p:txBody>
          <a:bodyPr wrap="none" lIns="0" tIns="0" rIns="0" bIns="0" rtlCol="0" anchor="t">
            <a:spAutoFit/>
          </a:bodyPr>
          <a:lstStyle/>
          <a:p>
            <a:pPr marL="0" indent="0" algn="l">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DÉMONSTRATION</a:t>
            </a:r>
            <a:endParaRPr lang="en-US" sz="2450" dirty="0"/>
          </a:p>
        </p:txBody>
      </p:sp>
      <p:pic>
        <p:nvPicPr>
          <p:cNvPr id="4" name="Image 1" descr="preencoded.png"/>
          <p:cNvPicPr>
            <a:picLocks noChangeAspect="1"/>
          </p:cNvPicPr>
          <p:nvPr/>
        </p:nvPicPr>
        <p:blipFill>
          <a:blip r:embed="rId4"/>
          <a:stretch>
            <a:fillRect/>
          </a:stretch>
        </p:blipFill>
        <p:spPr>
          <a:xfrm>
            <a:off x="744736" y="1602963"/>
            <a:ext cx="225028" cy="200025"/>
          </a:xfrm>
          <a:prstGeom prst="rect">
            <a:avLst/>
          </a:prstGeom>
        </p:spPr>
      </p:pic>
      <p:sp>
        <p:nvSpPr>
          <p:cNvPr id="5" name="Text 1"/>
          <p:cNvSpPr/>
          <p:nvPr/>
        </p:nvSpPr>
        <p:spPr>
          <a:xfrm>
            <a:off x="1178719" y="1547599"/>
            <a:ext cx="3178969" cy="173236"/>
          </a:xfrm>
          <a:prstGeom prst="rect">
            <a:avLst/>
          </a:prstGeom>
          <a:noFill/>
          <a:ln/>
        </p:spPr>
        <p:txBody>
          <a:bodyPr wrap="square" lIns="0" tIns="0" rIns="0" bIns="0" rtlCol="0" anchor="t">
            <a:spAutoFit/>
          </a:bodyPr>
          <a:lstStyle/>
          <a:p>
            <a:pPr marL="0" indent="0" algn="l">
              <a:buNone/>
            </a:pPr>
            <a:r>
              <a:rPr lang="en-US" sz="1000" b="1" dirty="0">
                <a:solidFill>
                  <a:srgbClr val="0A192F"/>
                </a:solidFill>
                <a:latin typeface="Montserrat ExtraBold" pitchFamily="34" charset="0"/>
                <a:ea typeface="Montserrat ExtraBold" pitchFamily="34" charset="-122"/>
                <a:cs typeface="Montserrat ExtraBold" pitchFamily="34" charset="-120"/>
              </a:rPr>
              <a:t>CONFIGURATION</a:t>
            </a:r>
            <a:endParaRPr lang="en-US" sz="1000" dirty="0"/>
          </a:p>
        </p:txBody>
      </p:sp>
      <p:sp>
        <p:nvSpPr>
          <p:cNvPr id="6" name="Text 2"/>
          <p:cNvSpPr/>
          <p:nvPr/>
        </p:nvSpPr>
        <p:spPr>
          <a:xfrm>
            <a:off x="1178719" y="1777984"/>
            <a:ext cx="3178969" cy="578644"/>
          </a:xfrm>
          <a:prstGeom prst="rect">
            <a:avLst/>
          </a:prstGeom>
          <a:noFill/>
          <a:ln/>
        </p:spPr>
        <p:txBody>
          <a:bodyPr wrap="square" lIns="0" tIns="0" rIns="0" bIns="0" rtlCol="0" anchor="t">
            <a:spAutoFit/>
          </a:bodyPr>
          <a:lstStyle/>
          <a:p>
            <a:pPr marL="0" indent="0" algn="l">
              <a:lnSpc>
                <a:spcPct val="120000"/>
              </a:lnSpc>
              <a:buNone/>
            </a:pPr>
            <a:r>
              <a:rPr lang="en-US" sz="950" i="1" dirty="0">
                <a:solidFill>
                  <a:srgbClr val="8D99AE"/>
                </a:solidFill>
                <a:latin typeface="Inter Light" pitchFamily="34" charset="0"/>
                <a:ea typeface="Inter Light" pitchFamily="34" charset="-122"/>
                <a:cs typeface="Inter Light" pitchFamily="34" charset="-120"/>
              </a:rPr>
              <a:t>« Voici l'interface </a:t>
            </a:r>
            <a:r>
              <a:rPr lang="en-US" sz="900" b="1" dirty="0">
                <a:solidFill>
                  <a:srgbClr val="D90429"/>
                </a:solidFill>
                <a:latin typeface="Inter Light" pitchFamily="34" charset="0"/>
                <a:ea typeface="Inter Light" pitchFamily="34" charset="-122"/>
                <a:cs typeface="Inter Light" pitchFamily="34" charset="-120"/>
              </a:rPr>
              <a:t>N-Reines 20x20</a:t>
            </a:r>
            <a:r>
              <a:rPr lang="en-US" sz="950" i="1" dirty="0">
                <a:solidFill>
                  <a:srgbClr val="8D99AE"/>
                </a:solidFill>
                <a:latin typeface="Inter Light" pitchFamily="34" charset="0"/>
                <a:ea typeface="Inter Light" pitchFamily="34" charset="-122"/>
                <a:cs typeface="Inter Light" pitchFamily="34" charset="-120"/>
              </a:rPr>
              <a:t>. On observe un état initial généré aléatoirement avec de nombreux conflits. »</a:t>
            </a:r>
            <a:endParaRPr lang="en-US" sz="950" dirty="0"/>
          </a:p>
        </p:txBody>
      </p:sp>
      <p:pic>
        <p:nvPicPr>
          <p:cNvPr id="7" name="Image 2" descr="preencoded.png"/>
          <p:cNvPicPr>
            <a:picLocks noChangeAspect="1"/>
          </p:cNvPicPr>
          <p:nvPr/>
        </p:nvPicPr>
        <p:blipFill>
          <a:blip r:embed="rId5"/>
          <a:stretch>
            <a:fillRect/>
          </a:stretch>
        </p:blipFill>
        <p:spPr>
          <a:xfrm>
            <a:off x="757238" y="2626305"/>
            <a:ext cx="200025" cy="200025"/>
          </a:xfrm>
          <a:prstGeom prst="rect">
            <a:avLst/>
          </a:prstGeom>
        </p:spPr>
      </p:pic>
      <p:sp>
        <p:nvSpPr>
          <p:cNvPr id="8" name="Text 3"/>
          <p:cNvSpPr/>
          <p:nvPr/>
        </p:nvSpPr>
        <p:spPr>
          <a:xfrm>
            <a:off x="1178719" y="2570941"/>
            <a:ext cx="3178969" cy="173236"/>
          </a:xfrm>
          <a:prstGeom prst="rect">
            <a:avLst/>
          </a:prstGeom>
          <a:noFill/>
          <a:ln/>
        </p:spPr>
        <p:txBody>
          <a:bodyPr wrap="square" lIns="0" tIns="0" rIns="0" bIns="0" rtlCol="0" anchor="t">
            <a:spAutoFit/>
          </a:bodyPr>
          <a:lstStyle/>
          <a:p>
            <a:pPr marL="0" indent="0" algn="l">
              <a:buNone/>
            </a:pPr>
            <a:r>
              <a:rPr lang="en-US" sz="1000" b="1" dirty="0">
                <a:solidFill>
                  <a:srgbClr val="0A192F"/>
                </a:solidFill>
                <a:latin typeface="Montserrat ExtraBold" pitchFamily="34" charset="0"/>
                <a:ea typeface="Montserrat ExtraBold" pitchFamily="34" charset="-122"/>
                <a:cs typeface="Montserrat ExtraBold" pitchFamily="34" charset="-120"/>
              </a:rPr>
              <a:t>LANCEMENT</a:t>
            </a:r>
            <a:endParaRPr lang="en-US" sz="1000" dirty="0"/>
          </a:p>
        </p:txBody>
      </p:sp>
      <p:sp>
        <p:nvSpPr>
          <p:cNvPr id="9" name="Text 4"/>
          <p:cNvSpPr/>
          <p:nvPr/>
        </p:nvSpPr>
        <p:spPr>
          <a:xfrm>
            <a:off x="1178719" y="2801327"/>
            <a:ext cx="3178969" cy="385763"/>
          </a:xfrm>
          <a:prstGeom prst="rect">
            <a:avLst/>
          </a:prstGeom>
          <a:noFill/>
          <a:ln/>
        </p:spPr>
        <p:txBody>
          <a:bodyPr wrap="square" lIns="0" tIns="0" rIns="0" bIns="0" rtlCol="0" anchor="t">
            <a:spAutoFit/>
          </a:bodyPr>
          <a:lstStyle/>
          <a:p>
            <a:pPr marL="0" indent="0" algn="l">
              <a:lnSpc>
                <a:spcPct val="120000"/>
              </a:lnSpc>
              <a:buNone/>
            </a:pPr>
            <a:r>
              <a:rPr lang="en-US" sz="950" i="1" dirty="0">
                <a:solidFill>
                  <a:srgbClr val="8D99AE"/>
                </a:solidFill>
                <a:latin typeface="Inter Light" pitchFamily="34" charset="0"/>
                <a:ea typeface="Inter Light" pitchFamily="34" charset="-122"/>
                <a:cs typeface="Inter Light" pitchFamily="34" charset="-120"/>
              </a:rPr>
              <a:t>« Lançons la résolution. L'algorithme choisit itérativement la </a:t>
            </a:r>
            <a:r>
              <a:rPr lang="en-US" sz="900" b="1" dirty="0">
                <a:solidFill>
                  <a:srgbClr val="D90429"/>
                </a:solidFill>
                <a:latin typeface="Inter Light" pitchFamily="34" charset="0"/>
                <a:ea typeface="Inter Light" pitchFamily="34" charset="-122"/>
                <a:cs typeface="Inter Light" pitchFamily="34" charset="-120"/>
              </a:rPr>
              <a:t>reine la plus attaquée</a:t>
            </a:r>
            <a:r>
              <a:rPr lang="en-US" sz="950" i="1" dirty="0">
                <a:solidFill>
                  <a:srgbClr val="8D99AE"/>
                </a:solidFill>
                <a:latin typeface="Inter Light" pitchFamily="34" charset="0"/>
                <a:ea typeface="Inter Light" pitchFamily="34" charset="-122"/>
                <a:cs typeface="Inter Light" pitchFamily="34" charset="-120"/>
              </a:rPr>
              <a:t>... »</a:t>
            </a:r>
            <a:endParaRPr lang="en-US" sz="950" dirty="0"/>
          </a:p>
        </p:txBody>
      </p:sp>
      <p:pic>
        <p:nvPicPr>
          <p:cNvPr id="10" name="Image 3" descr="preencoded.png"/>
          <p:cNvPicPr>
            <a:picLocks noChangeAspect="1"/>
          </p:cNvPicPr>
          <p:nvPr/>
        </p:nvPicPr>
        <p:blipFill>
          <a:blip r:embed="rId6"/>
          <a:stretch>
            <a:fillRect/>
          </a:stretch>
        </p:blipFill>
        <p:spPr>
          <a:xfrm>
            <a:off x="4866680" y="1602963"/>
            <a:ext cx="125016" cy="200025"/>
          </a:xfrm>
          <a:prstGeom prst="rect">
            <a:avLst/>
          </a:prstGeom>
        </p:spPr>
      </p:pic>
      <p:sp>
        <p:nvSpPr>
          <p:cNvPr id="11" name="Text 5"/>
          <p:cNvSpPr/>
          <p:nvPr/>
        </p:nvSpPr>
        <p:spPr>
          <a:xfrm>
            <a:off x="5250656" y="1547599"/>
            <a:ext cx="3178969" cy="173236"/>
          </a:xfrm>
          <a:prstGeom prst="rect">
            <a:avLst/>
          </a:prstGeom>
          <a:noFill/>
          <a:ln/>
        </p:spPr>
        <p:txBody>
          <a:bodyPr wrap="square" lIns="0" tIns="0" rIns="0" bIns="0" rtlCol="0" anchor="t">
            <a:spAutoFit/>
          </a:bodyPr>
          <a:lstStyle/>
          <a:p>
            <a:pPr marL="0" indent="0" algn="l">
              <a:buNone/>
            </a:pPr>
            <a:r>
              <a:rPr lang="en-US" sz="1000" b="1" dirty="0">
                <a:solidFill>
                  <a:srgbClr val="0A192F"/>
                </a:solidFill>
                <a:latin typeface="Montserrat ExtraBold" pitchFamily="34" charset="0"/>
                <a:ea typeface="Montserrat ExtraBold" pitchFamily="34" charset="-122"/>
                <a:cs typeface="Montserrat ExtraBold" pitchFamily="34" charset="-120"/>
              </a:rPr>
              <a:t>RÉPARATION</a:t>
            </a:r>
            <a:endParaRPr lang="en-US" sz="1000" dirty="0"/>
          </a:p>
        </p:txBody>
      </p:sp>
      <p:sp>
        <p:nvSpPr>
          <p:cNvPr id="12" name="Text 6"/>
          <p:cNvSpPr/>
          <p:nvPr/>
        </p:nvSpPr>
        <p:spPr>
          <a:xfrm>
            <a:off x="5250656" y="1777984"/>
            <a:ext cx="3178969" cy="385763"/>
          </a:xfrm>
          <a:prstGeom prst="rect">
            <a:avLst/>
          </a:prstGeom>
          <a:noFill/>
          <a:ln/>
        </p:spPr>
        <p:txBody>
          <a:bodyPr wrap="square" lIns="0" tIns="0" rIns="0" bIns="0" rtlCol="0" anchor="t">
            <a:spAutoFit/>
          </a:bodyPr>
          <a:lstStyle/>
          <a:p>
            <a:pPr marL="0" indent="0" algn="l">
              <a:lnSpc>
                <a:spcPct val="120000"/>
              </a:lnSpc>
              <a:buNone/>
            </a:pPr>
            <a:r>
              <a:rPr lang="en-US" sz="950" i="1" dirty="0">
                <a:solidFill>
                  <a:srgbClr val="8D99AE"/>
                </a:solidFill>
                <a:latin typeface="Inter Light" pitchFamily="34" charset="0"/>
                <a:ea typeface="Inter Light" pitchFamily="34" charset="-122"/>
                <a:cs typeface="Inter Light" pitchFamily="34" charset="-120"/>
              </a:rPr>
              <a:t>« ...et la déplace sur la case avec le </a:t>
            </a:r>
            <a:r>
              <a:rPr lang="en-US" sz="900" b="1" dirty="0">
                <a:solidFill>
                  <a:srgbClr val="D90429"/>
                </a:solidFill>
                <a:latin typeface="Inter Light" pitchFamily="34" charset="0"/>
                <a:ea typeface="Inter Light" pitchFamily="34" charset="-122"/>
                <a:cs typeface="Inter Light" pitchFamily="34" charset="-120"/>
              </a:rPr>
              <a:t>minimum de conflits</a:t>
            </a:r>
            <a:r>
              <a:rPr lang="en-US" sz="950" i="1" dirty="0">
                <a:solidFill>
                  <a:srgbClr val="8D99AE"/>
                </a:solidFill>
                <a:latin typeface="Inter Light" pitchFamily="34" charset="0"/>
                <a:ea typeface="Inter Light" pitchFamily="34" charset="-122"/>
                <a:cs typeface="Inter Light" pitchFamily="34" charset="-120"/>
              </a:rPr>
              <a:t>. On voit les conflits diminuer visuellement. »</a:t>
            </a:r>
            <a:endParaRPr lang="en-US" sz="950" dirty="0"/>
          </a:p>
        </p:txBody>
      </p:sp>
      <p:pic>
        <p:nvPicPr>
          <p:cNvPr id="13" name="Image 4" descr="preencoded.png"/>
          <p:cNvPicPr>
            <a:picLocks noChangeAspect="1"/>
          </p:cNvPicPr>
          <p:nvPr/>
        </p:nvPicPr>
        <p:blipFill>
          <a:blip r:embed="rId7"/>
          <a:stretch>
            <a:fillRect/>
          </a:stretch>
        </p:blipFill>
        <p:spPr>
          <a:xfrm>
            <a:off x="4829175" y="2433424"/>
            <a:ext cx="200025" cy="200025"/>
          </a:xfrm>
          <a:prstGeom prst="rect">
            <a:avLst/>
          </a:prstGeom>
        </p:spPr>
      </p:pic>
      <p:sp>
        <p:nvSpPr>
          <p:cNvPr id="14" name="Text 7"/>
          <p:cNvSpPr/>
          <p:nvPr/>
        </p:nvSpPr>
        <p:spPr>
          <a:xfrm>
            <a:off x="5250656" y="2378059"/>
            <a:ext cx="3178969" cy="173236"/>
          </a:xfrm>
          <a:prstGeom prst="rect">
            <a:avLst/>
          </a:prstGeom>
          <a:noFill/>
          <a:ln/>
        </p:spPr>
        <p:txBody>
          <a:bodyPr wrap="square" lIns="0" tIns="0" rIns="0" bIns="0" rtlCol="0" anchor="t">
            <a:spAutoFit/>
          </a:bodyPr>
          <a:lstStyle/>
          <a:p>
            <a:pPr marL="0" indent="0" algn="l">
              <a:buNone/>
            </a:pPr>
            <a:r>
              <a:rPr lang="en-US" sz="1000" b="1" dirty="0">
                <a:solidFill>
                  <a:srgbClr val="0A192F"/>
                </a:solidFill>
                <a:latin typeface="Montserrat ExtraBold" pitchFamily="34" charset="0"/>
                <a:ea typeface="Montserrat ExtraBold" pitchFamily="34" charset="-122"/>
                <a:cs typeface="Montserrat ExtraBold" pitchFamily="34" charset="-120"/>
              </a:rPr>
              <a:t>ANALYSE TIMELINE</a:t>
            </a:r>
            <a:endParaRPr lang="en-US" sz="1000" dirty="0"/>
          </a:p>
        </p:txBody>
      </p:sp>
      <p:sp>
        <p:nvSpPr>
          <p:cNvPr id="15" name="Text 8"/>
          <p:cNvSpPr/>
          <p:nvPr/>
        </p:nvSpPr>
        <p:spPr>
          <a:xfrm>
            <a:off x="5250656" y="2608445"/>
            <a:ext cx="3178969" cy="385763"/>
          </a:xfrm>
          <a:prstGeom prst="rect">
            <a:avLst/>
          </a:prstGeom>
          <a:noFill/>
          <a:ln/>
        </p:spPr>
        <p:txBody>
          <a:bodyPr wrap="square" lIns="0" tIns="0" rIns="0" bIns="0" rtlCol="0" anchor="t">
            <a:spAutoFit/>
          </a:bodyPr>
          <a:lstStyle/>
          <a:p>
            <a:pPr marL="0" indent="0" algn="l">
              <a:lnSpc>
                <a:spcPct val="120000"/>
              </a:lnSpc>
              <a:buNone/>
            </a:pPr>
            <a:r>
              <a:rPr lang="en-US" sz="950" i="1" dirty="0">
                <a:solidFill>
                  <a:srgbClr val="8D99AE"/>
                </a:solidFill>
                <a:latin typeface="Inter Light" pitchFamily="34" charset="0"/>
                <a:ea typeface="Inter Light" pitchFamily="34" charset="-122"/>
                <a:cs typeface="Inter Light" pitchFamily="34" charset="-120"/>
              </a:rPr>
              <a:t>« Grâce à la timeline, nous pouvons naviguer dans chaque étape du </a:t>
            </a:r>
            <a:r>
              <a:rPr lang="en-US" sz="900" b="1" dirty="0">
                <a:solidFill>
                  <a:srgbClr val="D90429"/>
                </a:solidFill>
                <a:latin typeface="Inter Light" pitchFamily="34" charset="0"/>
                <a:ea typeface="Inter Light" pitchFamily="34" charset="-122"/>
                <a:cs typeface="Inter Light" pitchFamily="34" charset="-120"/>
              </a:rPr>
              <a:t>for i ← 1 to max_steps</a:t>
            </a:r>
            <a:r>
              <a:rPr lang="en-US" sz="950" i="1" dirty="0">
                <a:solidFill>
                  <a:srgbClr val="8D99AE"/>
                </a:solidFill>
                <a:latin typeface="Inter Light" pitchFamily="34" charset="0"/>
                <a:ea typeface="Inter Light" pitchFamily="34" charset="-122"/>
                <a:cs typeface="Inter Light" pitchFamily="34" charset="-120"/>
              </a:rPr>
              <a:t>. »</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7150" y="57150"/>
            <a:ext cx="9029700" cy="5143500"/>
          </a:xfrm>
          <a:prstGeom prst="rect">
            <a:avLst/>
          </a:prstGeom>
        </p:spPr>
      </p:pic>
      <p:sp>
        <p:nvSpPr>
          <p:cNvPr id="4" name="Text 0"/>
          <p:cNvSpPr/>
          <p:nvPr/>
        </p:nvSpPr>
        <p:spPr>
          <a:xfrm>
            <a:off x="771525" y="1639491"/>
            <a:ext cx="7715250" cy="377168"/>
          </a:xfrm>
          <a:prstGeom prst="rect">
            <a:avLst/>
          </a:prstGeom>
          <a:noFill/>
          <a:ln/>
        </p:spPr>
        <p:txBody>
          <a:bodyPr wrap="none" lIns="0" tIns="0" rIns="0" bIns="0" rtlCol="0" anchor="t">
            <a:spAutoFit/>
          </a:bodyPr>
          <a:lstStyle/>
          <a:p>
            <a:pPr marL="0" indent="0" algn="l">
              <a:lnSpc>
                <a:spcPct val="88000"/>
              </a:lnSpc>
              <a:buNone/>
            </a:pPr>
            <a:r>
              <a:rPr lang="en-US" sz="2450" b="1" dirty="0">
                <a:solidFill>
                  <a:srgbClr val="0A192F"/>
                </a:solidFill>
                <a:latin typeface="Montserrat ExtraBold" pitchFamily="34" charset="0"/>
                <a:ea typeface="Montserrat ExtraBold" pitchFamily="34" charset="-122"/>
                <a:cs typeface="Montserrat ExtraBold" pitchFamily="34" charset="-120"/>
              </a:rPr>
              <a:t>CONCLUSION</a:t>
            </a:r>
            <a:endParaRPr lang="en-US" sz="2450" dirty="0"/>
          </a:p>
        </p:txBody>
      </p:sp>
      <p:sp>
        <p:nvSpPr>
          <p:cNvPr id="5" name="Text 1"/>
          <p:cNvSpPr/>
          <p:nvPr/>
        </p:nvSpPr>
        <p:spPr>
          <a:xfrm>
            <a:off x="771525" y="2445283"/>
            <a:ext cx="7143750" cy="1080102"/>
          </a:xfrm>
          <a:prstGeom prst="rect">
            <a:avLst/>
          </a:prstGeom>
          <a:noFill/>
          <a:ln/>
        </p:spPr>
        <p:txBody>
          <a:bodyPr wrap="square" lIns="0" tIns="0" rIns="0" bIns="0" rtlCol="0" anchor="t">
            <a:spAutoFit/>
          </a:bodyPr>
          <a:lstStyle/>
          <a:p>
            <a:pPr marL="0" indent="0" algn="l">
              <a:lnSpc>
                <a:spcPct val="112000"/>
              </a:lnSpc>
              <a:buNone/>
            </a:pPr>
            <a:r>
              <a:rPr lang="en-US" sz="1800" b="1" dirty="0">
                <a:solidFill>
                  <a:srgbClr val="0A192F"/>
                </a:solidFill>
                <a:latin typeface="Montserrat ExtraBold" pitchFamily="34" charset="0"/>
                <a:ea typeface="Montserrat ExtraBold" pitchFamily="34" charset="-122"/>
                <a:cs typeface="Montserrat ExtraBold" pitchFamily="34" charset="-120"/>
              </a:rPr>
              <a:t>« Min-Conflicts a révolutionné la résolution de CSP en passant d'une approche systématique à une </a:t>
            </a:r>
            <a:r>
              <a:rPr lang="en-US" sz="1800" b="1" dirty="0">
                <a:solidFill>
                  <a:srgbClr val="D90429"/>
                </a:solidFill>
                <a:latin typeface="Montserrat ExtraBold" pitchFamily="34" charset="0"/>
                <a:ea typeface="Montserrat ExtraBold" pitchFamily="34" charset="-122"/>
                <a:cs typeface="Montserrat ExtraBold" pitchFamily="34" charset="-120"/>
              </a:rPr>
              <a:t>réparation locale stochastique</a:t>
            </a:r>
            <a:r>
              <a:rPr lang="en-US" sz="1800" b="1" dirty="0">
                <a:solidFill>
                  <a:srgbClr val="0A192F"/>
                </a:solidFill>
                <a:latin typeface="Montserrat ExtraBold" pitchFamily="34" charset="0"/>
                <a:ea typeface="Montserrat ExtraBold" pitchFamily="34" charset="-122"/>
                <a:cs typeface="Montserrat ExtraBold" pitchFamily="34" charset="-120"/>
              </a:rPr>
              <a:t>. »</a:t>
            </a:r>
            <a:endParaRPr lang="en-US" sz="1800" dirty="0"/>
          </a:p>
        </p:txBody>
      </p:sp>
      <p:sp>
        <p:nvSpPr>
          <p:cNvPr id="6" name="Text 2"/>
          <p:cNvSpPr/>
          <p:nvPr/>
        </p:nvSpPr>
        <p:spPr>
          <a:xfrm>
            <a:off x="771525" y="3689691"/>
            <a:ext cx="3814763" cy="173236"/>
          </a:xfrm>
          <a:prstGeom prst="rect">
            <a:avLst/>
          </a:prstGeom>
          <a:noFill/>
          <a:ln/>
        </p:spPr>
        <p:txBody>
          <a:bodyPr wrap="square" lIns="0" tIns="0" rIns="0" bIns="0" rtlCol="0" anchor="t">
            <a:spAutoFit/>
          </a:bodyPr>
          <a:lstStyle/>
          <a:p>
            <a:pPr marL="0" indent="0" algn="l">
              <a:buNone/>
            </a:pPr>
            <a:r>
              <a:rPr lang="en-US" sz="1000" b="1" dirty="0">
                <a:solidFill>
                  <a:srgbClr val="D90429"/>
                </a:solidFill>
                <a:latin typeface="Montserrat ExtraBold" pitchFamily="34" charset="0"/>
                <a:ea typeface="Montserrat ExtraBold" pitchFamily="34" charset="-122"/>
                <a:cs typeface="Montserrat ExtraBold" pitchFamily="34" charset="-120"/>
              </a:rPr>
              <a:t>VISUALISATION</a:t>
            </a:r>
            <a:endParaRPr lang="en-US" sz="1000" dirty="0"/>
          </a:p>
        </p:txBody>
      </p:sp>
      <p:sp>
        <p:nvSpPr>
          <p:cNvPr id="7" name="Text 3"/>
          <p:cNvSpPr/>
          <p:nvPr/>
        </p:nvSpPr>
        <p:spPr>
          <a:xfrm>
            <a:off x="771525" y="3920077"/>
            <a:ext cx="3814763"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8D99AE"/>
                </a:solidFill>
                <a:latin typeface="Inter Light" pitchFamily="34" charset="0"/>
                <a:ea typeface="Inter Light" pitchFamily="34" charset="-122"/>
                <a:cs typeface="Inter Light" pitchFamily="34" charset="-120"/>
              </a:rPr>
              <a:t>Notre application rend l'algorithme visible et compréhensible pour tous.</a:t>
            </a:r>
            <a:endParaRPr lang="en-US" sz="950" dirty="0"/>
          </a:p>
        </p:txBody>
      </p:sp>
      <p:sp>
        <p:nvSpPr>
          <p:cNvPr id="8" name="Text 4"/>
          <p:cNvSpPr/>
          <p:nvPr/>
        </p:nvSpPr>
        <p:spPr>
          <a:xfrm>
            <a:off x="4672013" y="3689691"/>
            <a:ext cx="3814763" cy="173236"/>
          </a:xfrm>
          <a:prstGeom prst="rect">
            <a:avLst/>
          </a:prstGeom>
          <a:noFill/>
          <a:ln/>
        </p:spPr>
        <p:txBody>
          <a:bodyPr wrap="square" lIns="0" tIns="0" rIns="0" bIns="0" rtlCol="0" anchor="t">
            <a:spAutoFit/>
          </a:bodyPr>
          <a:lstStyle/>
          <a:p>
            <a:pPr marL="0" indent="0" algn="l">
              <a:buNone/>
            </a:pPr>
            <a:r>
              <a:rPr lang="en-US" sz="1000" b="1" dirty="0">
                <a:solidFill>
                  <a:srgbClr val="D90429"/>
                </a:solidFill>
                <a:latin typeface="Montserrat ExtraBold" pitchFamily="34" charset="0"/>
                <a:ea typeface="Montserrat ExtraBold" pitchFamily="34" charset="-122"/>
                <a:cs typeface="Montserrat ExtraBold" pitchFamily="34" charset="-120"/>
              </a:rPr>
              <a:t>OBJECTIF PÉDAGOGIQUE</a:t>
            </a:r>
            <a:endParaRPr lang="en-US" sz="1000" dirty="0"/>
          </a:p>
        </p:txBody>
      </p:sp>
      <p:sp>
        <p:nvSpPr>
          <p:cNvPr id="9" name="Text 5"/>
          <p:cNvSpPr/>
          <p:nvPr/>
        </p:nvSpPr>
        <p:spPr>
          <a:xfrm>
            <a:off x="4672013" y="3920077"/>
            <a:ext cx="3814763"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8D99AE"/>
                </a:solidFill>
                <a:latin typeface="Inter Light" pitchFamily="34" charset="0"/>
                <a:ea typeface="Inter Light" pitchFamily="34" charset="-122"/>
                <a:cs typeface="Inter Light" pitchFamily="34" charset="-120"/>
              </a:rPr>
              <a:t>Transformer des concepts d'IA abstraits en une expérience concrète et interactive.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2135</Words>
  <Application>Microsoft Office PowerPoint</Application>
  <PresentationFormat>On-screen Show (16:9)</PresentationFormat>
  <Paragraphs>200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Inter Light</vt:lpstr>
      <vt:lpstr>JetBrains Mono</vt:lpstr>
      <vt:lpstr>Arial</vt:lpstr>
      <vt:lpstr>Montserrat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Faniriniaina Luciano Rabearimanana</cp:lastModifiedBy>
  <cp:revision>2</cp:revision>
  <dcterms:created xsi:type="dcterms:W3CDTF">2026-05-28T08:09:07Z</dcterms:created>
  <dcterms:modified xsi:type="dcterms:W3CDTF">2026-05-28T12:07:27Z</dcterms:modified>
</cp:coreProperties>
</file>